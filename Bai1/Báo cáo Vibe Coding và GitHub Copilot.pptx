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Be Vietnam Pro SemiBold"/>
      <p:regular r:id="rId26"/>
      <p:bold r:id="rId27"/>
      <p:italic r:id="rId28"/>
      <p:boldItalic r:id="rId29"/>
    </p:embeddedFont>
    <p:embeddedFont>
      <p:font typeface="Be Vietnam Pro"/>
      <p:regular r:id="rId30"/>
      <p:bold r:id="rId31"/>
      <p:italic r:id="rId32"/>
      <p:boldItalic r:id="rId33"/>
    </p:embeddedFont>
    <p:embeddedFont>
      <p:font typeface="JetBrains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744D97-31B7-412A-A428-DDDD4FEE359C}">
  <a:tblStyle styleId="{6D744D97-31B7-412A-A428-DDDD4FEE35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eVietnamProSemiBold-regular.fntdata"/><Relationship Id="rId25" Type="http://schemas.openxmlformats.org/officeDocument/2006/relationships/slide" Target="slides/slide19.xml"/><Relationship Id="rId28" Type="http://schemas.openxmlformats.org/officeDocument/2006/relationships/font" Target="fonts/BeVietnamProSemiBold-italic.fntdata"/><Relationship Id="rId27" Type="http://schemas.openxmlformats.org/officeDocument/2006/relationships/font" Target="fonts/BeVietnamPro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eVietnamPro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VietnamPro-bold.fntdata"/><Relationship Id="rId30" Type="http://schemas.openxmlformats.org/officeDocument/2006/relationships/font" Target="fonts/BeVietnamPro-regular.fntdata"/><Relationship Id="rId11" Type="http://schemas.openxmlformats.org/officeDocument/2006/relationships/slide" Target="slides/slide5.xml"/><Relationship Id="rId33" Type="http://schemas.openxmlformats.org/officeDocument/2006/relationships/font" Target="fonts/BeVietnamPro-boldItalic.fntdata"/><Relationship Id="rId10" Type="http://schemas.openxmlformats.org/officeDocument/2006/relationships/slide" Target="slides/slide4.xml"/><Relationship Id="rId32" Type="http://schemas.openxmlformats.org/officeDocument/2006/relationships/font" Target="fonts/BeVietnamPro-italic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.fntdata"/><Relationship Id="rId12" Type="http://schemas.openxmlformats.org/officeDocument/2006/relationships/slide" Target="slides/slide6.xml"/><Relationship Id="rId34" Type="http://schemas.openxmlformats.org/officeDocument/2006/relationships/font" Target="fonts/JetBrainsMono-regular.fntdata"/><Relationship Id="rId15" Type="http://schemas.openxmlformats.org/officeDocument/2006/relationships/slide" Target="slides/slide9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8.xml"/><Relationship Id="rId36" Type="http://schemas.openxmlformats.org/officeDocument/2006/relationships/font" Target="fonts/JetBrains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11" Type="http://schemas.openxmlformats.org/officeDocument/2006/relationships/image" Target="../media/image16.png"/><Relationship Id="rId10" Type="http://schemas.openxmlformats.org/officeDocument/2006/relationships/image" Target="../media/image29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38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52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1.png"/><Relationship Id="rId8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45.png"/><Relationship Id="rId9" Type="http://schemas.openxmlformats.org/officeDocument/2006/relationships/image" Target="../media/image35.png"/><Relationship Id="rId5" Type="http://schemas.openxmlformats.org/officeDocument/2006/relationships/image" Target="../media/image40.png"/><Relationship Id="rId6" Type="http://schemas.openxmlformats.org/officeDocument/2006/relationships/image" Target="../media/image56.png"/><Relationship Id="rId7" Type="http://schemas.openxmlformats.org/officeDocument/2006/relationships/image" Target="../media/image39.png"/><Relationship Id="rId8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Relationship Id="rId5" Type="http://schemas.openxmlformats.org/officeDocument/2006/relationships/image" Target="../media/image36.png"/><Relationship Id="rId6" Type="http://schemas.openxmlformats.org/officeDocument/2006/relationships/image" Target="../media/image55.png"/><Relationship Id="rId7" Type="http://schemas.openxmlformats.org/officeDocument/2006/relationships/image" Target="../media/image49.png"/><Relationship Id="rId8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50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552575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299245"/>
            <a:ext cx="11581447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TÌM HIỂU CÔNG NGHỆ VIBE CODING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&amp; GITHUB COPILOT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4047976"/>
            <a:ext cx="190500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4327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Báo cáo Học phần Seminar Chuyên đề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503857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Tháng 2 năm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81025" y="247352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Giáo viên hướng dẫn: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Ts. Đỗ Như Tài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81025" y="3159323"/>
            <a:ext cx="11029950" cy="2390775"/>
          </a:xfrm>
          <a:prstGeom prst="roundRect">
            <a:avLst>
              <a:gd fmla="val 0" name="adj"/>
            </a:avLst>
          </a:prstGeom>
          <a:solidFill>
            <a:srgbClr val="21262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581025" y="31593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{6D744D97-31B7-412A-A428-DDDD4FEE359C}</a:tableStyleId>
              </a:tblPr>
              <a:tblGrid>
                <a:gridCol w="2222900"/>
                <a:gridCol w="1659125"/>
                <a:gridCol w="7147925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Thành viên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MSSV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Nhiệm vụ chính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63D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Đinh Trung Hội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3122411058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Backend (Python FastAPI), GitHub Codespaces Setup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Huỳnh Phúc Hưng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3122411073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Frontend (React -&gt; .NET Blazor), Figma Design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Nguyễn Hãi Đăng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3122411031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Backend Migration (Java), Docker/Container, Tổng hợp báo cáo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581025" y="3745110"/>
            <a:ext cx="22228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803921" y="3745110"/>
            <a:ext cx="165913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463057" y="3745110"/>
            <a:ext cx="714791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81025" y="4345185"/>
            <a:ext cx="22228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803921" y="4345185"/>
            <a:ext cx="165913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463057" y="4345185"/>
            <a:ext cx="714791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81025" y="4945260"/>
            <a:ext cx="222289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803921" y="4945260"/>
            <a:ext cx="165913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63057" y="4945260"/>
            <a:ext cx="714791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Thành viên &amp; Phân công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2546895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Bối cảnh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34125" y="2627858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Mục tiêu nghiên cứu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54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66775" y="3019276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Sự bùng nổ của AI trong phát triển phần mềm (AI-Assisted Development).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3771751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Sự chuyển dịch từ "Coding thủ công" sang "Vibe Coding" (Lập trình dựa trên cảm hứng &amp; tốc độ).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66775" y="4524226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Nhu cầu tối ưu hóa quy trình làm việc với GitHub Copilot.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5643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619875" y="3100238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Nghiên cứu lý thuyết về Vibe Coding &amp; Copilot.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19875" y="3547913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Thực nghiệm xây dựng hệ thống (Full-stack).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19875" y="3995588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Đánh giá hiệu quả (Năng suất, Chất lượng, Tốc độ).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619875" y="444326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Kiểm chứng khả năng chuyển đổi công nghệ (Migration).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81025" y="301927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377175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452422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34125" y="31002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334125" y="354791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334125" y="39955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334125" y="444326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Lý do chọn đề tài &amp; Mục tiêu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156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11810"/>
            <a:ext cx="52768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81025" y="271641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Vibe Coding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là phương pháp lập trình hiện đại, nơi lập trình viên tận dụng tối đa AI để tự động hóa các tác vụ kỹ thuật, tập trung vào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tư duy thiết kế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và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sáng tạo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2108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09625" y="420231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"Từ người viết mã (Coder) chuyển dịch sang vai trò Kiến trúc sư hệ thống (Architect) &amp; Người điều phối AI."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Vibe Coding là gì?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6880"/>
            <a:ext cx="3479750" cy="3459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6525" y="2186880"/>
            <a:ext cx="3479750" cy="3459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2025" y="2186880"/>
            <a:ext cx="3498800" cy="34593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04069" y="3253680"/>
            <a:ext cx="303366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Giai đoạn 1: Hỗ trợ cơ bản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76300" y="4227016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Syntax highlighting, Auto-complete đơn giản, Linting. Dựa trên quy tắc cố định.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569570" y="3253680"/>
            <a:ext cx="303366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Giai đoạn 2: Cộng tác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41800" y="4227016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AI hiểu ngữ cảnh (Context Awareness). Phân tích yêu cầu và đề xuất giải pháp.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44595" y="3263205"/>
            <a:ext cx="303366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Giai đoạn 3: Vibe Coding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416825" y="4236541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Đồng sáng tạo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 AI sinh mã, test, tài liệu. Con người chỉ đạo và kiểm duyệt.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53930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00576" y="253930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176" y="254883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Sự tiến hóa của Lập trình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581025" y="2516385"/>
            <a:ext cx="11029950" cy="2990850"/>
          </a:xfrm>
          <a:prstGeom prst="roundRect">
            <a:avLst>
              <a:gd fmla="val 0" name="adj"/>
            </a:avLst>
          </a:prstGeom>
          <a:solidFill>
            <a:srgbClr val="21262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1" name="Google Shape;171;p18"/>
          <p:cNvGraphicFramePr/>
          <p:nvPr/>
        </p:nvGraphicFramePr>
        <p:xfrm>
          <a:off x="581025" y="25163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{6D744D97-31B7-412A-A428-DDDD4FEE359C}</a:tableStyleId>
              </a:tblPr>
              <a:tblGrid>
                <a:gridCol w="2205925"/>
                <a:gridCol w="4411850"/>
                <a:gridCol w="441215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Tiêu chí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Lập trình Truyền thống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Vibe Coding (AI-Assisted)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6FEB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Tốc độ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Chậm, thủ công, tốn thời gian gõ code.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7EE787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Nhanh đột biến</a:t>
                      </a: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, AI sinh mã tức thì.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Tự động hóa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Thấp, phụ thuộc con người.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Cao, tự động sinh test, doc, refactor.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Vai trò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Viết mã chi tiết (Implementation).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Định hướng, Review &amp; Kiến trúc (Design).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Mở rộng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Khó khăn với hệ thống lớn/lạ.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9D1D9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Dễ dàng, AI hỗ trợ học công nghệ mới.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18"/>
          <p:cNvSpPr/>
          <p:nvPr/>
        </p:nvSpPr>
        <p:spPr>
          <a:xfrm>
            <a:off x="581025" y="3102173"/>
            <a:ext cx="220593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786955" y="3102173"/>
            <a:ext cx="441186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198816" y="3102173"/>
            <a:ext cx="441215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81025" y="3702248"/>
            <a:ext cx="220593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786955" y="3702248"/>
            <a:ext cx="441186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198816" y="3702248"/>
            <a:ext cx="441215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81025" y="4302323"/>
            <a:ext cx="220593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2786955" y="4302323"/>
            <a:ext cx="441186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198816" y="4302323"/>
            <a:ext cx="441215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581025" y="4902398"/>
            <a:ext cx="220593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786955" y="4902398"/>
            <a:ext cx="441186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198816" y="4902398"/>
            <a:ext cx="441215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 sánh: Vibe Coding vs Truyền thống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156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2108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334125" y="2475458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Tổng quan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19875" y="2947838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Phát triển bởi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GitHub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phối hợp với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OpenAI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19875" y="339551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Sử dụng mô hình ngôn ngữ lớn (LLMs) được huấn luyện trên hàng tỷ dòng mã công khai.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19875" y="414798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Tích hợp sâu vào IDE (VS Code, Visual Studio, JetBrains).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19875" y="4900463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Hiểu ngữ cảnh dự án để đưa ra gợi ý chính xác.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334125" y="29478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334125" y="339551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334125" y="4147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334125" y="490046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GitHub Copilot: Trợ lý AI đắc lực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1605"/>
            <a:ext cx="2501949" cy="4049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8724" y="1891605"/>
            <a:ext cx="2501949" cy="4049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6424" y="1891605"/>
            <a:ext cx="2501949" cy="4049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4123" y="1891605"/>
            <a:ext cx="2667000" cy="404991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828515" y="2958405"/>
            <a:ext cx="200696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1. IDE &amp; Context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76300" y="3931741"/>
            <a:ext cx="19113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Dev viết code hoặc comment. Copilot thu thập ngữ cảnh (file hiện tại, file liên quan).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3616214" y="2958405"/>
            <a:ext cx="200696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2. Cloud Processing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3663999" y="3931741"/>
            <a:ext cx="1911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Gửi ngữ cảnh an toàn tới GitHub Copilot Service trên Cloud.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403914" y="2958405"/>
            <a:ext cx="200696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3. LLM Prediction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451699" y="3931741"/>
            <a:ext cx="19113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Mô hình OpenAI Codex phân tích và dự đoán đoạn mã tiếp theo.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312503" y="2958405"/>
            <a:ext cx="193024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4. Suggestion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9239398" y="3611760"/>
            <a:ext cx="2076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Trả về gợi ý mã nguồn cho Dev (Accept/Reject/Edit).</a:t>
            </a:r>
            <a:endParaRPr/>
          </a:p>
        </p:txBody>
      </p:sp>
      <p:pic>
        <p:nvPicPr>
          <p:cNvPr descr="image.png" id="221" name="Google Shape;22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6175" y="224403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33875" y="224403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78724" y="224403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49023" y="224403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Kiến trúc &amp; Nguyên lý hoạt động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866775" y="248304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Gợi ý mã theo thời gian thực: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Tự động hoàn thành dòng lệnh hoặc cả hàm.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866775" y="323552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Chat với Codebase: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Hỏi đáp về logic, tìm lỗi trực tiếp trong IDE.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66775" y="398799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Sinh Test Case: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Tự động viết Unit Test dựa trên code logic.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66775" y="474047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Refactoring: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Đề xuất cách viết code tối ưu, sạch hơn.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619875" y="2859285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Chuyển đổi ngôn ngữ: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Dịch code từ Python sang Java, JS sang C#...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619875" y="361176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Giải thích Code: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Tóm tắt chức năng của đoạn code phức tạp.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619875" y="4364235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Tự động viết Document: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Sinh comment và tài liệu hướng dẫn.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248304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81025" y="323552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81025" y="398799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581025" y="474047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334125" y="28592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334125" y="361176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334125" y="436423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Tính năng cốt lõi của Copilot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1695"/>
            <a:ext cx="3486150" cy="209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51695"/>
            <a:ext cx="3486150" cy="2097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51695"/>
            <a:ext cx="3486150" cy="209728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81025" y="2103090"/>
            <a:ext cx="1158144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Mô hình 3 Tầng (3-Layer Model)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581025" y="5234731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Quy trình áp dụng: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Agile tích hợp AI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(Phân tích -&gt; Thiết kế -&gt; Phát triển -&gt; Kiểm thử -&gt; Triển khai).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764030" y="3175545"/>
            <a:ext cx="112014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1. Conceptual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76300" y="3548806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Chiến lược, Mục tiêu, Yêu cầu nghiệp vụ. AI hỗ trợ định hướng ý tưởng.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680948" y="3175545"/>
            <a:ext cx="830103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2. Logical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4648200" y="3548806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Kiến trúc hệ thống, Luồng dữ liệu, API Design. AI hỗ trợ thiết kế Logic.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412843" y="3175545"/>
            <a:ext cx="910113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3. Physical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8420100" y="3548806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Triển khai mã nguồn, Server, Docker. AI sinh mã và cấu hình.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Phương pháp luận &amp; Mô hình nghiên cứu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156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108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866775" y="271641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Kiến trúc: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Microservices &amp; Containerization.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866775" y="316408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Frontend: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React (Sau chuyển sang .NET Blazor).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66775" y="361176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Backend: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Python FastAPI (Sau chuyển sang Java Spring Boot).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66775" y="436423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Database: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SQLite (In-memory cho MVP).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66775" y="481191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DevOps: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Docker, GitHub Codespaces.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581025" y="27164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81025" y="316408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581025" y="361176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581025" y="436423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81025" y="48119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Kiến trúc hệ thống thực nghiệm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82167"/>
            <a:ext cx="348615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82167"/>
            <a:ext cx="348615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582167"/>
            <a:ext cx="3486150" cy="266878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1038939" y="2877442"/>
            <a:ext cx="257032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Bước 1: Môi trường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76300" y="3530798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Thiết lập GitHub Codespaces. Sử dụng AI để config devcontainer.json.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4575810" y="2877442"/>
            <a:ext cx="304038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Bước 2: Backend MVP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4648200" y="3850778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Xây dựng API với Python FastAPI. Copilot sinh model, router, validation.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8662749" y="2877442"/>
            <a:ext cx="241030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Bước 3: Frontend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8420100" y="3530798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Xây dựng UI với React. Copilot sinh component, style, logic gọi API.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Quy trình thực nghiệm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99345"/>
            <a:ext cx="5276850" cy="2510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251745"/>
            <a:ext cx="5276850" cy="220593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 txBox="1"/>
          <p:nvPr/>
        </p:nvSpPr>
        <p:spPr>
          <a:xfrm>
            <a:off x="581025" y="155629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Kiểm chứng khả năng của AI trong việc tái cấu trúc và chuyển đổi ngôn ngữ.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771525" y="3289845"/>
            <a:ext cx="51406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D33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 Python →  Java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524625" y="3442245"/>
            <a:ext cx="51406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1DAFB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 JavaScript →  .NET</a:t>
            </a:r>
            <a:endParaRPr/>
          </a:p>
        </p:txBody>
      </p:sp>
      <p:pic>
        <p:nvPicPr>
          <p:cNvPr descr="image.png" id="311" name="Google Shape;31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3184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0300" y="331842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057275" y="376222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Input: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FastAPI Backend.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057275" y="4209901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Output: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Java Spring Boot.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057275" y="4657576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AI Role: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Ánh xạ kiến trúc, sinh Controller/Service/Repository tương ứng.</a:t>
            </a:r>
            <a:endParaRPr/>
          </a:p>
        </p:txBody>
      </p:sp>
      <p:pic>
        <p:nvPicPr>
          <p:cNvPr descr="image.png" id="316" name="Google Shape;31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4708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58225" y="347082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6810375" y="391462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Input: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React Frontend.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810375" y="4362301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Output: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.NET Blazor.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810375" y="4809976"/>
            <a:ext cx="4610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AI Role: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Chuyển logic UI, quản lý state sang C#.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771525" y="376222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771525" y="420990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71525" y="465757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6524625" y="391462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6524625" y="436230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6524625" y="480997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Thử nghiệm Chuyển đổi (Migration)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156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02108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6334125" y="2475458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Đóng gói hệ thống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6619875" y="2947838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Chuyển đổi từ Monolithic sang Microservices.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619875" y="339551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AI Support: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Tự động sinh Dockerfile và docker-compose.yml tối ưu.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6619875" y="414798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Đảm bảo môi trường đồng nhất giữa Dev và Production.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619875" y="4900463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Triển khai dễ dàng trên Cloud.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334125" y="294783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334125" y="339551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334125" y="4147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6334125" y="490046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Containerization (Docker)</a:t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65795"/>
            <a:ext cx="11029950" cy="510167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581025" y="5169098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(Đơn vị: Giờ công - Ước tính)</a:t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4576762" y="4788098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DA3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6110287" y="4788098"/>
            <a:ext cx="190500" cy="190500"/>
          </a:xfrm>
          <a:prstGeom prst="roundRect">
            <a:avLst>
              <a:gd fmla="val 20000" name="adj"/>
            </a:avLst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Kết quả: So sánh Thời gian phát triển</a:t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56395"/>
            <a:ext cx="3486150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56395"/>
            <a:ext cx="3486150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56395"/>
            <a:ext cx="3486150" cy="312033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8"/>
          <p:cNvSpPr txBox="1"/>
          <p:nvPr/>
        </p:nvSpPr>
        <p:spPr>
          <a:xfrm>
            <a:off x="1213961" y="3423195"/>
            <a:ext cx="222027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Tăng Năng suất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876300" y="4076551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Tốc độ phát triển tăng </a:t>
            </a:r>
            <a:r>
              <a:rPr b="1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30-50%</a:t>
            </a: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. Giảm thiểu các tác vụ lặp lại (boilerplate code).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4915852" y="3423195"/>
            <a:ext cx="236029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Chất lượng Code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4648200" y="4076551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Code chuẩn hóa, ít lỗi cú pháp hơn. Unit test được sinh tự động giúp cover lỗi tốt hơn.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8607742" y="3423195"/>
            <a:ext cx="252031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Khả năng Học tập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8420100" y="4076551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Giúp Dev tiếp cận công nghệ mới nhanh chóng thông qua việc giải thích và gợi ý code.</a:t>
            </a:r>
            <a:endParaRPr/>
          </a:p>
        </p:txBody>
      </p:sp>
      <p:pic>
        <p:nvPicPr>
          <p:cNvPr descr="image.png" id="372" name="Google Shape;37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27088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0882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0725" y="270882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Đánh giá Hiệu quả</a:t>
            </a:r>
            <a:endParaRPr/>
          </a:p>
        </p:txBody>
      </p:sp>
      <p:sp>
        <p:nvSpPr>
          <p:cNvPr id="376" name="Google Shape;376;p28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4480"/>
            <a:ext cx="5276850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11810"/>
            <a:ext cx="5276850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34480"/>
            <a:ext cx="5276850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11810"/>
            <a:ext cx="5276850" cy="178683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9"/>
          <p:cNvSpPr txBox="1"/>
          <p:nvPr/>
        </p:nvSpPr>
        <p:spPr>
          <a:xfrm>
            <a:off x="819150" y="2272605"/>
            <a:ext cx="50406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7B7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Độ chính xác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819150" y="2783085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Mã do AI sinh ra có thể chưa tối ưu hoặc sai logic nghiệp vụ đặc thù. Cần con người kiểm duyệt kỹ.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819150" y="4249935"/>
            <a:ext cx="50406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7B7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Bảo mật</a:t>
            </a:r>
            <a:endParaRPr/>
          </a:p>
        </p:txBody>
      </p:sp>
      <p:sp>
        <p:nvSpPr>
          <p:cNvPr id="389" name="Google Shape;389;p29"/>
          <p:cNvSpPr txBox="1"/>
          <p:nvPr/>
        </p:nvSpPr>
        <p:spPr>
          <a:xfrm>
            <a:off x="819150" y="4760416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Nguy cơ lộ dữ liệu hoặc sinh ra code chứa lỗ hổng bảo mật nếu không được huấn luyện kỹ.</a:t>
            </a:r>
            <a:endParaRPr/>
          </a:p>
        </p:txBody>
      </p:sp>
      <p:sp>
        <p:nvSpPr>
          <p:cNvPr id="390" name="Google Shape;390;p29"/>
          <p:cNvSpPr txBox="1"/>
          <p:nvPr/>
        </p:nvSpPr>
        <p:spPr>
          <a:xfrm>
            <a:off x="6572250" y="2272605"/>
            <a:ext cx="50406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7B7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Phụ thuộc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6572250" y="2783085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Nguy cơ giảm tư duy logic và kỹ năng nền tảng của lập trình viên mới (Junior Dev).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6572250" y="4249935"/>
            <a:ext cx="50406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7B7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Pháp lý</a:t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6572250" y="4760416"/>
            <a:ext cx="480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Các vấn đề về bản quyền mã nguồn khi AI học từ dữ liệu công khai.</a:t>
            </a:r>
            <a:endParaRPr/>
          </a:p>
        </p:txBody>
      </p:sp>
      <p:pic>
        <p:nvPicPr>
          <p:cNvPr descr="image.png" id="394" name="Google Shape;39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3011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27851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0" y="23011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427851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9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Thách thức &amp; Hạn chế</a:t>
            </a:r>
            <a:endParaRPr/>
          </a:p>
        </p:txBody>
      </p:sp>
      <p:sp>
        <p:nvSpPr>
          <p:cNvPr id="399" name="Google Shape;399;p29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156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0"/>
          <p:cNvSpPr txBox="1"/>
          <p:nvPr/>
        </p:nvSpPr>
        <p:spPr>
          <a:xfrm>
            <a:off x="581025" y="1705867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Tổng kết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581025" y="4445198"/>
            <a:ext cx="554069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8A6FF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Hướng phát triển</a:t>
            </a:r>
            <a:endParaRPr/>
          </a:p>
        </p:txBody>
      </p:sp>
      <p:pic>
        <p:nvPicPr>
          <p:cNvPr descr="image.png" id="408" name="Google Shape;40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1085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73444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0"/>
          <p:cNvSpPr txBox="1"/>
          <p:nvPr/>
        </p:nvSpPr>
        <p:spPr>
          <a:xfrm>
            <a:off x="866775" y="217824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AI là công cụ hỗ trợ đắc lực, không phải thay thế con người.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866775" y="293072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Vibe Coding giúp chuyển dịch trọng tâm từ "Coding" sang "Engineering".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866775" y="3683198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Cần kết hợp kỹ năng chuyên môn vững vàng với khả năng điều khiển AI.</a:t>
            </a:r>
            <a:endParaRPr/>
          </a:p>
        </p:txBody>
      </p:sp>
      <p:pic>
        <p:nvPicPr>
          <p:cNvPr descr="image.png" id="413" name="Google Shape;41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73773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0"/>
          <p:cNvSpPr txBox="1"/>
          <p:nvPr/>
        </p:nvSpPr>
        <p:spPr>
          <a:xfrm>
            <a:off x="866775" y="4917578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Tích hợp AI sâu hơn vào DevOps/SecOps.</a:t>
            </a:r>
            <a:endParaRPr/>
          </a:p>
        </p:txBody>
      </p:sp>
      <p:sp>
        <p:nvSpPr>
          <p:cNvPr id="415" name="Google Shape;415;p30"/>
          <p:cNvSpPr txBox="1"/>
          <p:nvPr/>
        </p:nvSpPr>
        <p:spPr>
          <a:xfrm>
            <a:off x="866775" y="5365253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Phát triển các tiêu chuẩn kiểm soát mã nguồn do AI sinh ra.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581025" y="217824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581025" y="293072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581025" y="368319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581025" y="491757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581025" y="536525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A04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581025" y="3905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Kết luận</a:t>
            </a:r>
            <a:endParaRPr/>
          </a:p>
        </p:txBody>
      </p:sp>
      <p:sp>
        <p:nvSpPr>
          <p:cNvPr id="422" name="Google Shape;422;p30"/>
          <p:cNvSpPr/>
          <p:nvPr/>
        </p:nvSpPr>
        <p:spPr>
          <a:xfrm>
            <a:off x="581025" y="965745"/>
            <a:ext cx="11029950" cy="1905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2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 txBox="1"/>
          <p:nvPr/>
        </p:nvSpPr>
        <p:spPr>
          <a:xfrm>
            <a:off x="305276" y="1632644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8A6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 &amp; A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581025" y="3270944"/>
            <a:ext cx="11029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Cảm ơn Thầy và các bạn đã lắng nghe!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581025" y="473005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Nhóm thực hiện: Đinh Trung Hội - Huỳnh Phúc Hưng - Nguyễn Hãi Đăng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