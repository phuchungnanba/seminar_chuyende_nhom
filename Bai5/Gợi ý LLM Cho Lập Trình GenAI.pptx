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9144000"/>
  <p:embeddedFontLst>
    <p:embeddedFont>
      <p:font typeface="Calibri" panose="020F0502020204030204"/>
      <p:regular r:id="rId32"/>
      <p:bold r:id="rId33"/>
      <p:italic r:id="rId34"/>
      <p:boldItalic r:id="rId35"/>
    </p:embeddedFont>
    <p:embeddedFont>
      <p:font typeface="Poppins" panose="00000500000000000000"/>
      <p:regular r:id="rId36"/>
      <p:bold r:id="rId37"/>
      <p:italic r:id="rId38"/>
      <p:boldItalic r:id="rId39"/>
    </p:embeddedFont>
    <p:embeddedFont>
      <p:font typeface="Lato" panose="020F0502020204030203"/>
      <p:regular r:id="rId40"/>
      <p:bold r:id="rId41"/>
      <p:italic r:id="rId42"/>
      <p:boldItalic r:id="rId43"/>
    </p:embeddedFont>
    <p:embeddedFont>
      <p:font typeface="Poppins SemiBold" panose="0000050000000000000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84"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FBC7B88-CE87-468E-BA37-6E5ECFA51297}"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84"/>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font" Target="fonts/font16.fntdata"/><Relationship Id="rId46" Type="http://schemas.openxmlformats.org/officeDocument/2006/relationships/font" Target="fonts/font15.fntdata"/><Relationship Id="rId45" Type="http://schemas.openxmlformats.org/officeDocument/2006/relationships/font" Target="fonts/font14.fntdata"/><Relationship Id="rId44" Type="http://schemas.openxmlformats.org/officeDocument/2006/relationships/font" Target="fonts/font13.fntdata"/><Relationship Id="rId43" Type="http://schemas.openxmlformats.org/officeDocument/2006/relationships/font" Target="fonts/font12.fntdata"/><Relationship Id="rId42" Type="http://schemas.openxmlformats.org/officeDocument/2006/relationships/font" Target="fonts/font11.fntdata"/><Relationship Id="rId41" Type="http://schemas.openxmlformats.org/officeDocument/2006/relationships/font" Target="fonts/font10.fntdata"/><Relationship Id="rId40" Type="http://schemas.openxmlformats.org/officeDocument/2006/relationships/font" Target="fonts/font9.fntdata"/><Relationship Id="rId4" Type="http://schemas.openxmlformats.org/officeDocument/2006/relationships/notesMaster" Target="notesMasters/notesMaster1.xml"/><Relationship Id="rId39" Type="http://schemas.openxmlformats.org/officeDocument/2006/relationships/font" Target="fonts/font8.fntdata"/><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0" name="Google Shape;90;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 name="Shape 107"/>
        <p:cNvGrpSpPr/>
        <p:nvPr/>
      </p:nvGrpSpPr>
      <p:grpSpPr>
        <a:xfrm>
          <a:off x="0" y="0"/>
          <a:ext cx="0" cy="0"/>
          <a:chOff x="0" y="0"/>
          <a:chExt cx="0" cy="0"/>
        </a:xfrm>
      </p:grpSpPr>
      <p:sp>
        <p:nvSpPr>
          <p:cNvPr id="108" name="Google Shape;108;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9" name="Google Shape;109;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7" name="Google Shape;117;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33"/>
        <p:cNvGrpSpPr/>
        <p:nvPr/>
      </p:nvGrpSpPr>
      <p:grpSpPr>
        <a:xfrm>
          <a:off x="0" y="0"/>
          <a:ext cx="0" cy="0"/>
          <a:chOff x="0" y="0"/>
          <a:chExt cx="0" cy="0"/>
        </a:xfrm>
      </p:grpSpPr>
      <p:sp>
        <p:nvSpPr>
          <p:cNvPr id="134" name="Google Shape;134;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5" name="Google Shape;135;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 name="Google Shape;152;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7" name="Shape 167"/>
        <p:cNvGrpSpPr/>
        <p:nvPr/>
      </p:nvGrpSpPr>
      <p:grpSpPr>
        <a:xfrm>
          <a:off x="0" y="0"/>
          <a:ext cx="0" cy="0"/>
          <a:chOff x="0" y="0"/>
          <a:chExt cx="0" cy="0"/>
        </a:xfrm>
      </p:grpSpPr>
      <p:sp>
        <p:nvSpPr>
          <p:cNvPr id="168" name="Google Shape;168;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9" name="Google Shape;169;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3" name="Shape 183"/>
        <p:cNvGrpSpPr/>
        <p:nvPr/>
      </p:nvGrpSpPr>
      <p:grpSpPr>
        <a:xfrm>
          <a:off x="0" y="0"/>
          <a:ext cx="0" cy="0"/>
          <a:chOff x="0" y="0"/>
          <a:chExt cx="0" cy="0"/>
        </a:xfrm>
      </p:grpSpPr>
      <p:sp>
        <p:nvSpPr>
          <p:cNvPr id="184" name="Google Shape;184;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5" name="Google Shape;185;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3" name="Google Shape;193;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0" name="Shape 210"/>
        <p:cNvGrpSpPr/>
        <p:nvPr/>
      </p:nvGrpSpPr>
      <p:grpSpPr>
        <a:xfrm>
          <a:off x="0" y="0"/>
          <a:ext cx="0" cy="0"/>
          <a:chOff x="0" y="0"/>
          <a:chExt cx="0" cy="0"/>
        </a:xfrm>
      </p:grpSpPr>
      <p:sp>
        <p:nvSpPr>
          <p:cNvPr id="211" name="Google Shape;211;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2" name="Google Shape;212;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2" name="Google Shape;252;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 name="Shape 269"/>
        <p:cNvGrpSpPr/>
        <p:nvPr/>
      </p:nvGrpSpPr>
      <p:grpSpPr>
        <a:xfrm>
          <a:off x="0" y="0"/>
          <a:ext cx="0" cy="0"/>
          <a:chOff x="0" y="0"/>
          <a:chExt cx="0" cy="0"/>
        </a:xfrm>
      </p:grpSpPr>
      <p:sp>
        <p:nvSpPr>
          <p:cNvPr id="270" name="Google Shape;270;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1" name="Google Shape;271;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277"/>
        <p:cNvGrpSpPr/>
        <p:nvPr/>
      </p:nvGrpSpPr>
      <p:grpSpPr>
        <a:xfrm>
          <a:off x="0" y="0"/>
          <a:ext cx="0" cy="0"/>
          <a:chOff x="0" y="0"/>
          <a:chExt cx="0" cy="0"/>
        </a:xfrm>
      </p:grpSpPr>
      <p:sp>
        <p:nvSpPr>
          <p:cNvPr id="278" name="Google Shape;278;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9" name="Google Shape;279;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9" name="Shape 299"/>
        <p:cNvGrpSpPr/>
        <p:nvPr/>
      </p:nvGrpSpPr>
      <p:grpSpPr>
        <a:xfrm>
          <a:off x="0" y="0"/>
          <a:ext cx="0" cy="0"/>
          <a:chOff x="0" y="0"/>
          <a:chExt cx="0" cy="0"/>
        </a:xfrm>
      </p:grpSpPr>
      <p:sp>
        <p:nvSpPr>
          <p:cNvPr id="300" name="Google Shape;300;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1" name="Google Shape;301;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6" name="Shape 316"/>
        <p:cNvGrpSpPr/>
        <p:nvPr/>
      </p:nvGrpSpPr>
      <p:grpSpPr>
        <a:xfrm>
          <a:off x="0" y="0"/>
          <a:ext cx="0" cy="0"/>
          <a:chOff x="0" y="0"/>
          <a:chExt cx="0" cy="0"/>
        </a:xfrm>
      </p:grpSpPr>
      <p:sp>
        <p:nvSpPr>
          <p:cNvPr id="317" name="Google Shape;317;p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18" name="Google Shape;318;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p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34" name="Google Shape;334;p1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0" name="Shape 340"/>
        <p:cNvGrpSpPr/>
        <p:nvPr/>
      </p:nvGrpSpPr>
      <p:grpSpPr>
        <a:xfrm>
          <a:off x="0" y="0"/>
          <a:ext cx="0" cy="0"/>
          <a:chOff x="0" y="0"/>
          <a:chExt cx="0" cy="0"/>
        </a:xfrm>
      </p:grpSpPr>
      <p:sp>
        <p:nvSpPr>
          <p:cNvPr id="341" name="Google Shape;341;p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42" name="Google Shape;342;p1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9" name="Shape 359"/>
        <p:cNvGrpSpPr/>
        <p:nvPr/>
      </p:nvGrpSpPr>
      <p:grpSpPr>
        <a:xfrm>
          <a:off x="0" y="0"/>
          <a:ext cx="0" cy="0"/>
          <a:chOff x="0" y="0"/>
          <a:chExt cx="0" cy="0"/>
        </a:xfrm>
      </p:grpSpPr>
      <p:sp>
        <p:nvSpPr>
          <p:cNvPr id="360" name="Google Shape;360;p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61" name="Google Shape;361;p1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6" name="Shape 376"/>
        <p:cNvGrpSpPr/>
        <p:nvPr/>
      </p:nvGrpSpPr>
      <p:grpSpPr>
        <a:xfrm>
          <a:off x="0" y="0"/>
          <a:ext cx="0" cy="0"/>
          <a:chOff x="0" y="0"/>
          <a:chExt cx="0" cy="0"/>
        </a:xfrm>
      </p:grpSpPr>
      <p:sp>
        <p:nvSpPr>
          <p:cNvPr id="377" name="Google Shape;377;p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78" name="Google Shape;378;p1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2" name="Shape 392"/>
        <p:cNvGrpSpPr/>
        <p:nvPr/>
      </p:nvGrpSpPr>
      <p:grpSpPr>
        <a:xfrm>
          <a:off x="0" y="0"/>
          <a:ext cx="0" cy="0"/>
          <a:chOff x="0" y="0"/>
          <a:chExt cx="0" cy="0"/>
        </a:xfrm>
      </p:grpSpPr>
      <p:sp>
        <p:nvSpPr>
          <p:cNvPr id="393" name="Google Shape;393;p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94" name="Google Shape;394;p2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0" name="Shape 400"/>
        <p:cNvGrpSpPr/>
        <p:nvPr/>
      </p:nvGrpSpPr>
      <p:grpSpPr>
        <a:xfrm>
          <a:off x="0" y="0"/>
          <a:ext cx="0" cy="0"/>
          <a:chOff x="0" y="0"/>
          <a:chExt cx="0" cy="0"/>
        </a:xfrm>
      </p:grpSpPr>
      <p:sp>
        <p:nvSpPr>
          <p:cNvPr id="401" name="Google Shape;401;p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02" name="Google Shape;402;p2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8" name="Shape 418"/>
        <p:cNvGrpSpPr/>
        <p:nvPr/>
      </p:nvGrpSpPr>
      <p:grpSpPr>
        <a:xfrm>
          <a:off x="0" y="0"/>
          <a:ext cx="0" cy="0"/>
          <a:chOff x="0" y="0"/>
          <a:chExt cx="0" cy="0"/>
        </a:xfrm>
      </p:grpSpPr>
      <p:sp>
        <p:nvSpPr>
          <p:cNvPr id="419" name="Google Shape;419;p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20" name="Google Shape;420;p2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5" name="Shape 435"/>
        <p:cNvGrpSpPr/>
        <p:nvPr/>
      </p:nvGrpSpPr>
      <p:grpSpPr>
        <a:xfrm>
          <a:off x="0" y="0"/>
          <a:ext cx="0" cy="0"/>
          <a:chOff x="0" y="0"/>
          <a:chExt cx="0" cy="0"/>
        </a:xfrm>
      </p:grpSpPr>
      <p:sp>
        <p:nvSpPr>
          <p:cNvPr id="436" name="Google Shape;436;p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37" name="Google Shape;437;p2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3" name="Shape 443"/>
        <p:cNvGrpSpPr/>
        <p:nvPr/>
      </p:nvGrpSpPr>
      <p:grpSpPr>
        <a:xfrm>
          <a:off x="0" y="0"/>
          <a:ext cx="0" cy="0"/>
          <a:chOff x="0" y="0"/>
          <a:chExt cx="0" cy="0"/>
        </a:xfrm>
      </p:grpSpPr>
      <p:sp>
        <p:nvSpPr>
          <p:cNvPr id="444" name="Google Shape;444;p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45" name="Google Shape;445;p2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5" name="Shape 475"/>
        <p:cNvGrpSpPr/>
        <p:nvPr/>
      </p:nvGrpSpPr>
      <p:grpSpPr>
        <a:xfrm>
          <a:off x="0" y="0"/>
          <a:ext cx="0" cy="0"/>
          <a:chOff x="0" y="0"/>
          <a:chExt cx="0" cy="0"/>
        </a:xfrm>
      </p:grpSpPr>
      <p:sp>
        <p:nvSpPr>
          <p:cNvPr id="476" name="Google Shape;476;p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77" name="Google Shape;477;p2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9.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xml"/><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3.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2" Type="http://schemas.openxmlformats.org/officeDocument/2006/relationships/notesSlide" Target="../notesSlides/notesSlide13.xml"/><Relationship Id="rId11" Type="http://schemas.openxmlformats.org/officeDocument/2006/relationships/slideLayout" Target="../slideLayouts/slideLayout1.xml"/><Relationship Id="rId10" Type="http://schemas.openxmlformats.org/officeDocument/2006/relationships/image" Target="../media/image4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46.png"/><Relationship Id="rId3"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25.png"/><Relationship Id="rId2" Type="http://schemas.openxmlformats.org/officeDocument/2006/relationships/image" Target="../media/image9.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45.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51.png"/><Relationship Id="rId3"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52.png"/><Relationship Id="rId4" Type="http://schemas.openxmlformats.org/officeDocument/2006/relationships/image" Target="../media/image47.png"/><Relationship Id="rId3" Type="http://schemas.openxmlformats.org/officeDocument/2006/relationships/image" Target="../media/image25.png"/><Relationship Id="rId2" Type="http://schemas.openxmlformats.org/officeDocument/2006/relationships/image" Target="../media/image9.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45.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59.png"/><Relationship Id="rId3"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83" name="Shape 83"/>
        <p:cNvGrpSpPr/>
        <p:nvPr/>
      </p:nvGrpSpPr>
      <p:grpSpPr>
        <a:xfrm>
          <a:off x="0" y="0"/>
          <a:ext cx="0" cy="0"/>
          <a:chOff x="0" y="0"/>
          <a:chExt cx="0" cy="0"/>
        </a:xfrm>
      </p:grpSpPr>
      <p:pic>
        <p:nvPicPr>
          <p:cNvPr id="84" name="Google Shape;84;p1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5" name="Picture 4"/>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91" name="Shape 91"/>
        <p:cNvGrpSpPr/>
        <p:nvPr/>
      </p:nvGrpSpPr>
      <p:grpSpPr>
        <a:xfrm>
          <a:off x="0" y="0"/>
          <a:ext cx="0" cy="0"/>
          <a:chOff x="0" y="0"/>
          <a:chExt cx="0" cy="0"/>
        </a:xfrm>
      </p:grpSpPr>
      <p:pic>
        <p:nvPicPr>
          <p:cNvPr id="92" name="Google Shape;92;p1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2"/>
          <a:srcRect/>
          <a:stretch>
            <a:fillRect/>
          </a:stretch>
        </p:blipFill>
        <p:spPr>
          <a:xfrm>
            <a:off x="571500" y="2281237"/>
            <a:ext cx="3492549" cy="3400425"/>
          </a:xfrm>
          <a:prstGeom prst="rect">
            <a:avLst/>
          </a:prstGeom>
          <a:noFill/>
          <a:ln>
            <a:noFill/>
          </a:ln>
        </p:spPr>
      </p:pic>
      <p:pic>
        <p:nvPicPr>
          <p:cNvPr id="94" name="Google Shape;94;p14" descr="image.png"/>
          <p:cNvPicPr preferRelativeResize="0"/>
          <p:nvPr/>
        </p:nvPicPr>
        <p:blipFill rotWithShape="1">
          <a:blip r:embed="rId3"/>
          <a:srcRect/>
          <a:stretch>
            <a:fillRect/>
          </a:stretch>
        </p:blipFill>
        <p:spPr>
          <a:xfrm>
            <a:off x="4349799" y="2281237"/>
            <a:ext cx="3492549" cy="3400425"/>
          </a:xfrm>
          <a:prstGeom prst="rect">
            <a:avLst/>
          </a:prstGeom>
          <a:noFill/>
          <a:ln>
            <a:noFill/>
          </a:ln>
        </p:spPr>
      </p:pic>
      <p:pic>
        <p:nvPicPr>
          <p:cNvPr id="95" name="Google Shape;95;p14" descr="image.png"/>
          <p:cNvPicPr preferRelativeResize="0"/>
          <p:nvPr/>
        </p:nvPicPr>
        <p:blipFill rotWithShape="1">
          <a:blip r:embed="rId4"/>
          <a:srcRect/>
          <a:stretch>
            <a:fillRect/>
          </a:stretch>
        </p:blipFill>
        <p:spPr>
          <a:xfrm>
            <a:off x="8128099" y="2281237"/>
            <a:ext cx="3492549" cy="3400425"/>
          </a:xfrm>
          <a:prstGeom prst="rect">
            <a:avLst/>
          </a:prstGeom>
          <a:noFill/>
          <a:ln>
            <a:noFill/>
          </a:ln>
        </p:spPr>
      </p:pic>
      <p:sp>
        <p:nvSpPr>
          <p:cNvPr id="96" name="Google Shape;96;p14"/>
          <p:cNvSpPr txBox="1"/>
          <p:nvPr/>
        </p:nvSpPr>
        <p:spPr>
          <a:xfrm>
            <a:off x="744218" y="3433762"/>
            <a:ext cx="3147112"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Mức Ý Tưởng</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97" name="Google Shape;97;p14"/>
          <p:cNvSpPr txBox="1"/>
          <p:nvPr/>
        </p:nvSpPr>
        <p:spPr>
          <a:xfrm>
            <a:off x="819150" y="3976687"/>
            <a:ext cx="2997249"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Nghiên cứu lý thuyết nền tảng, tổng hợp và đề xuất các phương pháp tiếp cận khai thác GenAI trong quy trình phát triển phần mềm.</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98" name="Google Shape;98;p14"/>
          <p:cNvSpPr txBox="1"/>
          <p:nvPr/>
        </p:nvSpPr>
        <p:spPr>
          <a:xfrm>
            <a:off x="4522518" y="3433762"/>
            <a:ext cx="3147112"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Mức Luận Lý</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99" name="Google Shape;99;p14"/>
          <p:cNvSpPr txBox="1"/>
          <p:nvPr/>
        </p:nvSpPr>
        <p:spPr>
          <a:xfrm>
            <a:off x="4597449" y="3976687"/>
            <a:ext cx="2997249"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Phân tích logic hệ thống, thuật toán, áp dụng cấu trúc dữ liệu và mô hình suy luận nhằm kiểm chứng nguyên lý hoạt động của LLM.</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100" name="Google Shape;100;p14"/>
          <p:cNvSpPr txBox="1"/>
          <p:nvPr/>
        </p:nvSpPr>
        <p:spPr>
          <a:xfrm>
            <a:off x="8300817" y="3433762"/>
            <a:ext cx="3147112"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Mức Vật Lý</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01" name="Google Shape;101;p14"/>
          <p:cNvSpPr txBox="1"/>
          <p:nvPr/>
        </p:nvSpPr>
        <p:spPr>
          <a:xfrm>
            <a:off x="8375749" y="3976687"/>
            <a:ext cx="2997249"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Triển khai Lab thực hành trực tiếp qua code, gọi API và phân tích hiệu suất thực tế của các kỹ thuật (tốc độ, tokens, độ chính xác).</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102" name="Google Shape;102;p14" descr="image.png"/>
          <p:cNvPicPr preferRelativeResize="0"/>
          <p:nvPr/>
        </p:nvPicPr>
        <p:blipFill rotWithShape="1">
          <a:blip r:embed="rId5"/>
          <a:srcRect/>
          <a:stretch>
            <a:fillRect/>
          </a:stretch>
        </p:blipFill>
        <p:spPr>
          <a:xfrm>
            <a:off x="2136725" y="2671762"/>
            <a:ext cx="361950" cy="476250"/>
          </a:xfrm>
          <a:prstGeom prst="rect">
            <a:avLst/>
          </a:prstGeom>
          <a:noFill/>
          <a:ln>
            <a:noFill/>
          </a:ln>
        </p:spPr>
      </p:pic>
      <p:pic>
        <p:nvPicPr>
          <p:cNvPr id="103" name="Google Shape;103;p14" descr="image.png"/>
          <p:cNvPicPr preferRelativeResize="0"/>
          <p:nvPr/>
        </p:nvPicPr>
        <p:blipFill rotWithShape="1">
          <a:blip r:embed="rId6"/>
          <a:srcRect/>
          <a:stretch>
            <a:fillRect/>
          </a:stretch>
        </p:blipFill>
        <p:spPr>
          <a:xfrm>
            <a:off x="5795962" y="2671762"/>
            <a:ext cx="600075" cy="476250"/>
          </a:xfrm>
          <a:prstGeom prst="rect">
            <a:avLst/>
          </a:prstGeom>
          <a:noFill/>
          <a:ln>
            <a:noFill/>
          </a:ln>
        </p:spPr>
      </p:pic>
      <p:pic>
        <p:nvPicPr>
          <p:cNvPr id="104" name="Google Shape;104;p14" descr="image.png"/>
          <p:cNvPicPr preferRelativeResize="0"/>
          <p:nvPr/>
        </p:nvPicPr>
        <p:blipFill rotWithShape="1">
          <a:blip r:embed="rId7"/>
          <a:srcRect/>
          <a:stretch>
            <a:fillRect/>
          </a:stretch>
        </p:blipFill>
        <p:spPr>
          <a:xfrm>
            <a:off x="9574262" y="2671762"/>
            <a:ext cx="600075" cy="476250"/>
          </a:xfrm>
          <a:prstGeom prst="rect">
            <a:avLst/>
          </a:prstGeom>
          <a:noFill/>
          <a:ln>
            <a:noFill/>
          </a:ln>
        </p:spPr>
      </p:pic>
      <p:sp>
        <p:nvSpPr>
          <p:cNvPr id="105" name="Google Shape;105;p14"/>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Phương Pháp Nghiên Cứu</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06" name="Google Shape;106;p14"/>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10" name="Shape 110"/>
        <p:cNvGrpSpPr/>
        <p:nvPr/>
      </p:nvGrpSpPr>
      <p:grpSpPr>
        <a:xfrm>
          <a:off x="0" y="0"/>
          <a:ext cx="0" cy="0"/>
          <a:chOff x="0" y="0"/>
          <a:chExt cx="0" cy="0"/>
        </a:xfrm>
      </p:grpSpPr>
      <p:pic>
        <p:nvPicPr>
          <p:cNvPr id="111" name="Google Shape;111;p15"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12" name="Google Shape;112;p15"/>
          <p:cNvSpPr/>
          <p:nvPr/>
        </p:nvSpPr>
        <p:spPr>
          <a:xfrm>
            <a:off x="5524500" y="2646015"/>
            <a:ext cx="1143000" cy="5715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3" name="Google Shape;113;p15"/>
          <p:cNvSpPr txBox="1"/>
          <p:nvPr/>
        </p:nvSpPr>
        <p:spPr>
          <a:xfrm>
            <a:off x="1490271" y="2988915"/>
            <a:ext cx="9211307" cy="8096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rPr>
              <a:t>Chương 6: Đằng Sau Hậu Trường</a:t>
            </a:r>
            <a:endPar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p:txBody>
      </p:sp>
      <p:sp>
        <p:nvSpPr>
          <p:cNvPr id="114" name="Google Shape;114;p15"/>
          <p:cNvSpPr txBox="1"/>
          <p:nvPr/>
        </p:nvSpPr>
        <p:spPr>
          <a:xfrm>
            <a:off x="3223914" y="3989040"/>
            <a:ext cx="5744021"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475569"/>
                </a:solidFill>
                <a:latin typeface="Lato" panose="020F0502020204030203"/>
                <a:ea typeface="Lato" panose="020F0502020204030203"/>
                <a:cs typeface="Lato" panose="020F0502020204030203"/>
                <a:sym typeface="Lato" panose="020F0502020204030203"/>
              </a:rPr>
              <a:t>Cách ChatGPT, GitHub Copilot và các LLM khác hoạt động</a:t>
            </a:r>
            <a:endParaRPr lang="en-US" sz="18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18" name="Shape 118"/>
        <p:cNvGrpSpPr/>
        <p:nvPr/>
      </p:nvGrpSpPr>
      <p:grpSpPr>
        <a:xfrm>
          <a:off x="0" y="0"/>
          <a:ext cx="0" cy="0"/>
          <a:chOff x="0" y="0"/>
          <a:chExt cx="0" cy="0"/>
        </a:xfrm>
      </p:grpSpPr>
      <p:pic>
        <p:nvPicPr>
          <p:cNvPr id="119" name="Google Shape;119;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20" name="Google Shape;120;p16" descr="image.png"/>
          <p:cNvPicPr preferRelativeResize="0"/>
          <p:nvPr/>
        </p:nvPicPr>
        <p:blipFill rotWithShape="1">
          <a:blip r:embed="rId2"/>
          <a:srcRect/>
          <a:stretch>
            <a:fillRect/>
          </a:stretch>
        </p:blipFill>
        <p:spPr>
          <a:xfrm>
            <a:off x="6381750" y="2076450"/>
            <a:ext cx="5238750" cy="3810000"/>
          </a:xfrm>
          <a:prstGeom prst="rect">
            <a:avLst/>
          </a:prstGeom>
          <a:noFill/>
          <a:ln>
            <a:noFill/>
          </a:ln>
        </p:spPr>
      </p:pic>
      <p:pic>
        <p:nvPicPr>
          <p:cNvPr id="121" name="Google Shape;121;p16" descr="image.png"/>
          <p:cNvPicPr preferRelativeResize="0"/>
          <p:nvPr/>
        </p:nvPicPr>
        <p:blipFill rotWithShape="1">
          <a:blip r:embed="rId3"/>
          <a:srcRect/>
          <a:stretch>
            <a:fillRect/>
          </a:stretch>
        </p:blipFill>
        <p:spPr>
          <a:xfrm>
            <a:off x="571500" y="2076450"/>
            <a:ext cx="787003" cy="238125"/>
          </a:xfrm>
          <a:prstGeom prst="rect">
            <a:avLst/>
          </a:prstGeom>
          <a:noFill/>
          <a:ln>
            <a:noFill/>
          </a:ln>
        </p:spPr>
      </p:pic>
      <p:sp>
        <p:nvSpPr>
          <p:cNvPr id="122" name="Google Shape;122;p16"/>
          <p:cNvSpPr txBox="1"/>
          <p:nvPr/>
        </p:nvSpPr>
        <p:spPr>
          <a:xfrm>
            <a:off x="857250" y="240982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Mô hình thống kê (n-gram):</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Dự đoán phần tử tiếp theo dựa trên xác suất có điều kiện P(x|y). Dễ dẫn đến bùng nổ tổ hợp với tập dữ liệu lớn.</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123" name="Google Shape;123;p16"/>
          <p:cNvSpPr txBox="1"/>
          <p:nvPr/>
        </p:nvSpPr>
        <p:spPr>
          <a:xfrm>
            <a:off x="857250" y="349567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Mạng Nơ-ron sâu:</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Không lưu trữ toàn bộ xác suất mà học biểu diễn trừu tượng từ dữ liệu khổng lồ.</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124" name="Google Shape;124;p16"/>
          <p:cNvSpPr txBox="1"/>
          <p:nvPr/>
        </p:nvSpPr>
        <p:spPr>
          <a:xfrm>
            <a:off x="857250" y="427672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Kiến trúc Transformer:</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Sử dụng cơ chế </a:t>
            </a:r>
            <a:r>
              <a:rPr lang="en-US" sz="1500" b="0" i="1" u="none" strike="noStrike" cap="none">
                <a:solidFill>
                  <a:srgbClr val="334155"/>
                </a:solidFill>
                <a:latin typeface="Lato" panose="020F0502020204030203"/>
                <a:ea typeface="Lato" panose="020F0502020204030203"/>
                <a:cs typeface="Lato" panose="020F0502020204030203"/>
                <a:sym typeface="Lato" panose="020F0502020204030203"/>
              </a:rPr>
              <a:t>Attention</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xác định mức độ liên quan giữa các từ, xử lý ngữ cảnh dài vượt trội.</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125" name="Google Shape;125;p16"/>
          <p:cNvSpPr txBox="1"/>
          <p:nvPr/>
        </p:nvSpPr>
        <p:spPr>
          <a:xfrm>
            <a:off x="857250" y="505777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Word2Vec &amp; Embedding:</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Biểu diễn từ thành vector số học, bảo toàn quan hệ ngữ nghĩa trong không gian nhiều chiều.</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126" name="Google Shape;126;p16" descr="image.png"/>
          <p:cNvPicPr preferRelativeResize="0"/>
          <p:nvPr/>
        </p:nvPicPr>
        <p:blipFill rotWithShape="1">
          <a:blip r:embed="rId4"/>
          <a:srcRect/>
          <a:stretch>
            <a:fillRect/>
          </a:stretch>
        </p:blipFill>
        <p:spPr>
          <a:xfrm>
            <a:off x="6381750" y="2076450"/>
            <a:ext cx="5238750" cy="3810000"/>
          </a:xfrm>
          <a:prstGeom prst="rect">
            <a:avLst/>
          </a:prstGeom>
          <a:noFill/>
          <a:ln>
            <a:noFill/>
          </a:ln>
        </p:spPr>
      </p:pic>
      <p:sp>
        <p:nvSpPr>
          <p:cNvPr id="127" name="Google Shape;127;p16"/>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Cơ Chế Hoạt Động Cốt Lõi</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28" name="Google Shape;128;p16"/>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29" name="Google Shape;129;p16" descr="image.png"/>
          <p:cNvPicPr preferRelativeResize="0"/>
          <p:nvPr/>
        </p:nvPicPr>
        <p:blipFill rotWithShape="1">
          <a:blip r:embed="rId5"/>
          <a:srcRect/>
          <a:stretch>
            <a:fillRect/>
          </a:stretch>
        </p:blipFill>
        <p:spPr>
          <a:xfrm>
            <a:off x="571500" y="2428875"/>
            <a:ext cx="95250" cy="200025"/>
          </a:xfrm>
          <a:prstGeom prst="rect">
            <a:avLst/>
          </a:prstGeom>
          <a:noFill/>
          <a:ln>
            <a:noFill/>
          </a:ln>
        </p:spPr>
      </p:pic>
      <p:pic>
        <p:nvPicPr>
          <p:cNvPr id="130" name="Google Shape;130;p16" descr="image.png"/>
          <p:cNvPicPr preferRelativeResize="0"/>
          <p:nvPr/>
        </p:nvPicPr>
        <p:blipFill rotWithShape="1">
          <a:blip r:embed="rId5"/>
          <a:srcRect/>
          <a:stretch>
            <a:fillRect/>
          </a:stretch>
        </p:blipFill>
        <p:spPr>
          <a:xfrm>
            <a:off x="571500" y="3514725"/>
            <a:ext cx="95250" cy="200025"/>
          </a:xfrm>
          <a:prstGeom prst="rect">
            <a:avLst/>
          </a:prstGeom>
          <a:noFill/>
          <a:ln>
            <a:noFill/>
          </a:ln>
        </p:spPr>
      </p:pic>
      <p:pic>
        <p:nvPicPr>
          <p:cNvPr id="131" name="Google Shape;131;p16" descr="image.png"/>
          <p:cNvPicPr preferRelativeResize="0"/>
          <p:nvPr/>
        </p:nvPicPr>
        <p:blipFill rotWithShape="1">
          <a:blip r:embed="rId5"/>
          <a:srcRect/>
          <a:stretch>
            <a:fillRect/>
          </a:stretch>
        </p:blipFill>
        <p:spPr>
          <a:xfrm>
            <a:off x="571500" y="4295775"/>
            <a:ext cx="95250" cy="200025"/>
          </a:xfrm>
          <a:prstGeom prst="rect">
            <a:avLst/>
          </a:prstGeom>
          <a:noFill/>
          <a:ln>
            <a:noFill/>
          </a:ln>
        </p:spPr>
      </p:pic>
      <p:pic>
        <p:nvPicPr>
          <p:cNvPr id="132" name="Google Shape;132;p16" descr="image.png"/>
          <p:cNvPicPr preferRelativeResize="0"/>
          <p:nvPr/>
        </p:nvPicPr>
        <p:blipFill rotWithShape="1">
          <a:blip r:embed="rId5"/>
          <a:srcRect/>
          <a:stretch>
            <a:fillRect/>
          </a:stretch>
        </p:blipFill>
        <p:spPr>
          <a:xfrm>
            <a:off x="571500" y="5076825"/>
            <a:ext cx="95250" cy="200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36" name="Shape 136"/>
        <p:cNvGrpSpPr/>
        <p:nvPr/>
      </p:nvGrpSpPr>
      <p:grpSpPr>
        <a:xfrm>
          <a:off x="0" y="0"/>
          <a:ext cx="0" cy="0"/>
          <a:chOff x="0" y="0"/>
          <a:chExt cx="0" cy="0"/>
        </a:xfrm>
      </p:grpSpPr>
      <p:pic>
        <p:nvPicPr>
          <p:cNvPr id="137" name="Google Shape;137;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38" name="Google Shape;138;p17" descr="image.png"/>
          <p:cNvPicPr preferRelativeResize="0"/>
          <p:nvPr/>
        </p:nvPicPr>
        <p:blipFill rotWithShape="1">
          <a:blip r:embed="rId2"/>
          <a:srcRect/>
          <a:stretch>
            <a:fillRect/>
          </a:stretch>
        </p:blipFill>
        <p:spPr>
          <a:xfrm>
            <a:off x="571500" y="2095500"/>
            <a:ext cx="5238750" cy="3771900"/>
          </a:xfrm>
          <a:prstGeom prst="rect">
            <a:avLst/>
          </a:prstGeom>
          <a:noFill/>
          <a:ln>
            <a:noFill/>
          </a:ln>
        </p:spPr>
      </p:pic>
      <p:pic>
        <p:nvPicPr>
          <p:cNvPr id="139" name="Google Shape;139;p17" descr="image.png"/>
          <p:cNvPicPr preferRelativeResize="0"/>
          <p:nvPr/>
        </p:nvPicPr>
        <p:blipFill rotWithShape="1">
          <a:blip r:embed="rId3"/>
          <a:srcRect/>
          <a:stretch>
            <a:fillRect/>
          </a:stretch>
        </p:blipFill>
        <p:spPr>
          <a:xfrm>
            <a:off x="6381750" y="2095500"/>
            <a:ext cx="5238750" cy="3771900"/>
          </a:xfrm>
          <a:prstGeom prst="rect">
            <a:avLst/>
          </a:prstGeom>
          <a:noFill/>
          <a:ln>
            <a:noFill/>
          </a:ln>
        </p:spPr>
      </p:pic>
      <p:pic>
        <p:nvPicPr>
          <p:cNvPr id="140" name="Google Shape;140;p17" descr="image.png"/>
          <p:cNvPicPr preferRelativeResize="0"/>
          <p:nvPr/>
        </p:nvPicPr>
        <p:blipFill rotWithShape="1">
          <a:blip r:embed="rId4"/>
          <a:srcRect/>
          <a:stretch>
            <a:fillRect/>
          </a:stretch>
        </p:blipFill>
        <p:spPr>
          <a:xfrm>
            <a:off x="962025" y="2486025"/>
            <a:ext cx="4457700" cy="238125"/>
          </a:xfrm>
          <a:prstGeom prst="rect">
            <a:avLst/>
          </a:prstGeom>
          <a:noFill/>
          <a:ln>
            <a:noFill/>
          </a:ln>
        </p:spPr>
      </p:pic>
      <p:sp>
        <p:nvSpPr>
          <p:cNvPr id="141" name="Google Shape;141;p17"/>
          <p:cNvSpPr txBox="1"/>
          <p:nvPr/>
        </p:nvSpPr>
        <p:spPr>
          <a:xfrm>
            <a:off x="962025" y="2819400"/>
            <a:ext cx="468058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Dự Đoán Token Tiếp Theo</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42" name="Google Shape;142;p17"/>
          <p:cNvSpPr txBox="1"/>
          <p:nvPr/>
        </p:nvSpPr>
        <p:spPr>
          <a:xfrm>
            <a:off x="962025" y="3362325"/>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LLM hoạt động dựa trên cơ chế </a:t>
            </a:r>
            <a:r>
              <a:rPr lang="en-US" sz="1500" b="0" i="1" u="none" strike="noStrike" cap="none">
                <a:solidFill>
                  <a:srgbClr val="334155"/>
                </a:solidFill>
                <a:latin typeface="Lato" panose="020F0502020204030203"/>
                <a:ea typeface="Lato" panose="020F0502020204030203"/>
                <a:cs typeface="Lato" panose="020F0502020204030203"/>
                <a:sym typeface="Lato" panose="020F0502020204030203"/>
              </a:rPr>
              <a:t>Next-token prediction</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Tùy thuộc vào chiến lược lựa chọn token, kết quả sinh ra sẽ có đặc tính khác nhau:</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143" name="Google Shape;143;p17"/>
          <p:cNvSpPr txBox="1"/>
          <p:nvPr/>
        </p:nvSpPr>
        <p:spPr>
          <a:xfrm>
            <a:off x="962025" y="4419600"/>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Phương pháp Greedy:</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Luôn chọn token có xác suất cao nhất. Ưu điểm là nhanh, ổn định nhưng nhược điểm là dễ lặp lại và thiếu tính đa dạng.</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144" name="Google Shape;144;p17" descr="image.png"/>
          <p:cNvPicPr preferRelativeResize="0"/>
          <p:nvPr/>
        </p:nvPicPr>
        <p:blipFill rotWithShape="1">
          <a:blip r:embed="rId5"/>
          <a:srcRect/>
          <a:stretch>
            <a:fillRect/>
          </a:stretch>
        </p:blipFill>
        <p:spPr>
          <a:xfrm>
            <a:off x="6772275" y="2486025"/>
            <a:ext cx="4457700" cy="238125"/>
          </a:xfrm>
          <a:prstGeom prst="rect">
            <a:avLst/>
          </a:prstGeom>
          <a:noFill/>
          <a:ln>
            <a:noFill/>
          </a:ln>
        </p:spPr>
      </p:pic>
      <p:sp>
        <p:nvSpPr>
          <p:cNvPr id="145" name="Google Shape;145;p17"/>
          <p:cNvSpPr txBox="1"/>
          <p:nvPr/>
        </p:nvSpPr>
        <p:spPr>
          <a:xfrm>
            <a:off x="6772275" y="2819400"/>
            <a:ext cx="468058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Sampling (Lấy Mẫu Xác Suất)</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46" name="Google Shape;146;p17"/>
          <p:cNvSpPr txBox="1"/>
          <p:nvPr/>
        </p:nvSpPr>
        <p:spPr>
          <a:xfrm>
            <a:off x="6772275" y="3362325"/>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Thay vì luôn lấy token cao nhất, phương pháp này chọn ngẫu nhiên dựa trên phân phối xác suất. Điều này mang yếu tố ngẫu nhiên vào hệ thống.</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147" name="Google Shape;147;p17"/>
          <p:cNvSpPr txBox="1"/>
          <p:nvPr/>
        </p:nvSpPr>
        <p:spPr>
          <a:xfrm>
            <a:off x="6772275" y="4419600"/>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Kết quả thực nghiệm:</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Giúp mã nguồn hoặc văn bản sinh ra tự nhiên, phong phú và giống tư duy con người hơn so với Greedy.</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148" name="Google Shape;148;p17"/>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Phương Pháp Sinh Văn Bản và Mã Nguồn</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49" name="Google Shape;149;p17"/>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53" name="Shape 153"/>
        <p:cNvGrpSpPr/>
        <p:nvPr/>
      </p:nvGrpSpPr>
      <p:grpSpPr>
        <a:xfrm>
          <a:off x="0" y="0"/>
          <a:ext cx="0" cy="0"/>
          <a:chOff x="0" y="0"/>
          <a:chExt cx="0" cy="0"/>
        </a:xfrm>
      </p:grpSpPr>
      <p:pic>
        <p:nvPicPr>
          <p:cNvPr id="154" name="Google Shape;154;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55" name="Google Shape;155;p18" descr="image.png"/>
          <p:cNvPicPr preferRelativeResize="0"/>
          <p:nvPr/>
        </p:nvPicPr>
        <p:blipFill rotWithShape="1">
          <a:blip r:embed="rId2"/>
          <a:srcRect/>
          <a:stretch>
            <a:fillRect/>
          </a:stretch>
        </p:blipFill>
        <p:spPr>
          <a:xfrm>
            <a:off x="571500" y="2114550"/>
            <a:ext cx="5381625" cy="3733800"/>
          </a:xfrm>
          <a:prstGeom prst="rect">
            <a:avLst/>
          </a:prstGeom>
          <a:noFill/>
          <a:ln>
            <a:noFill/>
          </a:ln>
        </p:spPr>
      </p:pic>
      <p:pic>
        <p:nvPicPr>
          <p:cNvPr id="156" name="Google Shape;156;p18" descr="image.png"/>
          <p:cNvPicPr preferRelativeResize="0"/>
          <p:nvPr/>
        </p:nvPicPr>
        <p:blipFill rotWithShape="1">
          <a:blip r:embed="rId3"/>
          <a:srcRect/>
          <a:stretch>
            <a:fillRect/>
          </a:stretch>
        </p:blipFill>
        <p:spPr>
          <a:xfrm>
            <a:off x="6238875" y="2114550"/>
            <a:ext cx="5381625" cy="3733800"/>
          </a:xfrm>
          <a:prstGeom prst="rect">
            <a:avLst/>
          </a:prstGeom>
          <a:noFill/>
          <a:ln>
            <a:noFill/>
          </a:ln>
        </p:spPr>
      </p:pic>
      <p:pic>
        <p:nvPicPr>
          <p:cNvPr id="157" name="Google Shape;157;p18" descr="image.png"/>
          <p:cNvPicPr preferRelativeResize="0"/>
          <p:nvPr/>
        </p:nvPicPr>
        <p:blipFill rotWithShape="1">
          <a:blip r:embed="rId4"/>
          <a:srcRect/>
          <a:stretch>
            <a:fillRect/>
          </a:stretch>
        </p:blipFill>
        <p:spPr>
          <a:xfrm>
            <a:off x="819150" y="3267075"/>
            <a:ext cx="4886325" cy="238125"/>
          </a:xfrm>
          <a:prstGeom prst="rect">
            <a:avLst/>
          </a:prstGeom>
          <a:noFill/>
          <a:ln>
            <a:noFill/>
          </a:ln>
        </p:spPr>
      </p:pic>
      <p:sp>
        <p:nvSpPr>
          <p:cNvPr id="158" name="Google Shape;158;p18"/>
          <p:cNvSpPr txBox="1"/>
          <p:nvPr/>
        </p:nvSpPr>
        <p:spPr>
          <a:xfrm>
            <a:off x="696991" y="3600450"/>
            <a:ext cx="5130641"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Hiện Tượng Hallucination</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59" name="Google Shape;159;p18"/>
          <p:cNvSpPr txBox="1"/>
          <p:nvPr/>
        </p:nvSpPr>
        <p:spPr>
          <a:xfrm>
            <a:off x="819150" y="4143375"/>
            <a:ext cx="4886325"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LLM tạo ra thông tin sai lệch, không có thật nhưng cực kỳ hợp lý. Trong lập trình, mô hình có thể gọi đến các thư viện hoặc hàm ảo, dẫn đến sai logic nghiêm trọng nếu không kiểm chứng.</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160" name="Google Shape;160;p18" descr="image.png"/>
          <p:cNvPicPr preferRelativeResize="0"/>
          <p:nvPr/>
        </p:nvPicPr>
        <p:blipFill rotWithShape="1">
          <a:blip r:embed="rId5"/>
          <a:srcRect/>
          <a:stretch>
            <a:fillRect/>
          </a:stretch>
        </p:blipFill>
        <p:spPr>
          <a:xfrm>
            <a:off x="6486525" y="3267075"/>
            <a:ext cx="4886325" cy="238125"/>
          </a:xfrm>
          <a:prstGeom prst="rect">
            <a:avLst/>
          </a:prstGeom>
          <a:noFill/>
          <a:ln>
            <a:noFill/>
          </a:ln>
        </p:spPr>
      </p:pic>
      <p:sp>
        <p:nvSpPr>
          <p:cNvPr id="161" name="Google Shape;161;p18"/>
          <p:cNvSpPr txBox="1"/>
          <p:nvPr/>
        </p:nvSpPr>
        <p:spPr>
          <a:xfrm>
            <a:off x="6364366" y="3600450"/>
            <a:ext cx="5130641"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Thiếu Hiểu Biết Ngữ Nghĩa</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62" name="Google Shape;162;p18"/>
          <p:cNvSpPr txBox="1"/>
          <p:nvPr/>
        </p:nvSpPr>
        <p:spPr>
          <a:xfrm>
            <a:off x="6486525" y="4143375"/>
            <a:ext cx="4886325"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Mô hình không "hiểu" code như con người mà chỉ sinh dữ liệu qua các pattern thống kê. Chúng xử lý tốt các bài toán quen thuộc nhưng bối rối trước logic chuyên sâu mới mẻ.</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163" name="Google Shape;163;p18" descr="image.png"/>
          <p:cNvPicPr preferRelativeResize="0"/>
          <p:nvPr/>
        </p:nvPicPr>
        <p:blipFill rotWithShape="1">
          <a:blip r:embed="rId6"/>
          <a:srcRect/>
          <a:stretch>
            <a:fillRect/>
          </a:stretch>
        </p:blipFill>
        <p:spPr>
          <a:xfrm>
            <a:off x="3081337" y="2505075"/>
            <a:ext cx="361950" cy="476250"/>
          </a:xfrm>
          <a:prstGeom prst="rect">
            <a:avLst/>
          </a:prstGeom>
          <a:noFill/>
          <a:ln>
            <a:noFill/>
          </a:ln>
        </p:spPr>
      </p:pic>
      <p:pic>
        <p:nvPicPr>
          <p:cNvPr id="164" name="Google Shape;164;p18" descr="image.png"/>
          <p:cNvPicPr preferRelativeResize="0"/>
          <p:nvPr/>
        </p:nvPicPr>
        <p:blipFill rotWithShape="1">
          <a:blip r:embed="rId7"/>
          <a:srcRect/>
          <a:stretch>
            <a:fillRect/>
          </a:stretch>
        </p:blipFill>
        <p:spPr>
          <a:xfrm>
            <a:off x="8691562" y="2505075"/>
            <a:ext cx="476250" cy="476250"/>
          </a:xfrm>
          <a:prstGeom prst="rect">
            <a:avLst/>
          </a:prstGeom>
          <a:noFill/>
          <a:ln>
            <a:noFill/>
          </a:ln>
        </p:spPr>
      </p:pic>
      <p:sp>
        <p:nvSpPr>
          <p:cNvPr id="165" name="Google Shape;165;p18"/>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Giới Hạn Của Mô Hình LLM</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66" name="Google Shape;166;p18"/>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70" name="Shape 170"/>
        <p:cNvGrpSpPr/>
        <p:nvPr/>
      </p:nvGrpSpPr>
      <p:grpSpPr>
        <a:xfrm>
          <a:off x="0" y="0"/>
          <a:ext cx="0" cy="0"/>
          <a:chOff x="0" y="0"/>
          <a:chExt cx="0" cy="0"/>
        </a:xfrm>
      </p:grpSpPr>
      <p:pic>
        <p:nvPicPr>
          <p:cNvPr id="171" name="Google Shape;171;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72" name="Google Shape;172;p19" descr="image.png"/>
          <p:cNvPicPr preferRelativeResize="0"/>
          <p:nvPr/>
        </p:nvPicPr>
        <p:blipFill rotWithShape="1">
          <a:blip r:embed="rId2"/>
          <a:srcRect/>
          <a:stretch>
            <a:fillRect/>
          </a:stretch>
        </p:blipFill>
        <p:spPr>
          <a:xfrm>
            <a:off x="6381750" y="2076450"/>
            <a:ext cx="5238750" cy="3810000"/>
          </a:xfrm>
          <a:prstGeom prst="rect">
            <a:avLst/>
          </a:prstGeom>
          <a:noFill/>
          <a:ln>
            <a:noFill/>
          </a:ln>
        </p:spPr>
      </p:pic>
      <p:pic>
        <p:nvPicPr>
          <p:cNvPr id="173" name="Google Shape;173;p19" descr="image.png"/>
          <p:cNvPicPr preferRelativeResize="0"/>
          <p:nvPr/>
        </p:nvPicPr>
        <p:blipFill rotWithShape="1">
          <a:blip r:embed="rId3"/>
          <a:srcRect/>
          <a:stretch>
            <a:fillRect/>
          </a:stretch>
        </p:blipFill>
        <p:spPr>
          <a:xfrm>
            <a:off x="571500" y="2076450"/>
            <a:ext cx="686990" cy="238125"/>
          </a:xfrm>
          <a:prstGeom prst="rect">
            <a:avLst/>
          </a:prstGeom>
          <a:noFill/>
          <a:ln>
            <a:noFill/>
          </a:ln>
        </p:spPr>
      </p:pic>
      <p:sp>
        <p:nvSpPr>
          <p:cNvPr id="174" name="Google Shape;174;p19"/>
          <p:cNvSpPr txBox="1"/>
          <p:nvPr/>
        </p:nvSpPr>
        <p:spPr>
          <a:xfrm>
            <a:off x="857250" y="2409825"/>
            <a:ext cx="4953000" cy="6286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Huấn luyện mô hình n-gram:</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Triển khai Python code đọc tập dữ liệu văn bản, tạo model train_ngram_model với `n=6`.</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175" name="Google Shape;175;p19"/>
          <p:cNvSpPr txBox="1"/>
          <p:nvPr/>
        </p:nvSpPr>
        <p:spPr>
          <a:xfrm>
            <a:off x="857250" y="320992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Kết quả:</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Mô hình sinh văn bản tuân thủ quy tắc viết hoa, khoảng trắng nhưng giới hạn bởi khả năng suy luận so với Deep Learning.</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176" name="Google Shape;176;p19"/>
          <p:cNvSpPr txBox="1"/>
          <p:nvPr/>
        </p:nvSpPr>
        <p:spPr>
          <a:xfrm>
            <a:off x="857250" y="429577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Thực nghiệm Word2Vec:</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Dùng </a:t>
            </a:r>
            <a:r>
              <a:rPr lang="en-US" sz="1500" b="0" i="1" u="none" strike="noStrike" cap="none">
                <a:solidFill>
                  <a:srgbClr val="334155"/>
                </a:solidFill>
                <a:latin typeface="Lato" panose="020F0502020204030203"/>
                <a:ea typeface="Lato" panose="020F0502020204030203"/>
                <a:cs typeface="Lato" panose="020F0502020204030203"/>
                <a:sym typeface="Lato" panose="020F0502020204030203"/>
              </a:rPr>
              <a:t>Gensim</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tìm từ liên quan. Nhập "bank" trả về "financial", "central", chứng minh biểu diễn ngữ nghĩa thành công.</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177" name="Google Shape;177;p19" descr="image.png"/>
          <p:cNvPicPr preferRelativeResize="0"/>
          <p:nvPr/>
        </p:nvPicPr>
        <p:blipFill rotWithShape="1">
          <a:blip r:embed="rId4"/>
          <a:srcRect/>
          <a:stretch>
            <a:fillRect/>
          </a:stretch>
        </p:blipFill>
        <p:spPr>
          <a:xfrm>
            <a:off x="6381750" y="2076450"/>
            <a:ext cx="5238750" cy="3810000"/>
          </a:xfrm>
          <a:prstGeom prst="rect">
            <a:avLst/>
          </a:prstGeom>
          <a:noFill/>
          <a:ln>
            <a:noFill/>
          </a:ln>
        </p:spPr>
      </p:pic>
      <p:sp>
        <p:nvSpPr>
          <p:cNvPr id="178" name="Google Shape;178;p19"/>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Lab 6: Thực Nghiệm Mô Phỏng Cơ Chế</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179" name="Google Shape;179;p19"/>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80" name="Google Shape;180;p19" descr="image.png"/>
          <p:cNvPicPr preferRelativeResize="0"/>
          <p:nvPr/>
        </p:nvPicPr>
        <p:blipFill rotWithShape="1">
          <a:blip r:embed="rId5"/>
          <a:srcRect/>
          <a:stretch>
            <a:fillRect/>
          </a:stretch>
        </p:blipFill>
        <p:spPr>
          <a:xfrm>
            <a:off x="571500" y="2428875"/>
            <a:ext cx="95250" cy="200025"/>
          </a:xfrm>
          <a:prstGeom prst="rect">
            <a:avLst/>
          </a:prstGeom>
          <a:noFill/>
          <a:ln>
            <a:noFill/>
          </a:ln>
        </p:spPr>
      </p:pic>
      <p:pic>
        <p:nvPicPr>
          <p:cNvPr id="181" name="Google Shape;181;p19" descr="image.png"/>
          <p:cNvPicPr preferRelativeResize="0"/>
          <p:nvPr/>
        </p:nvPicPr>
        <p:blipFill rotWithShape="1">
          <a:blip r:embed="rId5"/>
          <a:srcRect/>
          <a:stretch>
            <a:fillRect/>
          </a:stretch>
        </p:blipFill>
        <p:spPr>
          <a:xfrm>
            <a:off x="571500" y="3228975"/>
            <a:ext cx="95250" cy="200025"/>
          </a:xfrm>
          <a:prstGeom prst="rect">
            <a:avLst/>
          </a:prstGeom>
          <a:noFill/>
          <a:ln>
            <a:noFill/>
          </a:ln>
        </p:spPr>
      </p:pic>
      <p:pic>
        <p:nvPicPr>
          <p:cNvPr id="182" name="Google Shape;182;p19" descr="image.png"/>
          <p:cNvPicPr preferRelativeResize="0"/>
          <p:nvPr/>
        </p:nvPicPr>
        <p:blipFill rotWithShape="1">
          <a:blip r:embed="rId5"/>
          <a:srcRect/>
          <a:stretch>
            <a:fillRect/>
          </a:stretch>
        </p:blipFill>
        <p:spPr>
          <a:xfrm>
            <a:off x="571500" y="4314825"/>
            <a:ext cx="95250" cy="200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86" name="Shape 186"/>
        <p:cNvGrpSpPr/>
        <p:nvPr/>
      </p:nvGrpSpPr>
      <p:grpSpPr>
        <a:xfrm>
          <a:off x="0" y="0"/>
          <a:ext cx="0" cy="0"/>
          <a:chOff x="0" y="0"/>
          <a:chExt cx="0" cy="0"/>
        </a:xfrm>
      </p:grpSpPr>
      <p:pic>
        <p:nvPicPr>
          <p:cNvPr id="187" name="Google Shape;187;p20"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88" name="Google Shape;188;p20"/>
          <p:cNvSpPr/>
          <p:nvPr/>
        </p:nvSpPr>
        <p:spPr>
          <a:xfrm>
            <a:off x="5524500" y="2646015"/>
            <a:ext cx="1143000" cy="5715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9" name="Google Shape;189;p20"/>
          <p:cNvSpPr txBox="1"/>
          <p:nvPr/>
        </p:nvSpPr>
        <p:spPr>
          <a:xfrm>
            <a:off x="1478704" y="2988915"/>
            <a:ext cx="9234591" cy="8096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rPr>
              <a:t>Chương 7: Đọc Và Hiểu Cơ Sở Mã</a:t>
            </a:r>
            <a:endPar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p:txBody>
      </p:sp>
      <p:sp>
        <p:nvSpPr>
          <p:cNvPr id="190" name="Google Shape;190;p20"/>
          <p:cNvSpPr txBox="1"/>
          <p:nvPr/>
        </p:nvSpPr>
        <p:spPr>
          <a:xfrm>
            <a:off x="4118074" y="3989040"/>
            <a:ext cx="3955851"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475569"/>
                </a:solidFill>
                <a:latin typeface="Lato" panose="020F0502020204030203"/>
                <a:ea typeface="Lato" panose="020F0502020204030203"/>
                <a:cs typeface="Lato" panose="020F0502020204030203"/>
                <a:sym typeface="Lato" panose="020F0502020204030203"/>
              </a:rPr>
              <a:t>Phân tích dự án với sự hỗ trợ của GenAI</a:t>
            </a:r>
            <a:endParaRPr lang="en-US" sz="18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94" name="Shape 194"/>
        <p:cNvGrpSpPr/>
        <p:nvPr/>
      </p:nvGrpSpPr>
      <p:grpSpPr>
        <a:xfrm>
          <a:off x="0" y="0"/>
          <a:ext cx="0" cy="0"/>
          <a:chOff x="0" y="0"/>
          <a:chExt cx="0" cy="0"/>
        </a:xfrm>
      </p:grpSpPr>
      <p:pic>
        <p:nvPicPr>
          <p:cNvPr id="195" name="Google Shape;195;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96" name="Google Shape;196;p21" descr="image.png"/>
          <p:cNvPicPr preferRelativeResize="0"/>
          <p:nvPr/>
        </p:nvPicPr>
        <p:blipFill rotWithShape="1">
          <a:blip r:embed="rId2"/>
          <a:srcRect/>
          <a:stretch>
            <a:fillRect/>
          </a:stretch>
        </p:blipFill>
        <p:spPr>
          <a:xfrm>
            <a:off x="6381750" y="2028825"/>
            <a:ext cx="5238750" cy="3810000"/>
          </a:xfrm>
          <a:prstGeom prst="rect">
            <a:avLst/>
          </a:prstGeom>
          <a:noFill/>
          <a:ln>
            <a:noFill/>
          </a:ln>
        </p:spPr>
      </p:pic>
      <p:pic>
        <p:nvPicPr>
          <p:cNvPr id="197" name="Google Shape;197;p21" descr="image.png"/>
          <p:cNvPicPr preferRelativeResize="0"/>
          <p:nvPr/>
        </p:nvPicPr>
        <p:blipFill rotWithShape="1">
          <a:blip r:embed="rId3"/>
          <a:srcRect/>
          <a:stretch>
            <a:fillRect/>
          </a:stretch>
        </p:blipFill>
        <p:spPr>
          <a:xfrm>
            <a:off x="571500" y="2028825"/>
            <a:ext cx="876895" cy="238125"/>
          </a:xfrm>
          <a:prstGeom prst="rect">
            <a:avLst/>
          </a:prstGeom>
          <a:noFill/>
          <a:ln>
            <a:noFill/>
          </a:ln>
        </p:spPr>
      </p:pic>
      <p:sp>
        <p:nvSpPr>
          <p:cNvPr id="198" name="Google Shape;198;p21"/>
          <p:cNvSpPr txBox="1"/>
          <p:nvPr/>
        </p:nvSpPr>
        <p:spPr>
          <a:xfrm>
            <a:off x="571500" y="2362200"/>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Để hiểu một hệ thống lớn, lập trình viên cần phân tích 3 thành phần cốt lõi của Project:</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199" name="Google Shape;199;p21"/>
          <p:cNvSpPr txBox="1"/>
          <p:nvPr/>
        </p:nvSpPr>
        <p:spPr>
          <a:xfrm>
            <a:off x="857250" y="3114675"/>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Mã nguồn (src):</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Các file logic chính (vd: app.py, utils.py).</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200" name="Google Shape;200;p21"/>
          <p:cNvSpPr txBox="1"/>
          <p:nvPr/>
        </p:nvSpPr>
        <p:spPr>
          <a:xfrm>
            <a:off x="857250" y="359092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Thư viện (requirements):</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Quản lý các module phụ thuộc của hệ thống.</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201" name="Google Shape;201;p21"/>
          <p:cNvSpPr txBox="1"/>
          <p:nvPr/>
        </p:nvSpPr>
        <p:spPr>
          <a:xfrm>
            <a:off x="857250" y="437197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Cấu hình (Dockerfile):</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Môi trường triển khai ứng dụng độc lập.</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202" name="Google Shape;202;p21"/>
          <p:cNvSpPr txBox="1"/>
          <p:nvPr/>
        </p:nvSpPr>
        <p:spPr>
          <a:xfrm>
            <a:off x="857250" y="515302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334155"/>
                </a:solidFill>
                <a:latin typeface="Lato" panose="020F0502020204030203"/>
                <a:ea typeface="Lato" panose="020F0502020204030203"/>
                <a:cs typeface="Lato" panose="020F0502020204030203"/>
                <a:sym typeface="Lato" panose="020F0502020204030203"/>
              </a:rPr>
              <a:t>Mục tiêu:</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Nắm bắt kiến trúc tổng thể trước khi đi sâu vào từng dòng lệnh.</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203" name="Google Shape;203;p21" descr="image.png"/>
          <p:cNvPicPr preferRelativeResize="0"/>
          <p:nvPr/>
        </p:nvPicPr>
        <p:blipFill rotWithShape="1">
          <a:blip r:embed="rId4"/>
          <a:srcRect/>
          <a:stretch>
            <a:fillRect/>
          </a:stretch>
        </p:blipFill>
        <p:spPr>
          <a:xfrm>
            <a:off x="6381750" y="2028825"/>
            <a:ext cx="5238750" cy="3810000"/>
          </a:xfrm>
          <a:prstGeom prst="rect">
            <a:avLst/>
          </a:prstGeom>
          <a:noFill/>
          <a:ln>
            <a:noFill/>
          </a:ln>
        </p:spPr>
      </p:pic>
      <p:sp>
        <p:nvSpPr>
          <p:cNvPr id="204" name="Google Shape;204;p21"/>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Bài Toán Đọc Code Base</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05" name="Google Shape;205;p21"/>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06" name="Google Shape;206;p21" descr="image.png"/>
          <p:cNvPicPr preferRelativeResize="0"/>
          <p:nvPr/>
        </p:nvPicPr>
        <p:blipFill rotWithShape="1">
          <a:blip r:embed="rId5"/>
          <a:srcRect/>
          <a:stretch>
            <a:fillRect/>
          </a:stretch>
        </p:blipFill>
        <p:spPr>
          <a:xfrm>
            <a:off x="571500" y="3133725"/>
            <a:ext cx="95250" cy="200025"/>
          </a:xfrm>
          <a:prstGeom prst="rect">
            <a:avLst/>
          </a:prstGeom>
          <a:noFill/>
          <a:ln>
            <a:noFill/>
          </a:ln>
        </p:spPr>
      </p:pic>
      <p:pic>
        <p:nvPicPr>
          <p:cNvPr id="207" name="Google Shape;207;p21" descr="image.png"/>
          <p:cNvPicPr preferRelativeResize="0"/>
          <p:nvPr/>
        </p:nvPicPr>
        <p:blipFill rotWithShape="1">
          <a:blip r:embed="rId5"/>
          <a:srcRect/>
          <a:stretch>
            <a:fillRect/>
          </a:stretch>
        </p:blipFill>
        <p:spPr>
          <a:xfrm>
            <a:off x="571500" y="3609975"/>
            <a:ext cx="95250" cy="200025"/>
          </a:xfrm>
          <a:prstGeom prst="rect">
            <a:avLst/>
          </a:prstGeom>
          <a:noFill/>
          <a:ln>
            <a:noFill/>
          </a:ln>
        </p:spPr>
      </p:pic>
      <p:pic>
        <p:nvPicPr>
          <p:cNvPr id="208" name="Google Shape;208;p21" descr="image.png"/>
          <p:cNvPicPr preferRelativeResize="0"/>
          <p:nvPr/>
        </p:nvPicPr>
        <p:blipFill rotWithShape="1">
          <a:blip r:embed="rId5"/>
          <a:srcRect/>
          <a:stretch>
            <a:fillRect/>
          </a:stretch>
        </p:blipFill>
        <p:spPr>
          <a:xfrm>
            <a:off x="571500" y="4391025"/>
            <a:ext cx="95250" cy="200025"/>
          </a:xfrm>
          <a:prstGeom prst="rect">
            <a:avLst/>
          </a:prstGeom>
          <a:noFill/>
          <a:ln>
            <a:noFill/>
          </a:ln>
        </p:spPr>
      </p:pic>
      <p:pic>
        <p:nvPicPr>
          <p:cNvPr id="209" name="Google Shape;209;p21" descr="image.png"/>
          <p:cNvPicPr preferRelativeResize="0"/>
          <p:nvPr/>
        </p:nvPicPr>
        <p:blipFill rotWithShape="1">
          <a:blip r:embed="rId5"/>
          <a:srcRect/>
          <a:stretch>
            <a:fillRect/>
          </a:stretch>
        </p:blipFill>
        <p:spPr>
          <a:xfrm>
            <a:off x="571500" y="5172075"/>
            <a:ext cx="95250" cy="200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213" name="Shape 213"/>
        <p:cNvGrpSpPr/>
        <p:nvPr/>
      </p:nvGrpSpPr>
      <p:grpSpPr>
        <a:xfrm>
          <a:off x="0" y="0"/>
          <a:ext cx="0" cy="0"/>
          <a:chOff x="0" y="0"/>
          <a:chExt cx="0" cy="0"/>
        </a:xfrm>
      </p:grpSpPr>
      <p:pic>
        <p:nvPicPr>
          <p:cNvPr id="214" name="Google Shape;214;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15" name="Google Shape;215;p22" descr="image.png"/>
          <p:cNvPicPr preferRelativeResize="0"/>
          <p:nvPr/>
        </p:nvPicPr>
        <p:blipFill rotWithShape="1">
          <a:blip r:embed="rId2"/>
          <a:srcRect/>
          <a:stretch>
            <a:fillRect/>
          </a:stretch>
        </p:blipFill>
        <p:spPr>
          <a:xfrm>
            <a:off x="571500" y="2890837"/>
            <a:ext cx="11049000" cy="2514600"/>
          </a:xfrm>
          <a:prstGeom prst="rect">
            <a:avLst/>
          </a:prstGeom>
          <a:noFill/>
          <a:ln>
            <a:noFill/>
          </a:ln>
        </p:spPr>
      </p:pic>
      <p:pic>
        <p:nvPicPr>
          <p:cNvPr id="216" name="Google Shape;216;p22" descr="image.png"/>
          <p:cNvPicPr preferRelativeResize="0"/>
          <p:nvPr/>
        </p:nvPicPr>
        <p:blipFill rotWithShape="1">
          <a:blip r:embed="rId3"/>
          <a:srcRect/>
          <a:stretch>
            <a:fillRect/>
          </a:stretch>
        </p:blipFill>
        <p:spPr>
          <a:xfrm>
            <a:off x="5702498" y="2557462"/>
            <a:ext cx="787003" cy="238125"/>
          </a:xfrm>
          <a:prstGeom prst="rect">
            <a:avLst/>
          </a:prstGeom>
          <a:noFill/>
          <a:ln>
            <a:noFill/>
          </a:ln>
        </p:spPr>
      </p:pic>
      <p:graphicFrame>
        <p:nvGraphicFramePr>
          <p:cNvPr id="217" name="Google Shape;217;p22"/>
          <p:cNvGraphicFramePr/>
          <p:nvPr/>
        </p:nvGraphicFramePr>
        <p:xfrm>
          <a:off x="581025" y="2900362"/>
          <a:ext cx="11029950" cy="3000000"/>
        </p:xfrm>
        <a:graphic>
          <a:graphicData uri="http://schemas.openxmlformats.org/drawingml/2006/table">
            <a:tbl>
              <a:tblPr firstRow="1" bandRow="1">
                <a:noFill/>
                <a:tableStyleId>{AFBC7B88-CE87-468E-BA37-6E5ECFA51297}</a:tableStyleId>
              </a:tblPr>
              <a:tblGrid>
                <a:gridCol w="2312800"/>
                <a:gridCol w="3049925"/>
                <a:gridCol w="2617000"/>
                <a:gridCol w="3050225"/>
              </a:tblGrid>
              <a:tr h="623875">
                <a:tc>
                  <a:txBody>
                    <a:bodyPr/>
                    <a:lstStyle/>
                    <a:p>
                      <a:pPr marL="0" marR="0" lvl="0" indent="0" algn="l" rtl="0">
                        <a:spcBef>
                          <a:spcPts val="0"/>
                        </a:spcBef>
                        <a:spcAft>
                          <a:spcPts val="0"/>
                        </a:spcAft>
                        <a:buNone/>
                      </a:pPr>
                      <a:r>
                        <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rPr>
                        <a:t>Tính năng</a:t>
                      </a:r>
                      <a:endPar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rPr>
                        <a:t>ChatGPT</a:t>
                      </a:r>
                      <a:endPar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rPr>
                        <a:t>GitHub Copilot</a:t>
                      </a:r>
                      <a:endPar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rPr>
                        <a:t>Gemini</a:t>
                      </a:r>
                      <a:endPar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r>
              <a:tr h="623875">
                <a:tc>
                  <a:txBody>
                    <a:bodyPr/>
                    <a:lstStyle/>
                    <a:p>
                      <a:pPr marL="0" marR="0" lvl="0" indent="0" algn="l" rtl="0">
                        <a:spcBef>
                          <a:spcPts val="0"/>
                        </a:spcBef>
                        <a:spcAft>
                          <a:spcPts val="0"/>
                        </a:spcAft>
                        <a:buNone/>
                      </a:pPr>
                      <a:r>
                        <a:rPr lang="en-US" sz="1200" b="1" i="0" u="none" strike="noStrike" cap="none">
                          <a:solidFill>
                            <a:srgbClr val="334155"/>
                          </a:solidFill>
                          <a:latin typeface="Lato" panose="020F0502020204030203"/>
                          <a:ea typeface="Lato" panose="020F0502020204030203"/>
                          <a:cs typeface="Lato" panose="020F0502020204030203"/>
                          <a:sym typeface="Lato" panose="020F0502020204030203"/>
                        </a:rPr>
                        <a:t>Giải thích Code</a:t>
                      </a:r>
                      <a:endParaRPr lang="en-US" sz="1200" b="1"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Rất tốt, chi tiết</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Hạn chế</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Rất tốt, nhanh</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23875">
                <a:tc>
                  <a:txBody>
                    <a:bodyPr/>
                    <a:lstStyle/>
                    <a:p>
                      <a:pPr marL="0" marR="0" lvl="0" indent="0" algn="l" rtl="0">
                        <a:spcBef>
                          <a:spcPts val="0"/>
                        </a:spcBef>
                        <a:spcAft>
                          <a:spcPts val="0"/>
                        </a:spcAft>
                        <a:buNone/>
                      </a:pPr>
                      <a:r>
                        <a:rPr lang="en-US" sz="1200" b="1" i="0" u="none" strike="noStrike" cap="none">
                          <a:solidFill>
                            <a:srgbClr val="334155"/>
                          </a:solidFill>
                          <a:latin typeface="Lato" panose="020F0502020204030203"/>
                          <a:ea typeface="Lato" panose="020F0502020204030203"/>
                          <a:cs typeface="Lato" panose="020F0502020204030203"/>
                          <a:sym typeface="Lato" panose="020F0502020204030203"/>
                        </a:rPr>
                        <a:t>Nhận diện Context</a:t>
                      </a:r>
                      <a:endParaRPr lang="en-US" sz="1200" b="1"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Phải cung cấp thủ công</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Tự động quét file</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Phải cung cấp thủ công</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23900">
                <a:tc>
                  <a:txBody>
                    <a:bodyPr/>
                    <a:lstStyle/>
                    <a:p>
                      <a:pPr marL="0" marR="0" lvl="0" indent="0" algn="l" rtl="0">
                        <a:spcBef>
                          <a:spcPts val="0"/>
                        </a:spcBef>
                        <a:spcAft>
                          <a:spcPts val="0"/>
                        </a:spcAft>
                        <a:buNone/>
                      </a:pPr>
                      <a:r>
                        <a:rPr lang="en-US" sz="1200" b="1" i="0" u="none" strike="noStrike" cap="none">
                          <a:solidFill>
                            <a:srgbClr val="334155"/>
                          </a:solidFill>
                          <a:latin typeface="Lato" panose="020F0502020204030203"/>
                          <a:ea typeface="Lato" panose="020F0502020204030203"/>
                          <a:cs typeface="Lato" panose="020F0502020204030203"/>
                          <a:sym typeface="Lato" panose="020F0502020204030203"/>
                        </a:rPr>
                        <a:t>Tích hợp IDE</a:t>
                      </a:r>
                      <a:endParaRPr lang="en-US" sz="1200" b="1"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Hoạt động bên ngoài</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Tích hợp trực tiếp</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Hoạt động bên ngoài</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218" name="Google Shape;218;p22"/>
          <p:cNvSpPr/>
          <p:nvPr/>
        </p:nvSpPr>
        <p:spPr>
          <a:xfrm>
            <a:off x="581025" y="3562350"/>
            <a:ext cx="231278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9" name="Google Shape;219;p22"/>
          <p:cNvSpPr/>
          <p:nvPr/>
        </p:nvSpPr>
        <p:spPr>
          <a:xfrm>
            <a:off x="2893814" y="3562350"/>
            <a:ext cx="304993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0" name="Google Shape;220;p22"/>
          <p:cNvSpPr/>
          <p:nvPr/>
        </p:nvSpPr>
        <p:spPr>
          <a:xfrm>
            <a:off x="5943748" y="3562350"/>
            <a:ext cx="261699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1" name="Google Shape;221;p22"/>
          <p:cNvSpPr/>
          <p:nvPr/>
        </p:nvSpPr>
        <p:spPr>
          <a:xfrm>
            <a:off x="8560742" y="3562350"/>
            <a:ext cx="30502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2" name="Google Shape;222;p22"/>
          <p:cNvSpPr/>
          <p:nvPr/>
        </p:nvSpPr>
        <p:spPr>
          <a:xfrm>
            <a:off x="581025" y="4171950"/>
            <a:ext cx="231278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3" name="Google Shape;223;p22"/>
          <p:cNvSpPr/>
          <p:nvPr/>
        </p:nvSpPr>
        <p:spPr>
          <a:xfrm>
            <a:off x="2893814" y="4171950"/>
            <a:ext cx="304993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4" name="Google Shape;224;p22"/>
          <p:cNvSpPr/>
          <p:nvPr/>
        </p:nvSpPr>
        <p:spPr>
          <a:xfrm>
            <a:off x="5943748" y="4171950"/>
            <a:ext cx="261699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5" name="Google Shape;225;p22"/>
          <p:cNvSpPr/>
          <p:nvPr/>
        </p:nvSpPr>
        <p:spPr>
          <a:xfrm>
            <a:off x="8560742" y="4171950"/>
            <a:ext cx="30502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6" name="Google Shape;226;p22"/>
          <p:cNvSpPr/>
          <p:nvPr/>
        </p:nvSpPr>
        <p:spPr>
          <a:xfrm>
            <a:off x="581025" y="4781550"/>
            <a:ext cx="231278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7" name="Google Shape;227;p22"/>
          <p:cNvSpPr/>
          <p:nvPr/>
        </p:nvSpPr>
        <p:spPr>
          <a:xfrm>
            <a:off x="2893814" y="4781550"/>
            <a:ext cx="304993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8" name="Google Shape;228;p22"/>
          <p:cNvSpPr/>
          <p:nvPr/>
        </p:nvSpPr>
        <p:spPr>
          <a:xfrm>
            <a:off x="5943748" y="4781550"/>
            <a:ext cx="261699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9" name="Google Shape;229;p22"/>
          <p:cNvSpPr/>
          <p:nvPr/>
        </p:nvSpPr>
        <p:spPr>
          <a:xfrm>
            <a:off x="8560742" y="4781550"/>
            <a:ext cx="30502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30" name="Google Shape;230;p22" descr="image.png"/>
          <p:cNvPicPr preferRelativeResize="0"/>
          <p:nvPr/>
        </p:nvPicPr>
        <p:blipFill rotWithShape="1">
          <a:blip r:embed="rId4"/>
          <a:srcRect/>
          <a:stretch>
            <a:fillRect/>
          </a:stretch>
        </p:blipFill>
        <p:spPr>
          <a:xfrm>
            <a:off x="8798867" y="4986337"/>
            <a:ext cx="209550" cy="209550"/>
          </a:xfrm>
          <a:prstGeom prst="rect">
            <a:avLst/>
          </a:prstGeom>
          <a:noFill/>
          <a:ln>
            <a:noFill/>
          </a:ln>
        </p:spPr>
      </p:pic>
      <p:pic>
        <p:nvPicPr>
          <p:cNvPr id="231" name="Google Shape;231;p22" descr="image.png"/>
          <p:cNvPicPr preferRelativeResize="0"/>
          <p:nvPr/>
        </p:nvPicPr>
        <p:blipFill rotWithShape="1">
          <a:blip r:embed="rId5"/>
          <a:srcRect/>
          <a:stretch>
            <a:fillRect/>
          </a:stretch>
        </p:blipFill>
        <p:spPr>
          <a:xfrm>
            <a:off x="6181873" y="4986337"/>
            <a:ext cx="209550" cy="209550"/>
          </a:xfrm>
          <a:prstGeom prst="rect">
            <a:avLst/>
          </a:prstGeom>
          <a:noFill/>
          <a:ln>
            <a:noFill/>
          </a:ln>
        </p:spPr>
      </p:pic>
      <p:pic>
        <p:nvPicPr>
          <p:cNvPr id="232" name="Google Shape;232;p22" descr="image.png"/>
          <p:cNvPicPr preferRelativeResize="0"/>
          <p:nvPr/>
        </p:nvPicPr>
        <p:blipFill rotWithShape="1">
          <a:blip r:embed="rId4"/>
          <a:srcRect/>
          <a:stretch>
            <a:fillRect/>
          </a:stretch>
        </p:blipFill>
        <p:spPr>
          <a:xfrm>
            <a:off x="3131939" y="4376737"/>
            <a:ext cx="209550" cy="209550"/>
          </a:xfrm>
          <a:prstGeom prst="rect">
            <a:avLst/>
          </a:prstGeom>
          <a:noFill/>
          <a:ln>
            <a:noFill/>
          </a:ln>
        </p:spPr>
      </p:pic>
      <p:pic>
        <p:nvPicPr>
          <p:cNvPr id="233" name="Google Shape;233;p22" descr="image.png"/>
          <p:cNvPicPr preferRelativeResize="0"/>
          <p:nvPr/>
        </p:nvPicPr>
        <p:blipFill rotWithShape="1">
          <a:blip r:embed="rId6"/>
          <a:srcRect/>
          <a:stretch>
            <a:fillRect/>
          </a:stretch>
        </p:blipFill>
        <p:spPr>
          <a:xfrm>
            <a:off x="6181873" y="3767137"/>
            <a:ext cx="209550" cy="209550"/>
          </a:xfrm>
          <a:prstGeom prst="rect">
            <a:avLst/>
          </a:prstGeom>
          <a:noFill/>
          <a:ln>
            <a:noFill/>
          </a:ln>
        </p:spPr>
      </p:pic>
      <p:pic>
        <p:nvPicPr>
          <p:cNvPr id="234" name="Google Shape;234;p22" descr="image.png"/>
          <p:cNvPicPr preferRelativeResize="0"/>
          <p:nvPr/>
        </p:nvPicPr>
        <p:blipFill rotWithShape="1">
          <a:blip r:embed="rId4"/>
          <a:srcRect/>
          <a:stretch>
            <a:fillRect/>
          </a:stretch>
        </p:blipFill>
        <p:spPr>
          <a:xfrm>
            <a:off x="3131939" y="4986337"/>
            <a:ext cx="209550" cy="209550"/>
          </a:xfrm>
          <a:prstGeom prst="rect">
            <a:avLst/>
          </a:prstGeom>
          <a:noFill/>
          <a:ln>
            <a:noFill/>
          </a:ln>
        </p:spPr>
      </p:pic>
      <p:pic>
        <p:nvPicPr>
          <p:cNvPr id="235" name="Google Shape;235;p22" descr="image.png"/>
          <p:cNvPicPr preferRelativeResize="0"/>
          <p:nvPr/>
        </p:nvPicPr>
        <p:blipFill rotWithShape="1">
          <a:blip r:embed="rId7"/>
          <a:srcRect/>
          <a:stretch>
            <a:fillRect/>
          </a:stretch>
        </p:blipFill>
        <p:spPr>
          <a:xfrm>
            <a:off x="8798867" y="3767137"/>
            <a:ext cx="209550" cy="209550"/>
          </a:xfrm>
          <a:prstGeom prst="rect">
            <a:avLst/>
          </a:prstGeom>
          <a:noFill/>
          <a:ln>
            <a:noFill/>
          </a:ln>
        </p:spPr>
      </p:pic>
      <p:pic>
        <p:nvPicPr>
          <p:cNvPr id="236" name="Google Shape;236;p22" descr="image.png"/>
          <p:cNvPicPr preferRelativeResize="0"/>
          <p:nvPr/>
        </p:nvPicPr>
        <p:blipFill rotWithShape="1">
          <a:blip r:embed="rId4"/>
          <a:srcRect/>
          <a:stretch>
            <a:fillRect/>
          </a:stretch>
        </p:blipFill>
        <p:spPr>
          <a:xfrm>
            <a:off x="8798867" y="4376737"/>
            <a:ext cx="209550" cy="209550"/>
          </a:xfrm>
          <a:prstGeom prst="rect">
            <a:avLst/>
          </a:prstGeom>
          <a:noFill/>
          <a:ln>
            <a:noFill/>
          </a:ln>
        </p:spPr>
      </p:pic>
      <p:pic>
        <p:nvPicPr>
          <p:cNvPr id="237" name="Google Shape;237;p22" descr="image.png"/>
          <p:cNvPicPr preferRelativeResize="0"/>
          <p:nvPr/>
        </p:nvPicPr>
        <p:blipFill rotWithShape="1">
          <a:blip r:embed="rId7"/>
          <a:srcRect/>
          <a:stretch>
            <a:fillRect/>
          </a:stretch>
        </p:blipFill>
        <p:spPr>
          <a:xfrm>
            <a:off x="3131939" y="3767137"/>
            <a:ext cx="209550" cy="209550"/>
          </a:xfrm>
          <a:prstGeom prst="rect">
            <a:avLst/>
          </a:prstGeom>
          <a:noFill/>
          <a:ln>
            <a:noFill/>
          </a:ln>
        </p:spPr>
      </p:pic>
      <p:pic>
        <p:nvPicPr>
          <p:cNvPr id="238" name="Google Shape;238;p22" descr="image.png"/>
          <p:cNvPicPr preferRelativeResize="0"/>
          <p:nvPr/>
        </p:nvPicPr>
        <p:blipFill rotWithShape="1">
          <a:blip r:embed="rId5"/>
          <a:srcRect/>
          <a:stretch>
            <a:fillRect/>
          </a:stretch>
        </p:blipFill>
        <p:spPr>
          <a:xfrm>
            <a:off x="6181873" y="4376737"/>
            <a:ext cx="209550" cy="209550"/>
          </a:xfrm>
          <a:prstGeom prst="rect">
            <a:avLst/>
          </a:prstGeom>
          <a:noFill/>
          <a:ln>
            <a:noFill/>
          </a:ln>
        </p:spPr>
      </p:pic>
      <p:pic>
        <p:nvPicPr>
          <p:cNvPr id="239" name="Google Shape;239;p22" descr="image.png"/>
          <p:cNvPicPr preferRelativeResize="0"/>
          <p:nvPr/>
        </p:nvPicPr>
        <p:blipFill rotWithShape="1">
          <a:blip r:embed="rId7"/>
          <a:srcRect/>
          <a:stretch>
            <a:fillRect/>
          </a:stretch>
        </p:blipFill>
        <p:spPr>
          <a:xfrm>
            <a:off x="3131939" y="3767137"/>
            <a:ext cx="209550" cy="209550"/>
          </a:xfrm>
          <a:prstGeom prst="rect">
            <a:avLst/>
          </a:prstGeom>
          <a:noFill/>
          <a:ln>
            <a:noFill/>
          </a:ln>
        </p:spPr>
      </p:pic>
      <p:pic>
        <p:nvPicPr>
          <p:cNvPr id="240" name="Google Shape;240;p22" descr="image.png"/>
          <p:cNvPicPr preferRelativeResize="0"/>
          <p:nvPr/>
        </p:nvPicPr>
        <p:blipFill rotWithShape="1">
          <a:blip r:embed="rId6"/>
          <a:srcRect/>
          <a:stretch>
            <a:fillRect/>
          </a:stretch>
        </p:blipFill>
        <p:spPr>
          <a:xfrm>
            <a:off x="6181873" y="3767137"/>
            <a:ext cx="209550" cy="209550"/>
          </a:xfrm>
          <a:prstGeom prst="rect">
            <a:avLst/>
          </a:prstGeom>
          <a:noFill/>
          <a:ln>
            <a:noFill/>
          </a:ln>
        </p:spPr>
      </p:pic>
      <p:pic>
        <p:nvPicPr>
          <p:cNvPr id="241" name="Google Shape;241;p22" descr="image.png"/>
          <p:cNvPicPr preferRelativeResize="0"/>
          <p:nvPr/>
        </p:nvPicPr>
        <p:blipFill rotWithShape="1">
          <a:blip r:embed="rId7"/>
          <a:srcRect/>
          <a:stretch>
            <a:fillRect/>
          </a:stretch>
        </p:blipFill>
        <p:spPr>
          <a:xfrm>
            <a:off x="8798867" y="3767137"/>
            <a:ext cx="209550" cy="209550"/>
          </a:xfrm>
          <a:prstGeom prst="rect">
            <a:avLst/>
          </a:prstGeom>
          <a:noFill/>
          <a:ln>
            <a:noFill/>
          </a:ln>
        </p:spPr>
      </p:pic>
      <p:pic>
        <p:nvPicPr>
          <p:cNvPr id="242" name="Google Shape;242;p22" descr="image.png"/>
          <p:cNvPicPr preferRelativeResize="0"/>
          <p:nvPr/>
        </p:nvPicPr>
        <p:blipFill rotWithShape="1">
          <a:blip r:embed="rId4"/>
          <a:srcRect/>
          <a:stretch>
            <a:fillRect/>
          </a:stretch>
        </p:blipFill>
        <p:spPr>
          <a:xfrm>
            <a:off x="3131939" y="4376737"/>
            <a:ext cx="209550" cy="209550"/>
          </a:xfrm>
          <a:prstGeom prst="rect">
            <a:avLst/>
          </a:prstGeom>
          <a:noFill/>
          <a:ln>
            <a:noFill/>
          </a:ln>
        </p:spPr>
      </p:pic>
      <p:pic>
        <p:nvPicPr>
          <p:cNvPr id="243" name="Google Shape;243;p22" descr="image.png"/>
          <p:cNvPicPr preferRelativeResize="0"/>
          <p:nvPr/>
        </p:nvPicPr>
        <p:blipFill rotWithShape="1">
          <a:blip r:embed="rId5"/>
          <a:srcRect/>
          <a:stretch>
            <a:fillRect/>
          </a:stretch>
        </p:blipFill>
        <p:spPr>
          <a:xfrm>
            <a:off x="6181873" y="4376737"/>
            <a:ext cx="209550" cy="209550"/>
          </a:xfrm>
          <a:prstGeom prst="rect">
            <a:avLst/>
          </a:prstGeom>
          <a:noFill/>
          <a:ln>
            <a:noFill/>
          </a:ln>
        </p:spPr>
      </p:pic>
      <p:pic>
        <p:nvPicPr>
          <p:cNvPr id="244" name="Google Shape;244;p22" descr="image.png"/>
          <p:cNvPicPr preferRelativeResize="0"/>
          <p:nvPr/>
        </p:nvPicPr>
        <p:blipFill rotWithShape="1">
          <a:blip r:embed="rId4"/>
          <a:srcRect/>
          <a:stretch>
            <a:fillRect/>
          </a:stretch>
        </p:blipFill>
        <p:spPr>
          <a:xfrm>
            <a:off x="8798867" y="4376737"/>
            <a:ext cx="209550" cy="209550"/>
          </a:xfrm>
          <a:prstGeom prst="rect">
            <a:avLst/>
          </a:prstGeom>
          <a:noFill/>
          <a:ln>
            <a:noFill/>
          </a:ln>
        </p:spPr>
      </p:pic>
      <p:pic>
        <p:nvPicPr>
          <p:cNvPr id="245" name="Google Shape;245;p22" descr="image.png"/>
          <p:cNvPicPr preferRelativeResize="0"/>
          <p:nvPr/>
        </p:nvPicPr>
        <p:blipFill rotWithShape="1">
          <a:blip r:embed="rId4"/>
          <a:srcRect/>
          <a:stretch>
            <a:fillRect/>
          </a:stretch>
        </p:blipFill>
        <p:spPr>
          <a:xfrm>
            <a:off x="3131939" y="4986337"/>
            <a:ext cx="209550" cy="209550"/>
          </a:xfrm>
          <a:prstGeom prst="rect">
            <a:avLst/>
          </a:prstGeom>
          <a:noFill/>
          <a:ln>
            <a:noFill/>
          </a:ln>
        </p:spPr>
      </p:pic>
      <p:pic>
        <p:nvPicPr>
          <p:cNvPr id="246" name="Google Shape;246;p22" descr="image.png"/>
          <p:cNvPicPr preferRelativeResize="0"/>
          <p:nvPr/>
        </p:nvPicPr>
        <p:blipFill rotWithShape="1">
          <a:blip r:embed="rId5"/>
          <a:srcRect/>
          <a:stretch>
            <a:fillRect/>
          </a:stretch>
        </p:blipFill>
        <p:spPr>
          <a:xfrm>
            <a:off x="6181873" y="4986337"/>
            <a:ext cx="209550" cy="209550"/>
          </a:xfrm>
          <a:prstGeom prst="rect">
            <a:avLst/>
          </a:prstGeom>
          <a:noFill/>
          <a:ln>
            <a:noFill/>
          </a:ln>
        </p:spPr>
      </p:pic>
      <p:pic>
        <p:nvPicPr>
          <p:cNvPr id="247" name="Google Shape;247;p22" descr="image.png"/>
          <p:cNvPicPr preferRelativeResize="0"/>
          <p:nvPr/>
        </p:nvPicPr>
        <p:blipFill rotWithShape="1">
          <a:blip r:embed="rId4"/>
          <a:srcRect/>
          <a:stretch>
            <a:fillRect/>
          </a:stretch>
        </p:blipFill>
        <p:spPr>
          <a:xfrm>
            <a:off x="8798867" y="4986337"/>
            <a:ext cx="209550" cy="209550"/>
          </a:xfrm>
          <a:prstGeom prst="rect">
            <a:avLst/>
          </a:prstGeom>
          <a:noFill/>
          <a:ln>
            <a:noFill/>
          </a:ln>
        </p:spPr>
      </p:pic>
      <p:sp>
        <p:nvSpPr>
          <p:cNvPr id="248" name="Google Shape;248;p22"/>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So Sánh Công Cụ Hỗ Trợ GenAI</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49" name="Google Shape;249;p22"/>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253" name="Shape 253"/>
        <p:cNvGrpSpPr/>
        <p:nvPr/>
      </p:nvGrpSpPr>
      <p:grpSpPr>
        <a:xfrm>
          <a:off x="0" y="0"/>
          <a:ext cx="0" cy="0"/>
          <a:chOff x="0" y="0"/>
          <a:chExt cx="0" cy="0"/>
        </a:xfrm>
      </p:grpSpPr>
      <p:pic>
        <p:nvPicPr>
          <p:cNvPr id="254" name="Google Shape;254;p2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55" name="Google Shape;255;p23" descr="image.png"/>
          <p:cNvPicPr preferRelativeResize="0"/>
          <p:nvPr/>
        </p:nvPicPr>
        <p:blipFill rotWithShape="1">
          <a:blip r:embed="rId2"/>
          <a:srcRect/>
          <a:stretch>
            <a:fillRect/>
          </a:stretch>
        </p:blipFill>
        <p:spPr>
          <a:xfrm>
            <a:off x="6381750" y="2076450"/>
            <a:ext cx="5238750" cy="3810000"/>
          </a:xfrm>
          <a:prstGeom prst="rect">
            <a:avLst/>
          </a:prstGeom>
          <a:noFill/>
          <a:ln>
            <a:noFill/>
          </a:ln>
        </p:spPr>
      </p:pic>
      <p:pic>
        <p:nvPicPr>
          <p:cNvPr id="256" name="Google Shape;256;p23" descr="image.png"/>
          <p:cNvPicPr preferRelativeResize="0"/>
          <p:nvPr/>
        </p:nvPicPr>
        <p:blipFill rotWithShape="1">
          <a:blip r:embed="rId3"/>
          <a:srcRect/>
          <a:stretch>
            <a:fillRect/>
          </a:stretch>
        </p:blipFill>
        <p:spPr>
          <a:xfrm>
            <a:off x="571500" y="2076450"/>
            <a:ext cx="787003" cy="238125"/>
          </a:xfrm>
          <a:prstGeom prst="rect">
            <a:avLst/>
          </a:prstGeom>
          <a:noFill/>
          <a:ln>
            <a:noFill/>
          </a:ln>
        </p:spPr>
      </p:pic>
      <p:sp>
        <p:nvSpPr>
          <p:cNvPr id="257" name="Google Shape;257;p23"/>
          <p:cNvSpPr txBox="1"/>
          <p:nvPr/>
        </p:nvSpPr>
        <p:spPr>
          <a:xfrm>
            <a:off x="571500" y="2409825"/>
            <a:ext cx="5238750" cy="933450"/>
          </a:xfrm>
          <a:prstGeom prst="rect">
            <a:avLst/>
          </a:prstGeom>
          <a:noFill/>
          <a:ln>
            <a:noFill/>
          </a:ln>
        </p:spPr>
        <p:txBody>
          <a:bodyPr spcFirstLastPara="1" wrap="square" lIns="0" tIns="0" rIns="0" bIns="0" anchor="t" anchorCtr="0">
            <a:spAutoFit/>
          </a:bodyPr>
          <a:lstStyle/>
          <a:p>
            <a:pPr marL="0" marR="0" lvl="0" indent="0" algn="l" rtl="0">
              <a:lnSpc>
                <a:spcPct val="133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Bài Lab sử dụng API Flask tính </a:t>
            </a: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Khoảng cách Manhattan</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d = |x1 - x2| + |y1 - y2|</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258" name="Google Shape;258;p23"/>
          <p:cNvSpPr txBox="1"/>
          <p:nvPr/>
        </p:nvSpPr>
        <p:spPr>
          <a:xfrm>
            <a:off x="857250" y="3486150"/>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Client truyền chuỗi tọa độ định dạng JSON.</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259" name="Google Shape;259;p23"/>
          <p:cNvSpPr txBox="1"/>
          <p:nvPr/>
        </p:nvSpPr>
        <p:spPr>
          <a:xfrm>
            <a:off x="857250" y="3962400"/>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Flask tiếp nhận, phân tách dữ liệu.</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260" name="Google Shape;260;p23"/>
          <p:cNvSpPr txBox="1"/>
          <p:nvPr/>
        </p:nvSpPr>
        <p:spPr>
          <a:xfrm>
            <a:off x="857250" y="4438650"/>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Hàm logic thực thi tính toán và trả về kết quả.</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261" name="Google Shape;261;p23"/>
          <p:cNvSpPr txBox="1"/>
          <p:nvPr/>
        </p:nvSpPr>
        <p:spPr>
          <a:xfrm>
            <a:off x="857250" y="4914900"/>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Sử dụng AI phân tích luồng dữ liệu thay vì tự rà soát từng hàm độc lập.</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262" name="Google Shape;262;p23" descr="image.png"/>
          <p:cNvPicPr preferRelativeResize="0"/>
          <p:nvPr/>
        </p:nvPicPr>
        <p:blipFill rotWithShape="1">
          <a:blip r:embed="rId4"/>
          <a:srcRect/>
          <a:stretch>
            <a:fillRect/>
          </a:stretch>
        </p:blipFill>
        <p:spPr>
          <a:xfrm>
            <a:off x="6381750" y="2076450"/>
            <a:ext cx="5238750" cy="3810000"/>
          </a:xfrm>
          <a:prstGeom prst="rect">
            <a:avLst/>
          </a:prstGeom>
          <a:noFill/>
          <a:ln>
            <a:noFill/>
          </a:ln>
        </p:spPr>
      </p:pic>
      <p:sp>
        <p:nvSpPr>
          <p:cNvPr id="263" name="Google Shape;263;p23"/>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Phân Tích Logic Bằng GenAI</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64" name="Google Shape;264;p23"/>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65" name="Google Shape;265;p23" descr="image.png"/>
          <p:cNvPicPr preferRelativeResize="0"/>
          <p:nvPr/>
        </p:nvPicPr>
        <p:blipFill rotWithShape="1">
          <a:blip r:embed="rId5"/>
          <a:srcRect/>
          <a:stretch>
            <a:fillRect/>
          </a:stretch>
        </p:blipFill>
        <p:spPr>
          <a:xfrm>
            <a:off x="571500" y="3505200"/>
            <a:ext cx="95250" cy="200025"/>
          </a:xfrm>
          <a:prstGeom prst="rect">
            <a:avLst/>
          </a:prstGeom>
          <a:noFill/>
          <a:ln>
            <a:noFill/>
          </a:ln>
        </p:spPr>
      </p:pic>
      <p:pic>
        <p:nvPicPr>
          <p:cNvPr id="266" name="Google Shape;266;p23" descr="image.png"/>
          <p:cNvPicPr preferRelativeResize="0"/>
          <p:nvPr/>
        </p:nvPicPr>
        <p:blipFill rotWithShape="1">
          <a:blip r:embed="rId5"/>
          <a:srcRect/>
          <a:stretch>
            <a:fillRect/>
          </a:stretch>
        </p:blipFill>
        <p:spPr>
          <a:xfrm>
            <a:off x="571500" y="3981450"/>
            <a:ext cx="95250" cy="200025"/>
          </a:xfrm>
          <a:prstGeom prst="rect">
            <a:avLst/>
          </a:prstGeom>
          <a:noFill/>
          <a:ln>
            <a:noFill/>
          </a:ln>
        </p:spPr>
      </p:pic>
      <p:pic>
        <p:nvPicPr>
          <p:cNvPr id="267" name="Google Shape;267;p23" descr="image.png"/>
          <p:cNvPicPr preferRelativeResize="0"/>
          <p:nvPr/>
        </p:nvPicPr>
        <p:blipFill rotWithShape="1">
          <a:blip r:embed="rId5"/>
          <a:srcRect/>
          <a:stretch>
            <a:fillRect/>
          </a:stretch>
        </p:blipFill>
        <p:spPr>
          <a:xfrm>
            <a:off x="571500" y="4457700"/>
            <a:ext cx="95250" cy="200025"/>
          </a:xfrm>
          <a:prstGeom prst="rect">
            <a:avLst/>
          </a:prstGeom>
          <a:noFill/>
          <a:ln>
            <a:noFill/>
          </a:ln>
        </p:spPr>
      </p:pic>
      <p:pic>
        <p:nvPicPr>
          <p:cNvPr id="268" name="Google Shape;268;p23" descr="image.png"/>
          <p:cNvPicPr preferRelativeResize="0"/>
          <p:nvPr/>
        </p:nvPicPr>
        <p:blipFill rotWithShape="1">
          <a:blip r:embed="rId5"/>
          <a:srcRect/>
          <a:stretch>
            <a:fillRect/>
          </a:stretch>
        </p:blipFill>
        <p:spPr>
          <a:xfrm>
            <a:off x="571500" y="4933950"/>
            <a:ext cx="95250" cy="200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272" name="Shape 272"/>
        <p:cNvGrpSpPr/>
        <p:nvPr/>
      </p:nvGrpSpPr>
      <p:grpSpPr>
        <a:xfrm>
          <a:off x="0" y="0"/>
          <a:ext cx="0" cy="0"/>
          <a:chOff x="0" y="0"/>
          <a:chExt cx="0" cy="0"/>
        </a:xfrm>
      </p:grpSpPr>
      <p:pic>
        <p:nvPicPr>
          <p:cNvPr id="273" name="Google Shape;273;p24"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74" name="Google Shape;274;p24"/>
          <p:cNvSpPr/>
          <p:nvPr/>
        </p:nvSpPr>
        <p:spPr>
          <a:xfrm>
            <a:off x="5524500" y="2646015"/>
            <a:ext cx="1143000" cy="5715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75" name="Google Shape;275;p24"/>
          <p:cNvSpPr txBox="1"/>
          <p:nvPr/>
        </p:nvSpPr>
        <p:spPr>
          <a:xfrm>
            <a:off x="1023959" y="2988915"/>
            <a:ext cx="10144080" cy="8096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rPr>
              <a:t>Chương 8: Giới Thiệu Kỹ Thuật Gợi Ý</a:t>
            </a:r>
            <a:endPar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p:txBody>
      </p:sp>
      <p:sp>
        <p:nvSpPr>
          <p:cNvPr id="276" name="Google Shape;276;p24"/>
          <p:cNvSpPr txBox="1"/>
          <p:nvPr/>
        </p:nvSpPr>
        <p:spPr>
          <a:xfrm>
            <a:off x="4134891" y="3989040"/>
            <a:ext cx="3922216"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475569"/>
                </a:solidFill>
                <a:latin typeface="Lato" panose="020F0502020204030203"/>
                <a:ea typeface="Lato" panose="020F0502020204030203"/>
                <a:cs typeface="Lato" panose="020F0502020204030203"/>
                <a:sym typeface="Lato" panose="020F0502020204030203"/>
              </a:rPr>
              <a:t>Prompt Engineering cơ bản và nền tảng</a:t>
            </a:r>
            <a:endParaRPr lang="en-US" sz="18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280" name="Shape 280"/>
        <p:cNvGrpSpPr/>
        <p:nvPr/>
      </p:nvGrpSpPr>
      <p:grpSpPr>
        <a:xfrm>
          <a:off x="0" y="0"/>
          <a:ext cx="0" cy="0"/>
          <a:chOff x="0" y="0"/>
          <a:chExt cx="0" cy="0"/>
        </a:xfrm>
      </p:grpSpPr>
      <p:pic>
        <p:nvPicPr>
          <p:cNvPr id="281" name="Google Shape;281;p2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82" name="Google Shape;282;p25" descr="image.png"/>
          <p:cNvPicPr preferRelativeResize="0"/>
          <p:nvPr/>
        </p:nvPicPr>
        <p:blipFill rotWithShape="1">
          <a:blip r:embed="rId2"/>
          <a:srcRect/>
          <a:stretch>
            <a:fillRect/>
          </a:stretch>
        </p:blipFill>
        <p:spPr>
          <a:xfrm>
            <a:off x="571500" y="2114550"/>
            <a:ext cx="3492549" cy="3733800"/>
          </a:xfrm>
          <a:prstGeom prst="rect">
            <a:avLst/>
          </a:prstGeom>
          <a:noFill/>
          <a:ln>
            <a:noFill/>
          </a:ln>
        </p:spPr>
      </p:pic>
      <p:pic>
        <p:nvPicPr>
          <p:cNvPr id="283" name="Google Shape;283;p25" descr="image.png"/>
          <p:cNvPicPr preferRelativeResize="0"/>
          <p:nvPr/>
        </p:nvPicPr>
        <p:blipFill rotWithShape="1">
          <a:blip r:embed="rId3"/>
          <a:srcRect/>
          <a:stretch>
            <a:fillRect/>
          </a:stretch>
        </p:blipFill>
        <p:spPr>
          <a:xfrm>
            <a:off x="4349799" y="2114550"/>
            <a:ext cx="3492549" cy="3733800"/>
          </a:xfrm>
          <a:prstGeom prst="rect">
            <a:avLst/>
          </a:prstGeom>
          <a:noFill/>
          <a:ln>
            <a:noFill/>
          </a:ln>
        </p:spPr>
      </p:pic>
      <p:pic>
        <p:nvPicPr>
          <p:cNvPr id="284" name="Google Shape;284;p25" descr="image.png"/>
          <p:cNvPicPr preferRelativeResize="0"/>
          <p:nvPr/>
        </p:nvPicPr>
        <p:blipFill rotWithShape="1">
          <a:blip r:embed="rId4"/>
          <a:srcRect/>
          <a:stretch>
            <a:fillRect/>
          </a:stretch>
        </p:blipFill>
        <p:spPr>
          <a:xfrm>
            <a:off x="8128099" y="2114550"/>
            <a:ext cx="3492549" cy="3733800"/>
          </a:xfrm>
          <a:prstGeom prst="rect">
            <a:avLst/>
          </a:prstGeom>
          <a:noFill/>
          <a:ln>
            <a:noFill/>
          </a:ln>
        </p:spPr>
      </p:pic>
      <p:pic>
        <p:nvPicPr>
          <p:cNvPr id="285" name="Google Shape;285;p25" descr="image.png"/>
          <p:cNvPicPr preferRelativeResize="0"/>
          <p:nvPr/>
        </p:nvPicPr>
        <p:blipFill rotWithShape="1">
          <a:blip r:embed="rId5"/>
          <a:srcRect/>
          <a:stretch>
            <a:fillRect/>
          </a:stretch>
        </p:blipFill>
        <p:spPr>
          <a:xfrm>
            <a:off x="819150" y="3267075"/>
            <a:ext cx="2997249" cy="238125"/>
          </a:xfrm>
          <a:prstGeom prst="rect">
            <a:avLst/>
          </a:prstGeom>
          <a:noFill/>
          <a:ln>
            <a:noFill/>
          </a:ln>
        </p:spPr>
      </p:pic>
      <p:sp>
        <p:nvSpPr>
          <p:cNvPr id="286" name="Google Shape;286;p25"/>
          <p:cNvSpPr txBox="1"/>
          <p:nvPr/>
        </p:nvSpPr>
        <p:spPr>
          <a:xfrm>
            <a:off x="744218" y="3600450"/>
            <a:ext cx="3147112"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Không Ví Dụ</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87" name="Google Shape;287;p25"/>
          <p:cNvSpPr txBox="1"/>
          <p:nvPr/>
        </p:nvSpPr>
        <p:spPr>
          <a:xfrm>
            <a:off x="819150" y="4143375"/>
            <a:ext cx="2997249"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Đưa ra yêu cầu trực tiếp cho AI giải quyết. Đơn giản, nhanh nhưng kết quả thiếu ổn định và dễ sai định dạng.</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288" name="Google Shape;288;p25" descr="image.png"/>
          <p:cNvPicPr preferRelativeResize="0"/>
          <p:nvPr/>
        </p:nvPicPr>
        <p:blipFill rotWithShape="1">
          <a:blip r:embed="rId6"/>
          <a:srcRect/>
          <a:stretch>
            <a:fillRect/>
          </a:stretch>
        </p:blipFill>
        <p:spPr>
          <a:xfrm>
            <a:off x="4597449" y="3267075"/>
            <a:ext cx="2997249" cy="238125"/>
          </a:xfrm>
          <a:prstGeom prst="rect">
            <a:avLst/>
          </a:prstGeom>
          <a:noFill/>
          <a:ln>
            <a:noFill/>
          </a:ln>
        </p:spPr>
      </p:pic>
      <p:sp>
        <p:nvSpPr>
          <p:cNvPr id="289" name="Google Shape;289;p25"/>
          <p:cNvSpPr txBox="1"/>
          <p:nvPr/>
        </p:nvSpPr>
        <p:spPr>
          <a:xfrm>
            <a:off x="4522518" y="3600450"/>
            <a:ext cx="3147112"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Một Ví Dụ</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90" name="Google Shape;290;p25"/>
          <p:cNvSpPr txBox="1"/>
          <p:nvPr/>
        </p:nvSpPr>
        <p:spPr>
          <a:xfrm>
            <a:off x="4597449" y="4143375"/>
            <a:ext cx="2997249"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Cung cấp một mẫu tham chiếu duy nhất. Cải thiện khả năng nắm bắt định dạng đầu ra cho các bài toán cơ bản.</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291" name="Google Shape;291;p25" descr="image.png"/>
          <p:cNvPicPr preferRelativeResize="0"/>
          <p:nvPr/>
        </p:nvPicPr>
        <p:blipFill rotWithShape="1">
          <a:blip r:embed="rId7"/>
          <a:srcRect/>
          <a:stretch>
            <a:fillRect/>
          </a:stretch>
        </p:blipFill>
        <p:spPr>
          <a:xfrm>
            <a:off x="8375749" y="3267075"/>
            <a:ext cx="2997249" cy="238125"/>
          </a:xfrm>
          <a:prstGeom prst="rect">
            <a:avLst/>
          </a:prstGeom>
          <a:noFill/>
          <a:ln>
            <a:noFill/>
          </a:ln>
        </p:spPr>
      </p:pic>
      <p:sp>
        <p:nvSpPr>
          <p:cNvPr id="292" name="Google Shape;292;p25"/>
          <p:cNvSpPr txBox="1"/>
          <p:nvPr/>
        </p:nvSpPr>
        <p:spPr>
          <a:xfrm>
            <a:off x="8300817" y="3600450"/>
            <a:ext cx="3147112"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Nhiều Ví Dụ</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93" name="Google Shape;293;p25"/>
          <p:cNvSpPr txBox="1"/>
          <p:nvPr/>
        </p:nvSpPr>
        <p:spPr>
          <a:xfrm>
            <a:off x="8375749" y="4143375"/>
            <a:ext cx="2997249"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Cung cấp chuỗi các mẫu input/output. Giúp LLM nội suy quy luật, đạt độ chính xác và tính ổn định cao nhất.</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294" name="Google Shape;294;p25" descr="image.png"/>
          <p:cNvPicPr preferRelativeResize="0"/>
          <p:nvPr/>
        </p:nvPicPr>
        <p:blipFill rotWithShape="1">
          <a:blip r:embed="rId8"/>
          <a:srcRect/>
          <a:stretch>
            <a:fillRect/>
          </a:stretch>
        </p:blipFill>
        <p:spPr>
          <a:xfrm>
            <a:off x="2079575" y="2505075"/>
            <a:ext cx="476250" cy="476250"/>
          </a:xfrm>
          <a:prstGeom prst="rect">
            <a:avLst/>
          </a:prstGeom>
          <a:noFill/>
          <a:ln>
            <a:noFill/>
          </a:ln>
        </p:spPr>
      </p:pic>
      <p:pic>
        <p:nvPicPr>
          <p:cNvPr id="295" name="Google Shape;295;p25" descr="image.png"/>
          <p:cNvPicPr preferRelativeResize="0"/>
          <p:nvPr/>
        </p:nvPicPr>
        <p:blipFill rotWithShape="1">
          <a:blip r:embed="rId9"/>
          <a:srcRect/>
          <a:stretch>
            <a:fillRect/>
          </a:stretch>
        </p:blipFill>
        <p:spPr>
          <a:xfrm>
            <a:off x="5915025" y="2505075"/>
            <a:ext cx="361950" cy="476250"/>
          </a:xfrm>
          <a:prstGeom prst="rect">
            <a:avLst/>
          </a:prstGeom>
          <a:noFill/>
          <a:ln>
            <a:noFill/>
          </a:ln>
        </p:spPr>
      </p:pic>
      <p:pic>
        <p:nvPicPr>
          <p:cNvPr id="296" name="Google Shape;296;p25" descr="image.png"/>
          <p:cNvPicPr preferRelativeResize="0"/>
          <p:nvPr/>
        </p:nvPicPr>
        <p:blipFill rotWithShape="1">
          <a:blip r:embed="rId10"/>
          <a:srcRect/>
          <a:stretch>
            <a:fillRect/>
          </a:stretch>
        </p:blipFill>
        <p:spPr>
          <a:xfrm>
            <a:off x="9664749" y="2505075"/>
            <a:ext cx="419100" cy="476250"/>
          </a:xfrm>
          <a:prstGeom prst="rect">
            <a:avLst/>
          </a:prstGeom>
          <a:noFill/>
          <a:ln>
            <a:noFill/>
          </a:ln>
        </p:spPr>
      </p:pic>
      <p:sp>
        <p:nvSpPr>
          <p:cNvPr id="297" name="Google Shape;297;p25"/>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Kỹ Thuật Gợi Ý Cơ Bản</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98" name="Google Shape;298;p25"/>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302" name="Shape 302"/>
        <p:cNvGrpSpPr/>
        <p:nvPr/>
      </p:nvGrpSpPr>
      <p:grpSpPr>
        <a:xfrm>
          <a:off x="0" y="0"/>
          <a:ext cx="0" cy="0"/>
          <a:chOff x="0" y="0"/>
          <a:chExt cx="0" cy="0"/>
        </a:xfrm>
      </p:grpSpPr>
      <p:pic>
        <p:nvPicPr>
          <p:cNvPr id="303" name="Google Shape;303;p2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04" name="Google Shape;304;p26" descr="image.png"/>
          <p:cNvPicPr preferRelativeResize="0"/>
          <p:nvPr/>
        </p:nvPicPr>
        <p:blipFill rotWithShape="1">
          <a:blip r:embed="rId2"/>
          <a:srcRect/>
          <a:stretch>
            <a:fillRect/>
          </a:stretch>
        </p:blipFill>
        <p:spPr>
          <a:xfrm>
            <a:off x="571500" y="2228850"/>
            <a:ext cx="5238750" cy="3505200"/>
          </a:xfrm>
          <a:prstGeom prst="rect">
            <a:avLst/>
          </a:prstGeom>
          <a:noFill/>
          <a:ln>
            <a:noFill/>
          </a:ln>
        </p:spPr>
      </p:pic>
      <p:pic>
        <p:nvPicPr>
          <p:cNvPr id="305" name="Google Shape;305;p26" descr="image.png"/>
          <p:cNvPicPr preferRelativeResize="0"/>
          <p:nvPr/>
        </p:nvPicPr>
        <p:blipFill rotWithShape="1">
          <a:blip r:embed="rId3"/>
          <a:srcRect/>
          <a:stretch>
            <a:fillRect/>
          </a:stretch>
        </p:blipFill>
        <p:spPr>
          <a:xfrm>
            <a:off x="6381750" y="2228850"/>
            <a:ext cx="5238750" cy="3505200"/>
          </a:xfrm>
          <a:prstGeom prst="rect">
            <a:avLst/>
          </a:prstGeom>
          <a:noFill/>
          <a:ln>
            <a:noFill/>
          </a:ln>
        </p:spPr>
      </p:pic>
      <p:pic>
        <p:nvPicPr>
          <p:cNvPr id="306" name="Google Shape;306;p26" descr="image.png"/>
          <p:cNvPicPr preferRelativeResize="0"/>
          <p:nvPr/>
        </p:nvPicPr>
        <p:blipFill rotWithShape="1">
          <a:blip r:embed="rId4"/>
          <a:srcRect/>
          <a:stretch>
            <a:fillRect/>
          </a:stretch>
        </p:blipFill>
        <p:spPr>
          <a:xfrm>
            <a:off x="962025" y="2619375"/>
            <a:ext cx="4457700" cy="238125"/>
          </a:xfrm>
          <a:prstGeom prst="rect">
            <a:avLst/>
          </a:prstGeom>
          <a:noFill/>
          <a:ln>
            <a:noFill/>
          </a:ln>
        </p:spPr>
      </p:pic>
      <p:sp>
        <p:nvSpPr>
          <p:cNvPr id="307" name="Google Shape;307;p26"/>
          <p:cNvSpPr txBox="1"/>
          <p:nvPr/>
        </p:nvSpPr>
        <p:spPr>
          <a:xfrm>
            <a:off x="962025" y="2952750"/>
            <a:ext cx="468058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Chain-of-Thought (CoT)</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308" name="Google Shape;308;p26"/>
          <p:cNvSpPr txBox="1"/>
          <p:nvPr/>
        </p:nvSpPr>
        <p:spPr>
          <a:xfrm>
            <a:off x="962025" y="3495675"/>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Yêu cầu mô hình trình bày quá trình suy luận từng bước (Step-by-step).</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09" name="Google Shape;309;p26"/>
          <p:cNvSpPr txBox="1"/>
          <p:nvPr/>
        </p:nvSpPr>
        <p:spPr>
          <a:xfrm>
            <a:off x="962025" y="4248150"/>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Kỹ thuật này giúp phân rã bài toán phức tạp, minh bạch hóa logic nội bộ, từ đó giảm đáng kể sai sót trong kết quả thuật toán và toán học.</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310" name="Google Shape;310;p26" descr="image.png"/>
          <p:cNvPicPr preferRelativeResize="0"/>
          <p:nvPr/>
        </p:nvPicPr>
        <p:blipFill rotWithShape="1">
          <a:blip r:embed="rId5"/>
          <a:srcRect/>
          <a:stretch>
            <a:fillRect/>
          </a:stretch>
        </p:blipFill>
        <p:spPr>
          <a:xfrm>
            <a:off x="6772275" y="2619375"/>
            <a:ext cx="4457700" cy="238125"/>
          </a:xfrm>
          <a:prstGeom prst="rect">
            <a:avLst/>
          </a:prstGeom>
          <a:noFill/>
          <a:ln>
            <a:noFill/>
          </a:ln>
        </p:spPr>
      </p:pic>
      <p:sp>
        <p:nvSpPr>
          <p:cNvPr id="311" name="Google Shape;311;p26"/>
          <p:cNvSpPr txBox="1"/>
          <p:nvPr/>
        </p:nvSpPr>
        <p:spPr>
          <a:xfrm>
            <a:off x="6772275" y="2952750"/>
            <a:ext cx="468058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Template-based Prompting</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312" name="Google Shape;312;p26"/>
          <p:cNvSpPr txBox="1"/>
          <p:nvPr/>
        </p:nvSpPr>
        <p:spPr>
          <a:xfrm>
            <a:off x="6772275" y="3495675"/>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Sử dụng khuôn mẫu cố định (Template) để ép buộc định dạng đầu vào và ra.</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13" name="Google Shape;313;p26"/>
          <p:cNvSpPr txBox="1"/>
          <p:nvPr/>
        </p:nvSpPr>
        <p:spPr>
          <a:xfrm>
            <a:off x="6772275" y="4248150"/>
            <a:ext cx="4457700" cy="952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Đặc biệt quan trọng trong sinh mã nguồn, đảm bảo LLM cung cấp đủ Tên hàm, Tham số, Return và Code Body.</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14" name="Google Shape;314;p26"/>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Các Chiến Lược Nâng Cao</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315" name="Google Shape;315;p26"/>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319" name="Shape 319"/>
        <p:cNvGrpSpPr/>
        <p:nvPr/>
      </p:nvGrpSpPr>
      <p:grpSpPr>
        <a:xfrm>
          <a:off x="0" y="0"/>
          <a:ext cx="0" cy="0"/>
          <a:chOff x="0" y="0"/>
          <a:chExt cx="0" cy="0"/>
        </a:xfrm>
      </p:grpSpPr>
      <p:pic>
        <p:nvPicPr>
          <p:cNvPr id="320" name="Google Shape;320;p2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21" name="Google Shape;321;p27" descr="image.png"/>
          <p:cNvPicPr preferRelativeResize="0"/>
          <p:nvPr/>
        </p:nvPicPr>
        <p:blipFill rotWithShape="1">
          <a:blip r:embed="rId2"/>
          <a:srcRect/>
          <a:stretch>
            <a:fillRect/>
          </a:stretch>
        </p:blipFill>
        <p:spPr>
          <a:xfrm>
            <a:off x="6381750" y="2076450"/>
            <a:ext cx="5238750" cy="3810000"/>
          </a:xfrm>
          <a:prstGeom prst="rect">
            <a:avLst/>
          </a:prstGeom>
          <a:noFill/>
          <a:ln>
            <a:noFill/>
          </a:ln>
        </p:spPr>
      </p:pic>
      <p:pic>
        <p:nvPicPr>
          <p:cNvPr id="322" name="Google Shape;322;p27" descr="image.png"/>
          <p:cNvPicPr preferRelativeResize="0"/>
          <p:nvPr/>
        </p:nvPicPr>
        <p:blipFill rotWithShape="1">
          <a:blip r:embed="rId3"/>
          <a:srcRect/>
          <a:stretch>
            <a:fillRect/>
          </a:stretch>
        </p:blipFill>
        <p:spPr>
          <a:xfrm>
            <a:off x="571500" y="2076450"/>
            <a:ext cx="686990" cy="238125"/>
          </a:xfrm>
          <a:prstGeom prst="rect">
            <a:avLst/>
          </a:prstGeom>
          <a:noFill/>
          <a:ln>
            <a:noFill/>
          </a:ln>
        </p:spPr>
      </p:pic>
      <p:sp>
        <p:nvSpPr>
          <p:cNvPr id="323" name="Google Shape;323;p27"/>
          <p:cNvSpPr txBox="1"/>
          <p:nvPr/>
        </p:nvSpPr>
        <p:spPr>
          <a:xfrm>
            <a:off x="857250" y="240982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Lab 1:</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Đối chiếu Zero-shot vs Few-shot. Few-shot cho kết quả định dạng và tính toán ổn định tuyệt đối.</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24" name="Google Shape;324;p27"/>
          <p:cNvSpPr txBox="1"/>
          <p:nvPr/>
        </p:nvSpPr>
        <p:spPr>
          <a:xfrm>
            <a:off x="857250" y="319087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Lab 2:</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Áp dụng Style Guide cho Copilot, đảm bảo định danh biến và format code nhất quán.</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25" name="Google Shape;325;p27"/>
          <p:cNvSpPr txBox="1"/>
          <p:nvPr/>
        </p:nvSpPr>
        <p:spPr>
          <a:xfrm>
            <a:off x="857250" y="397192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Lab 3 &amp; 4:</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Sử dụng API với Few-shot và CoT để tự động hóa sinh mã nguồn hoàn chỉnh với đầy đủ Docstrings.</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326" name="Google Shape;326;p27" descr="image.png"/>
          <p:cNvPicPr preferRelativeResize="0"/>
          <p:nvPr/>
        </p:nvPicPr>
        <p:blipFill rotWithShape="1">
          <a:blip r:embed="rId4"/>
          <a:srcRect/>
          <a:stretch>
            <a:fillRect/>
          </a:stretch>
        </p:blipFill>
        <p:spPr>
          <a:xfrm>
            <a:off x="6381750" y="2076450"/>
            <a:ext cx="5238750" cy="3810000"/>
          </a:xfrm>
          <a:prstGeom prst="rect">
            <a:avLst/>
          </a:prstGeom>
          <a:noFill/>
          <a:ln>
            <a:noFill/>
          </a:ln>
        </p:spPr>
      </p:pic>
      <p:sp>
        <p:nvSpPr>
          <p:cNvPr id="327" name="Google Shape;327;p27"/>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Lab 8: Thực Nghiệm Kỹ Thuật Prompt</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328" name="Google Shape;328;p27"/>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29" name="Google Shape;329;p27" descr="image.png"/>
          <p:cNvPicPr preferRelativeResize="0"/>
          <p:nvPr/>
        </p:nvPicPr>
        <p:blipFill rotWithShape="1">
          <a:blip r:embed="rId5"/>
          <a:srcRect/>
          <a:stretch>
            <a:fillRect/>
          </a:stretch>
        </p:blipFill>
        <p:spPr>
          <a:xfrm>
            <a:off x="571500" y="2428875"/>
            <a:ext cx="95250" cy="200025"/>
          </a:xfrm>
          <a:prstGeom prst="rect">
            <a:avLst/>
          </a:prstGeom>
          <a:noFill/>
          <a:ln>
            <a:noFill/>
          </a:ln>
        </p:spPr>
      </p:pic>
      <p:pic>
        <p:nvPicPr>
          <p:cNvPr id="330" name="Google Shape;330;p27" descr="image.png"/>
          <p:cNvPicPr preferRelativeResize="0"/>
          <p:nvPr/>
        </p:nvPicPr>
        <p:blipFill rotWithShape="1">
          <a:blip r:embed="rId5"/>
          <a:srcRect/>
          <a:stretch>
            <a:fillRect/>
          </a:stretch>
        </p:blipFill>
        <p:spPr>
          <a:xfrm>
            <a:off x="571500" y="3209925"/>
            <a:ext cx="95250" cy="200025"/>
          </a:xfrm>
          <a:prstGeom prst="rect">
            <a:avLst/>
          </a:prstGeom>
          <a:noFill/>
          <a:ln>
            <a:noFill/>
          </a:ln>
        </p:spPr>
      </p:pic>
      <p:pic>
        <p:nvPicPr>
          <p:cNvPr id="331" name="Google Shape;331;p27" descr="image.png"/>
          <p:cNvPicPr preferRelativeResize="0"/>
          <p:nvPr/>
        </p:nvPicPr>
        <p:blipFill rotWithShape="1">
          <a:blip r:embed="rId5"/>
          <a:srcRect/>
          <a:stretch>
            <a:fillRect/>
          </a:stretch>
        </p:blipFill>
        <p:spPr>
          <a:xfrm>
            <a:off x="571500" y="3990975"/>
            <a:ext cx="95250" cy="200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335" name="Shape 335"/>
        <p:cNvGrpSpPr/>
        <p:nvPr/>
      </p:nvGrpSpPr>
      <p:grpSpPr>
        <a:xfrm>
          <a:off x="0" y="0"/>
          <a:ext cx="0" cy="0"/>
          <a:chOff x="0" y="0"/>
          <a:chExt cx="0" cy="0"/>
        </a:xfrm>
      </p:grpSpPr>
      <p:pic>
        <p:nvPicPr>
          <p:cNvPr id="336" name="Google Shape;336;p2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37" name="Google Shape;337;p28"/>
          <p:cNvSpPr/>
          <p:nvPr/>
        </p:nvSpPr>
        <p:spPr>
          <a:xfrm>
            <a:off x="5524500" y="2646015"/>
            <a:ext cx="1143000" cy="5715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38" name="Google Shape;338;p28"/>
          <p:cNvSpPr txBox="1"/>
          <p:nvPr/>
        </p:nvSpPr>
        <p:spPr>
          <a:xfrm>
            <a:off x="348566" y="2988915"/>
            <a:ext cx="11494717" cy="8096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rPr>
              <a:t>Chương 9: Gợi Ý Nâng Cao Cho Lập Trình</a:t>
            </a:r>
            <a:endPar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p:txBody>
      </p:sp>
      <p:sp>
        <p:nvSpPr>
          <p:cNvPr id="339" name="Google Shape;339;p28"/>
          <p:cNvSpPr txBox="1"/>
          <p:nvPr/>
        </p:nvSpPr>
        <p:spPr>
          <a:xfrm>
            <a:off x="4158704" y="3989040"/>
            <a:ext cx="3874442"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475569"/>
                </a:solidFill>
                <a:latin typeface="Lato" panose="020F0502020204030203"/>
                <a:ea typeface="Lato" panose="020F0502020204030203"/>
                <a:cs typeface="Lato" panose="020F0502020204030203"/>
                <a:sym typeface="Lato" panose="020F0502020204030203"/>
              </a:rPr>
              <a:t>Tối ưu hóa và áp dụng Prompt Chaining</a:t>
            </a:r>
            <a:endParaRPr lang="en-US" sz="18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343" name="Shape 343"/>
        <p:cNvGrpSpPr/>
        <p:nvPr/>
      </p:nvGrpSpPr>
      <p:grpSpPr>
        <a:xfrm>
          <a:off x="0" y="0"/>
          <a:ext cx="0" cy="0"/>
          <a:chOff x="0" y="0"/>
          <a:chExt cx="0" cy="0"/>
        </a:xfrm>
      </p:grpSpPr>
      <p:pic>
        <p:nvPicPr>
          <p:cNvPr id="344" name="Google Shape;344;p29"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45" name="Google Shape;345;p29" descr="image.png"/>
          <p:cNvPicPr preferRelativeResize="0"/>
          <p:nvPr/>
        </p:nvPicPr>
        <p:blipFill rotWithShape="1">
          <a:blip r:embed="rId2"/>
          <a:srcRect/>
          <a:stretch>
            <a:fillRect/>
          </a:stretch>
        </p:blipFill>
        <p:spPr>
          <a:xfrm>
            <a:off x="6381750" y="2076450"/>
            <a:ext cx="5238750" cy="3810000"/>
          </a:xfrm>
          <a:prstGeom prst="rect">
            <a:avLst/>
          </a:prstGeom>
          <a:noFill/>
          <a:ln>
            <a:noFill/>
          </a:ln>
        </p:spPr>
      </p:pic>
      <p:pic>
        <p:nvPicPr>
          <p:cNvPr id="346" name="Google Shape;346;p29" descr="image.png"/>
          <p:cNvPicPr preferRelativeResize="0"/>
          <p:nvPr/>
        </p:nvPicPr>
        <p:blipFill rotWithShape="1">
          <a:blip r:embed="rId3"/>
          <a:srcRect/>
          <a:stretch>
            <a:fillRect/>
          </a:stretch>
        </p:blipFill>
        <p:spPr>
          <a:xfrm>
            <a:off x="571500" y="2076450"/>
            <a:ext cx="876895" cy="238125"/>
          </a:xfrm>
          <a:prstGeom prst="rect">
            <a:avLst/>
          </a:prstGeom>
          <a:noFill/>
          <a:ln>
            <a:noFill/>
          </a:ln>
        </p:spPr>
      </p:pic>
      <p:sp>
        <p:nvSpPr>
          <p:cNvPr id="347" name="Google Shape;347;p29"/>
          <p:cNvSpPr txBox="1"/>
          <p:nvPr/>
        </p:nvSpPr>
        <p:spPr>
          <a:xfrm>
            <a:off x="571500" y="2409825"/>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Chia nhỏ một yêu cầu lập trình lớn thành chuỗi các prompt nối tiếp nhau.</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348" name="Google Shape;348;p29" descr="image.png"/>
          <p:cNvPicPr preferRelativeResize="0"/>
          <p:nvPr/>
        </p:nvPicPr>
        <p:blipFill rotWithShape="1">
          <a:blip r:embed="rId4"/>
          <a:srcRect/>
          <a:stretch>
            <a:fillRect/>
          </a:stretch>
        </p:blipFill>
        <p:spPr>
          <a:xfrm>
            <a:off x="571500" y="3162300"/>
            <a:ext cx="787003" cy="238125"/>
          </a:xfrm>
          <a:prstGeom prst="rect">
            <a:avLst/>
          </a:prstGeom>
          <a:noFill/>
          <a:ln>
            <a:noFill/>
          </a:ln>
        </p:spPr>
      </p:pic>
      <p:sp>
        <p:nvSpPr>
          <p:cNvPr id="349" name="Google Shape;349;p29"/>
          <p:cNvSpPr txBox="1"/>
          <p:nvPr/>
        </p:nvSpPr>
        <p:spPr>
          <a:xfrm>
            <a:off x="571500" y="4924425"/>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Cách này giúp người dùng kiểm soát lỗi ở từng khâu thay vì yêu cầu AI sinh mã phức tạp ngay từ đầu.</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50" name="Google Shape;350;p29"/>
          <p:cNvSpPr txBox="1"/>
          <p:nvPr/>
        </p:nvSpPr>
        <p:spPr>
          <a:xfrm>
            <a:off x="857250" y="3495675"/>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Bước 1: Viết bộ khung Logic cơ bản.</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51" name="Google Shape;351;p29"/>
          <p:cNvSpPr txBox="1"/>
          <p:nvPr/>
        </p:nvSpPr>
        <p:spPr>
          <a:xfrm>
            <a:off x="857250" y="3971925"/>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Bước 2: Bổ sung định kiểu tĩnh (Type hints).</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52" name="Google Shape;352;p29"/>
          <p:cNvSpPr txBox="1"/>
          <p:nvPr/>
        </p:nvSpPr>
        <p:spPr>
          <a:xfrm>
            <a:off x="857250" y="4448175"/>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Bước 3: Viết tài liệu (Docstrings).</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353" name="Google Shape;353;p29" descr="image.png"/>
          <p:cNvPicPr preferRelativeResize="0"/>
          <p:nvPr/>
        </p:nvPicPr>
        <p:blipFill rotWithShape="1">
          <a:blip r:embed="rId5"/>
          <a:srcRect/>
          <a:stretch>
            <a:fillRect/>
          </a:stretch>
        </p:blipFill>
        <p:spPr>
          <a:xfrm>
            <a:off x="6381750" y="2076450"/>
            <a:ext cx="5238750" cy="3810000"/>
          </a:xfrm>
          <a:prstGeom prst="rect">
            <a:avLst/>
          </a:prstGeom>
          <a:noFill/>
          <a:ln>
            <a:noFill/>
          </a:ln>
        </p:spPr>
      </p:pic>
      <p:sp>
        <p:nvSpPr>
          <p:cNvPr id="354" name="Google Shape;354;p29"/>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Chuỗi Gợi Ý (Prompt Chaining)</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355" name="Google Shape;355;p29"/>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56" name="Google Shape;356;p29" descr="image.png"/>
          <p:cNvPicPr preferRelativeResize="0"/>
          <p:nvPr/>
        </p:nvPicPr>
        <p:blipFill rotWithShape="1">
          <a:blip r:embed="rId6"/>
          <a:srcRect/>
          <a:stretch>
            <a:fillRect/>
          </a:stretch>
        </p:blipFill>
        <p:spPr>
          <a:xfrm>
            <a:off x="571500" y="3514725"/>
            <a:ext cx="95250" cy="200025"/>
          </a:xfrm>
          <a:prstGeom prst="rect">
            <a:avLst/>
          </a:prstGeom>
          <a:noFill/>
          <a:ln>
            <a:noFill/>
          </a:ln>
        </p:spPr>
      </p:pic>
      <p:pic>
        <p:nvPicPr>
          <p:cNvPr id="357" name="Google Shape;357;p29" descr="image.png"/>
          <p:cNvPicPr preferRelativeResize="0"/>
          <p:nvPr/>
        </p:nvPicPr>
        <p:blipFill rotWithShape="1">
          <a:blip r:embed="rId6"/>
          <a:srcRect/>
          <a:stretch>
            <a:fillRect/>
          </a:stretch>
        </p:blipFill>
        <p:spPr>
          <a:xfrm>
            <a:off x="571500" y="3990975"/>
            <a:ext cx="95250" cy="200025"/>
          </a:xfrm>
          <a:prstGeom prst="rect">
            <a:avLst/>
          </a:prstGeom>
          <a:noFill/>
          <a:ln>
            <a:noFill/>
          </a:ln>
        </p:spPr>
      </p:pic>
      <p:pic>
        <p:nvPicPr>
          <p:cNvPr id="358" name="Google Shape;358;p29" descr="image.png"/>
          <p:cNvPicPr preferRelativeResize="0"/>
          <p:nvPr/>
        </p:nvPicPr>
        <p:blipFill rotWithShape="1">
          <a:blip r:embed="rId6"/>
          <a:srcRect/>
          <a:stretch>
            <a:fillRect/>
          </a:stretch>
        </p:blipFill>
        <p:spPr>
          <a:xfrm>
            <a:off x="571500" y="4467225"/>
            <a:ext cx="95250" cy="200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362" name="Shape 362"/>
        <p:cNvGrpSpPr/>
        <p:nvPr/>
      </p:nvGrpSpPr>
      <p:grpSpPr>
        <a:xfrm>
          <a:off x="0" y="0"/>
          <a:ext cx="0" cy="0"/>
          <a:chOff x="0" y="0"/>
          <a:chExt cx="0" cy="0"/>
        </a:xfrm>
      </p:grpSpPr>
      <p:pic>
        <p:nvPicPr>
          <p:cNvPr id="363" name="Google Shape;363;p30"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64" name="Google Shape;364;p30" descr="image.png"/>
          <p:cNvPicPr preferRelativeResize="0"/>
          <p:nvPr/>
        </p:nvPicPr>
        <p:blipFill rotWithShape="1">
          <a:blip r:embed="rId2"/>
          <a:srcRect/>
          <a:stretch>
            <a:fillRect/>
          </a:stretch>
        </p:blipFill>
        <p:spPr>
          <a:xfrm>
            <a:off x="571500" y="2247900"/>
            <a:ext cx="5238750" cy="3467100"/>
          </a:xfrm>
          <a:prstGeom prst="rect">
            <a:avLst/>
          </a:prstGeom>
          <a:noFill/>
          <a:ln>
            <a:noFill/>
          </a:ln>
        </p:spPr>
      </p:pic>
      <p:pic>
        <p:nvPicPr>
          <p:cNvPr id="365" name="Google Shape;365;p30" descr="image.png"/>
          <p:cNvPicPr preferRelativeResize="0"/>
          <p:nvPr/>
        </p:nvPicPr>
        <p:blipFill rotWithShape="1">
          <a:blip r:embed="rId3"/>
          <a:srcRect/>
          <a:stretch>
            <a:fillRect/>
          </a:stretch>
        </p:blipFill>
        <p:spPr>
          <a:xfrm>
            <a:off x="6381750" y="2247900"/>
            <a:ext cx="5238750" cy="3467100"/>
          </a:xfrm>
          <a:prstGeom prst="rect">
            <a:avLst/>
          </a:prstGeom>
          <a:noFill/>
          <a:ln>
            <a:noFill/>
          </a:ln>
        </p:spPr>
      </p:pic>
      <p:pic>
        <p:nvPicPr>
          <p:cNvPr id="366" name="Google Shape;366;p30" descr="image.png"/>
          <p:cNvPicPr preferRelativeResize="0"/>
          <p:nvPr/>
        </p:nvPicPr>
        <p:blipFill rotWithShape="1">
          <a:blip r:embed="rId4"/>
          <a:srcRect/>
          <a:stretch>
            <a:fillRect/>
          </a:stretch>
        </p:blipFill>
        <p:spPr>
          <a:xfrm>
            <a:off x="962025" y="2638425"/>
            <a:ext cx="4457700" cy="238125"/>
          </a:xfrm>
          <a:prstGeom prst="rect">
            <a:avLst/>
          </a:prstGeom>
          <a:noFill/>
          <a:ln>
            <a:noFill/>
          </a:ln>
        </p:spPr>
      </p:pic>
      <p:sp>
        <p:nvSpPr>
          <p:cNvPr id="367" name="Google Shape;367;p30"/>
          <p:cNvSpPr txBox="1"/>
          <p:nvPr/>
        </p:nvSpPr>
        <p:spPr>
          <a:xfrm>
            <a:off x="962025" y="2971800"/>
            <a:ext cx="468058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Selective History</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368" name="Google Shape;368;p30"/>
          <p:cNvSpPr txBox="1"/>
          <p:nvPr/>
        </p:nvSpPr>
        <p:spPr>
          <a:xfrm>
            <a:off x="962025" y="3514725"/>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Chỉ gửi kèm những ngữ cảnh thực sự cần thiết lên API thay vì gửi toàn bộ lịch sử trò chuyện.</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69" name="Google Shape;369;p30"/>
          <p:cNvSpPr txBox="1"/>
          <p:nvPr/>
        </p:nvSpPr>
        <p:spPr>
          <a:xfrm>
            <a:off x="962025" y="4267200"/>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Giảm thiểu "độ nhiễu" (noise) dữ liệu, giúp LLM duy trì sự tập trung cao độ vào tác vụ lập trình cốt lõi.</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370" name="Google Shape;370;p30" descr="image.png"/>
          <p:cNvPicPr preferRelativeResize="0"/>
          <p:nvPr/>
        </p:nvPicPr>
        <p:blipFill rotWithShape="1">
          <a:blip r:embed="rId5"/>
          <a:srcRect/>
          <a:stretch>
            <a:fillRect/>
          </a:stretch>
        </p:blipFill>
        <p:spPr>
          <a:xfrm>
            <a:off x="6772275" y="2638425"/>
            <a:ext cx="4457700" cy="238125"/>
          </a:xfrm>
          <a:prstGeom prst="rect">
            <a:avLst/>
          </a:prstGeom>
          <a:noFill/>
          <a:ln>
            <a:noFill/>
          </a:ln>
        </p:spPr>
      </p:pic>
      <p:sp>
        <p:nvSpPr>
          <p:cNvPr id="371" name="Google Shape;371;p30"/>
          <p:cNvSpPr txBox="1"/>
          <p:nvPr/>
        </p:nvSpPr>
        <p:spPr>
          <a:xfrm>
            <a:off x="6772275" y="2971800"/>
            <a:ext cx="468058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Token Optimization</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372" name="Google Shape;372;p30"/>
          <p:cNvSpPr txBox="1"/>
          <p:nvPr/>
        </p:nvSpPr>
        <p:spPr>
          <a:xfrm>
            <a:off x="6772275" y="3514725"/>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Rút gọn câu lệnh, loại bỏ từ vựng thừa để tiết kiệm Token sử dụng.</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73" name="Google Shape;373;p30"/>
          <p:cNvSpPr txBox="1"/>
          <p:nvPr/>
        </p:nvSpPr>
        <p:spPr>
          <a:xfrm>
            <a:off x="6772275" y="4267200"/>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Hành động này tác động trực tiếp đến thực tế: Giảm chi phí hóa đơn OpenAI API và giảm độ trễ (latency) khi phản hồi.</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74" name="Google Shape;374;p30"/>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Tối Ưu Hóa Giao Tiếp API</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375" name="Google Shape;375;p30"/>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379" name="Shape 379"/>
        <p:cNvGrpSpPr/>
        <p:nvPr/>
      </p:nvGrpSpPr>
      <p:grpSpPr>
        <a:xfrm>
          <a:off x="0" y="0"/>
          <a:ext cx="0" cy="0"/>
          <a:chOff x="0" y="0"/>
          <a:chExt cx="0" cy="0"/>
        </a:xfrm>
      </p:grpSpPr>
      <p:pic>
        <p:nvPicPr>
          <p:cNvPr id="380" name="Google Shape;380;p3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81" name="Google Shape;381;p31" descr="image.png"/>
          <p:cNvPicPr preferRelativeResize="0"/>
          <p:nvPr/>
        </p:nvPicPr>
        <p:blipFill rotWithShape="1">
          <a:blip r:embed="rId2"/>
          <a:srcRect/>
          <a:stretch>
            <a:fillRect/>
          </a:stretch>
        </p:blipFill>
        <p:spPr>
          <a:xfrm>
            <a:off x="6381750" y="2076450"/>
            <a:ext cx="5238750" cy="3810000"/>
          </a:xfrm>
          <a:prstGeom prst="rect">
            <a:avLst/>
          </a:prstGeom>
          <a:noFill/>
          <a:ln>
            <a:noFill/>
          </a:ln>
        </p:spPr>
      </p:pic>
      <p:pic>
        <p:nvPicPr>
          <p:cNvPr id="382" name="Google Shape;382;p31" descr="image.png"/>
          <p:cNvPicPr preferRelativeResize="0"/>
          <p:nvPr/>
        </p:nvPicPr>
        <p:blipFill rotWithShape="1">
          <a:blip r:embed="rId3"/>
          <a:srcRect/>
          <a:stretch>
            <a:fillRect/>
          </a:stretch>
        </p:blipFill>
        <p:spPr>
          <a:xfrm>
            <a:off x="571500" y="2076450"/>
            <a:ext cx="686990" cy="238125"/>
          </a:xfrm>
          <a:prstGeom prst="rect">
            <a:avLst/>
          </a:prstGeom>
          <a:noFill/>
          <a:ln>
            <a:noFill/>
          </a:ln>
        </p:spPr>
      </p:pic>
      <p:sp>
        <p:nvSpPr>
          <p:cNvPr id="383" name="Google Shape;383;p31"/>
          <p:cNvSpPr txBox="1"/>
          <p:nvPr/>
        </p:nvSpPr>
        <p:spPr>
          <a:xfrm>
            <a:off x="857250" y="240982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Triển khai CoT &amp; Chaining:</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Cung cấp từng prompt tách biệt giúp sinh ra mã nguồn chuẩn mực, đầy đủ type hints mà không rườm rà.</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84" name="Google Shape;384;p31"/>
          <p:cNvSpPr txBox="1"/>
          <p:nvPr/>
        </p:nvSpPr>
        <p:spPr>
          <a:xfrm>
            <a:off x="857250" y="349567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Áp dụng Selective History:</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Thực nghiệm lọc các luồng trò chuyện ngoại vi trước khi gọi API.</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385" name="Google Shape;385;p31"/>
          <p:cNvSpPr txBox="1"/>
          <p:nvPr/>
        </p:nvSpPr>
        <p:spPr>
          <a:xfrm>
            <a:off x="857250" y="427672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Kết quả:</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Ghi nhận lượng token tiêu thụ </a:t>
            </a:r>
            <a:r>
              <a:rPr lang="en-US" sz="1500" b="0" i="1" u="none" strike="noStrike" cap="none">
                <a:solidFill>
                  <a:srgbClr val="334155"/>
                </a:solidFill>
                <a:latin typeface="Lato" panose="020F0502020204030203"/>
                <a:ea typeface="Lato" panose="020F0502020204030203"/>
                <a:cs typeface="Lato" panose="020F0502020204030203"/>
                <a:sym typeface="Lato" panose="020F0502020204030203"/>
              </a:rPr>
              <a:t>giảm hơn 75%</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thời gian phản hồi API nhanh hơn rõ rệt.</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386" name="Google Shape;386;p31" descr="image.png"/>
          <p:cNvPicPr preferRelativeResize="0"/>
          <p:nvPr/>
        </p:nvPicPr>
        <p:blipFill rotWithShape="1">
          <a:blip r:embed="rId4"/>
          <a:srcRect/>
          <a:stretch>
            <a:fillRect/>
          </a:stretch>
        </p:blipFill>
        <p:spPr>
          <a:xfrm>
            <a:off x="6381750" y="2076450"/>
            <a:ext cx="5238750" cy="3810000"/>
          </a:xfrm>
          <a:prstGeom prst="rect">
            <a:avLst/>
          </a:prstGeom>
          <a:noFill/>
          <a:ln>
            <a:noFill/>
          </a:ln>
        </p:spPr>
      </p:pic>
      <p:sp>
        <p:nvSpPr>
          <p:cNvPr id="387" name="Google Shape;387;p31"/>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Lab 9: Ứng Dụng Tối Ưu Hóa</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388" name="Google Shape;388;p31"/>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89" name="Google Shape;389;p31" descr="image.png"/>
          <p:cNvPicPr preferRelativeResize="0"/>
          <p:nvPr/>
        </p:nvPicPr>
        <p:blipFill rotWithShape="1">
          <a:blip r:embed="rId5"/>
          <a:srcRect/>
          <a:stretch>
            <a:fillRect/>
          </a:stretch>
        </p:blipFill>
        <p:spPr>
          <a:xfrm>
            <a:off x="571500" y="2428875"/>
            <a:ext cx="95250" cy="200025"/>
          </a:xfrm>
          <a:prstGeom prst="rect">
            <a:avLst/>
          </a:prstGeom>
          <a:noFill/>
          <a:ln>
            <a:noFill/>
          </a:ln>
        </p:spPr>
      </p:pic>
      <p:pic>
        <p:nvPicPr>
          <p:cNvPr id="390" name="Google Shape;390;p31" descr="image.png"/>
          <p:cNvPicPr preferRelativeResize="0"/>
          <p:nvPr/>
        </p:nvPicPr>
        <p:blipFill rotWithShape="1">
          <a:blip r:embed="rId5"/>
          <a:srcRect/>
          <a:stretch>
            <a:fillRect/>
          </a:stretch>
        </p:blipFill>
        <p:spPr>
          <a:xfrm>
            <a:off x="571500" y="3514725"/>
            <a:ext cx="95250" cy="200025"/>
          </a:xfrm>
          <a:prstGeom prst="rect">
            <a:avLst/>
          </a:prstGeom>
          <a:noFill/>
          <a:ln>
            <a:noFill/>
          </a:ln>
        </p:spPr>
      </p:pic>
      <p:pic>
        <p:nvPicPr>
          <p:cNvPr id="391" name="Google Shape;391;p31" descr="image.png"/>
          <p:cNvPicPr preferRelativeResize="0"/>
          <p:nvPr/>
        </p:nvPicPr>
        <p:blipFill rotWithShape="1">
          <a:blip r:embed="rId5"/>
          <a:srcRect/>
          <a:stretch>
            <a:fillRect/>
          </a:stretch>
        </p:blipFill>
        <p:spPr>
          <a:xfrm>
            <a:off x="571500" y="4295775"/>
            <a:ext cx="95250" cy="200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395" name="Shape 395"/>
        <p:cNvGrpSpPr/>
        <p:nvPr/>
      </p:nvGrpSpPr>
      <p:grpSpPr>
        <a:xfrm>
          <a:off x="0" y="0"/>
          <a:ext cx="0" cy="0"/>
          <a:chOff x="0" y="0"/>
          <a:chExt cx="0" cy="0"/>
        </a:xfrm>
      </p:grpSpPr>
      <p:pic>
        <p:nvPicPr>
          <p:cNvPr id="396" name="Google Shape;396;p3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97" name="Google Shape;397;p32"/>
          <p:cNvSpPr/>
          <p:nvPr/>
        </p:nvSpPr>
        <p:spPr>
          <a:xfrm>
            <a:off x="5524500" y="2646015"/>
            <a:ext cx="1143000" cy="5715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98" name="Google Shape;398;p32"/>
          <p:cNvSpPr txBox="1"/>
          <p:nvPr/>
        </p:nvSpPr>
        <p:spPr>
          <a:xfrm>
            <a:off x="718612" y="2988915"/>
            <a:ext cx="10754625" cy="8096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rPr>
              <a:t>Chương 10: Tái Cấu Trúc Mã Với GenAI</a:t>
            </a:r>
            <a:endPar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p:txBody>
      </p:sp>
      <p:sp>
        <p:nvSpPr>
          <p:cNvPr id="399" name="Google Shape;399;p32"/>
          <p:cNvSpPr txBox="1"/>
          <p:nvPr/>
        </p:nvSpPr>
        <p:spPr>
          <a:xfrm>
            <a:off x="4210942" y="3989040"/>
            <a:ext cx="3770114"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475569"/>
                </a:solidFill>
                <a:latin typeface="Lato" panose="020F0502020204030203"/>
                <a:ea typeface="Lato" panose="020F0502020204030203"/>
                <a:cs typeface="Lato" panose="020F0502020204030203"/>
                <a:sym typeface="Lato" panose="020F0502020204030203"/>
              </a:rPr>
              <a:t>Làm sạch mã nguồn và tối ưu hệ thống</a:t>
            </a:r>
            <a:endParaRPr lang="en-US" sz="18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403" name="Shape 403"/>
        <p:cNvGrpSpPr/>
        <p:nvPr/>
      </p:nvGrpSpPr>
      <p:grpSpPr>
        <a:xfrm>
          <a:off x="0" y="0"/>
          <a:ext cx="0" cy="0"/>
          <a:chOff x="0" y="0"/>
          <a:chExt cx="0" cy="0"/>
        </a:xfrm>
      </p:grpSpPr>
      <p:pic>
        <p:nvPicPr>
          <p:cNvPr id="404" name="Google Shape;404;p3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405" name="Google Shape;405;p33" descr="image.png"/>
          <p:cNvPicPr preferRelativeResize="0"/>
          <p:nvPr/>
        </p:nvPicPr>
        <p:blipFill rotWithShape="1">
          <a:blip r:embed="rId2"/>
          <a:srcRect/>
          <a:stretch>
            <a:fillRect/>
          </a:stretch>
        </p:blipFill>
        <p:spPr>
          <a:xfrm>
            <a:off x="6381750" y="2076450"/>
            <a:ext cx="5238750" cy="3810000"/>
          </a:xfrm>
          <a:prstGeom prst="rect">
            <a:avLst/>
          </a:prstGeom>
          <a:noFill/>
          <a:ln>
            <a:noFill/>
          </a:ln>
        </p:spPr>
      </p:pic>
      <p:pic>
        <p:nvPicPr>
          <p:cNvPr id="406" name="Google Shape;406;p33" descr="image.png"/>
          <p:cNvPicPr preferRelativeResize="0"/>
          <p:nvPr/>
        </p:nvPicPr>
        <p:blipFill rotWithShape="1">
          <a:blip r:embed="rId3"/>
          <a:srcRect/>
          <a:stretch>
            <a:fillRect/>
          </a:stretch>
        </p:blipFill>
        <p:spPr>
          <a:xfrm>
            <a:off x="571500" y="2076450"/>
            <a:ext cx="876895" cy="238125"/>
          </a:xfrm>
          <a:prstGeom prst="rect">
            <a:avLst/>
          </a:prstGeom>
          <a:noFill/>
          <a:ln>
            <a:noFill/>
          </a:ln>
        </p:spPr>
      </p:pic>
      <p:sp>
        <p:nvSpPr>
          <p:cNvPr id="407" name="Google Shape;407;p33"/>
          <p:cNvSpPr txBox="1"/>
          <p:nvPr/>
        </p:nvSpPr>
        <p:spPr>
          <a:xfrm>
            <a:off x="571500" y="2409825"/>
            <a:ext cx="52387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Cải thiện thiết kế, cấu trúc bên trong mã nguồn mà </a:t>
            </a: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không</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làm thay đổi hành vi/chức năng bên ngoài của hệ thống.</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408" name="Google Shape;408;p33" descr="image.png"/>
          <p:cNvPicPr preferRelativeResize="0"/>
          <p:nvPr/>
        </p:nvPicPr>
        <p:blipFill rotWithShape="1">
          <a:blip r:embed="rId4"/>
          <a:srcRect/>
          <a:stretch>
            <a:fillRect/>
          </a:stretch>
        </p:blipFill>
        <p:spPr>
          <a:xfrm>
            <a:off x="571500" y="3162300"/>
            <a:ext cx="787003" cy="238125"/>
          </a:xfrm>
          <a:prstGeom prst="rect">
            <a:avLst/>
          </a:prstGeom>
          <a:noFill/>
          <a:ln>
            <a:noFill/>
          </a:ln>
        </p:spPr>
      </p:pic>
      <p:sp>
        <p:nvSpPr>
          <p:cNvPr id="409" name="Google Shape;409;p33"/>
          <p:cNvSpPr txBox="1"/>
          <p:nvPr/>
        </p:nvSpPr>
        <p:spPr>
          <a:xfrm>
            <a:off x="857250" y="3495675"/>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Giải quyết hiện tượng "Code Smell" (hàm quá dài, lặp code).</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410" name="Google Shape;410;p33"/>
          <p:cNvSpPr txBox="1"/>
          <p:nvPr/>
        </p:nvSpPr>
        <p:spPr>
          <a:xfrm>
            <a:off x="857250" y="397192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Áp dụng </a:t>
            </a:r>
            <a:r>
              <a:rPr lang="en-US" sz="1500" b="0" i="1" u="none" strike="noStrike" cap="none">
                <a:solidFill>
                  <a:srgbClr val="334155"/>
                </a:solidFill>
                <a:latin typeface="Lato" panose="020F0502020204030203"/>
                <a:ea typeface="Lato" panose="020F0502020204030203"/>
                <a:cs typeface="Lato" panose="020F0502020204030203"/>
                <a:sym typeface="Lato" panose="020F0502020204030203"/>
              </a:rPr>
              <a:t>Clean Architecture</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tách biệt logic, dễ đọc, dễ kiểm thử.</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411" name="Google Shape;411;p33"/>
          <p:cNvSpPr txBox="1"/>
          <p:nvPr/>
        </p:nvSpPr>
        <p:spPr>
          <a:xfrm>
            <a:off x="857250" y="475297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Sử dụng GenAI để quét mã, phát hiện bất cập và đề xuất mô hình module hợp lý hơn.</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412" name="Google Shape;412;p33" descr="image.png"/>
          <p:cNvPicPr preferRelativeResize="0"/>
          <p:nvPr/>
        </p:nvPicPr>
        <p:blipFill rotWithShape="1">
          <a:blip r:embed="rId5"/>
          <a:srcRect/>
          <a:stretch>
            <a:fillRect/>
          </a:stretch>
        </p:blipFill>
        <p:spPr>
          <a:xfrm>
            <a:off x="6381750" y="2076450"/>
            <a:ext cx="5238750" cy="3810000"/>
          </a:xfrm>
          <a:prstGeom prst="rect">
            <a:avLst/>
          </a:prstGeom>
          <a:noFill/>
          <a:ln>
            <a:noFill/>
          </a:ln>
        </p:spPr>
      </p:pic>
      <p:sp>
        <p:nvSpPr>
          <p:cNvPr id="413" name="Google Shape;413;p33"/>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Khái Niệm Refactoring (Tái Cấu Trúc)</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414" name="Google Shape;414;p33"/>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415" name="Google Shape;415;p33" descr="image.png"/>
          <p:cNvPicPr preferRelativeResize="0"/>
          <p:nvPr/>
        </p:nvPicPr>
        <p:blipFill rotWithShape="1">
          <a:blip r:embed="rId6"/>
          <a:srcRect/>
          <a:stretch>
            <a:fillRect/>
          </a:stretch>
        </p:blipFill>
        <p:spPr>
          <a:xfrm>
            <a:off x="571500" y="3514725"/>
            <a:ext cx="95250" cy="200025"/>
          </a:xfrm>
          <a:prstGeom prst="rect">
            <a:avLst/>
          </a:prstGeom>
          <a:noFill/>
          <a:ln>
            <a:noFill/>
          </a:ln>
        </p:spPr>
      </p:pic>
      <p:pic>
        <p:nvPicPr>
          <p:cNvPr id="416" name="Google Shape;416;p33" descr="image.png"/>
          <p:cNvPicPr preferRelativeResize="0"/>
          <p:nvPr/>
        </p:nvPicPr>
        <p:blipFill rotWithShape="1">
          <a:blip r:embed="rId6"/>
          <a:srcRect/>
          <a:stretch>
            <a:fillRect/>
          </a:stretch>
        </p:blipFill>
        <p:spPr>
          <a:xfrm>
            <a:off x="571500" y="3990975"/>
            <a:ext cx="95250" cy="200025"/>
          </a:xfrm>
          <a:prstGeom prst="rect">
            <a:avLst/>
          </a:prstGeom>
          <a:noFill/>
          <a:ln>
            <a:noFill/>
          </a:ln>
        </p:spPr>
      </p:pic>
      <p:pic>
        <p:nvPicPr>
          <p:cNvPr id="417" name="Google Shape;417;p33" descr="image.png"/>
          <p:cNvPicPr preferRelativeResize="0"/>
          <p:nvPr/>
        </p:nvPicPr>
        <p:blipFill rotWithShape="1">
          <a:blip r:embed="rId6"/>
          <a:srcRect/>
          <a:stretch>
            <a:fillRect/>
          </a:stretch>
        </p:blipFill>
        <p:spPr>
          <a:xfrm>
            <a:off x="571500" y="4772025"/>
            <a:ext cx="95250" cy="200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421" name="Shape 421"/>
        <p:cNvGrpSpPr/>
        <p:nvPr/>
      </p:nvGrpSpPr>
      <p:grpSpPr>
        <a:xfrm>
          <a:off x="0" y="0"/>
          <a:ext cx="0" cy="0"/>
          <a:chOff x="0" y="0"/>
          <a:chExt cx="0" cy="0"/>
        </a:xfrm>
      </p:grpSpPr>
      <p:pic>
        <p:nvPicPr>
          <p:cNvPr id="422" name="Google Shape;422;p3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423" name="Google Shape;423;p34" descr="image.png"/>
          <p:cNvPicPr preferRelativeResize="0"/>
          <p:nvPr/>
        </p:nvPicPr>
        <p:blipFill rotWithShape="1">
          <a:blip r:embed="rId2"/>
          <a:srcRect/>
          <a:stretch>
            <a:fillRect/>
          </a:stretch>
        </p:blipFill>
        <p:spPr>
          <a:xfrm>
            <a:off x="571500" y="2190750"/>
            <a:ext cx="5238750" cy="3581400"/>
          </a:xfrm>
          <a:prstGeom prst="rect">
            <a:avLst/>
          </a:prstGeom>
          <a:noFill/>
          <a:ln>
            <a:noFill/>
          </a:ln>
        </p:spPr>
      </p:pic>
      <p:pic>
        <p:nvPicPr>
          <p:cNvPr id="424" name="Google Shape;424;p34" descr="image.png"/>
          <p:cNvPicPr preferRelativeResize="0"/>
          <p:nvPr/>
        </p:nvPicPr>
        <p:blipFill rotWithShape="1">
          <a:blip r:embed="rId3"/>
          <a:srcRect/>
          <a:stretch>
            <a:fillRect/>
          </a:stretch>
        </p:blipFill>
        <p:spPr>
          <a:xfrm>
            <a:off x="6381750" y="2190750"/>
            <a:ext cx="5238750" cy="3581400"/>
          </a:xfrm>
          <a:prstGeom prst="rect">
            <a:avLst/>
          </a:prstGeom>
          <a:noFill/>
          <a:ln>
            <a:noFill/>
          </a:ln>
        </p:spPr>
      </p:pic>
      <p:pic>
        <p:nvPicPr>
          <p:cNvPr id="425" name="Google Shape;425;p34" descr="image.png"/>
          <p:cNvPicPr preferRelativeResize="0"/>
          <p:nvPr/>
        </p:nvPicPr>
        <p:blipFill rotWithShape="1">
          <a:blip r:embed="rId4"/>
          <a:srcRect/>
          <a:stretch>
            <a:fillRect/>
          </a:stretch>
        </p:blipFill>
        <p:spPr>
          <a:xfrm>
            <a:off x="962025" y="2581275"/>
            <a:ext cx="4457700" cy="238125"/>
          </a:xfrm>
          <a:prstGeom prst="rect">
            <a:avLst/>
          </a:prstGeom>
          <a:noFill/>
          <a:ln>
            <a:noFill/>
          </a:ln>
        </p:spPr>
      </p:pic>
      <p:sp>
        <p:nvSpPr>
          <p:cNvPr id="426" name="Google Shape;426;p34"/>
          <p:cNvSpPr txBox="1"/>
          <p:nvPr/>
        </p:nvSpPr>
        <p:spPr>
          <a:xfrm>
            <a:off x="962025" y="2914650"/>
            <a:ext cx="4680585" cy="800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Phân Tích &amp; Chia Nhỏ (Modularize)</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427" name="Google Shape;427;p34"/>
          <p:cNvSpPr txBox="1"/>
          <p:nvPr/>
        </p:nvSpPr>
        <p:spPr>
          <a:xfrm>
            <a:off x="962025" y="3857625"/>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Yêu cầu GenAI đánh giá mã nguồn nguyên khối (Monolithic). LLM tự động nhận diện và bóc tách thành các hàm đơn nhiệm:</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428" name="Google Shape;428;p34"/>
          <p:cNvSpPr txBox="1"/>
          <p:nvPr/>
        </p:nvSpPr>
        <p:spPr>
          <a:xfrm>
            <a:off x="962025" y="4914900"/>
            <a:ext cx="4457700" cy="3238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parse_request(), get_L1(), get_L2().</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429" name="Google Shape;429;p34" descr="image.png"/>
          <p:cNvPicPr preferRelativeResize="0"/>
          <p:nvPr/>
        </p:nvPicPr>
        <p:blipFill rotWithShape="1">
          <a:blip r:embed="rId5"/>
          <a:srcRect/>
          <a:stretch>
            <a:fillRect/>
          </a:stretch>
        </p:blipFill>
        <p:spPr>
          <a:xfrm>
            <a:off x="6772275" y="2581275"/>
            <a:ext cx="4457700" cy="238125"/>
          </a:xfrm>
          <a:prstGeom prst="rect">
            <a:avLst/>
          </a:prstGeom>
          <a:noFill/>
          <a:ln>
            <a:noFill/>
          </a:ln>
        </p:spPr>
      </p:pic>
      <p:sp>
        <p:nvSpPr>
          <p:cNvPr id="430" name="Google Shape;430;p34"/>
          <p:cNvSpPr txBox="1"/>
          <p:nvPr/>
        </p:nvSpPr>
        <p:spPr>
          <a:xfrm>
            <a:off x="6772275" y="2914650"/>
            <a:ext cx="468058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rPr>
              <a:t>Tối Ưu Hiệu Năng &amp; Kết Quả</a:t>
            </a:r>
            <a:endParaRPr lang="en-US" sz="2100" b="0" i="0" u="none" strike="noStrike" cap="none">
              <a:solidFill>
                <a:srgbClr val="0284C7"/>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431" name="Google Shape;431;p34"/>
          <p:cNvSpPr txBox="1"/>
          <p:nvPr/>
        </p:nvSpPr>
        <p:spPr>
          <a:xfrm>
            <a:off x="6772275" y="3457575"/>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Prompt LLM thay thế vòng lặp tuần tự cũ kỹ bằng các cấu trúc tối ưu (comprehensions, vector hóa nếu cần).</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432" name="Google Shape;432;p34"/>
          <p:cNvSpPr txBox="1"/>
          <p:nvPr/>
        </p:nvSpPr>
        <p:spPr>
          <a:xfrm>
            <a:off x="6772275" y="4210050"/>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Mã mới hoạt động ổn định 100%, dễ dàng thực thi Unit Test và bảo trì.</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433" name="Google Shape;433;p34"/>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Lab 10: Thực Nghiệm Tái Cấu Trúc</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434" name="Google Shape;434;p34"/>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438" name="Shape 438"/>
        <p:cNvGrpSpPr/>
        <p:nvPr/>
      </p:nvGrpSpPr>
      <p:grpSpPr>
        <a:xfrm>
          <a:off x="0" y="0"/>
          <a:ext cx="0" cy="0"/>
          <a:chOff x="0" y="0"/>
          <a:chExt cx="0" cy="0"/>
        </a:xfrm>
      </p:grpSpPr>
      <p:pic>
        <p:nvPicPr>
          <p:cNvPr id="439" name="Google Shape;439;p35"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440" name="Google Shape;440;p35"/>
          <p:cNvSpPr/>
          <p:nvPr/>
        </p:nvSpPr>
        <p:spPr>
          <a:xfrm>
            <a:off x="5524500" y="2646015"/>
            <a:ext cx="1143000" cy="5715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41" name="Google Shape;441;p35"/>
          <p:cNvSpPr txBox="1"/>
          <p:nvPr/>
        </p:nvSpPr>
        <p:spPr>
          <a:xfrm>
            <a:off x="1775776" y="2988915"/>
            <a:ext cx="8640298" cy="8096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rPr>
              <a:t>Chương 11: Tinh Chỉnh Mô Hình</a:t>
            </a:r>
            <a:endParaRPr lang="en-US" sz="42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p:txBody>
      </p:sp>
      <p:sp>
        <p:nvSpPr>
          <p:cNvPr id="442" name="Google Shape;442;p35"/>
          <p:cNvSpPr txBox="1"/>
          <p:nvPr/>
        </p:nvSpPr>
        <p:spPr>
          <a:xfrm>
            <a:off x="3671143" y="3989040"/>
            <a:ext cx="4849564"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475569"/>
                </a:solidFill>
                <a:latin typeface="Lato" panose="020F0502020204030203"/>
                <a:ea typeface="Lato" panose="020F0502020204030203"/>
                <a:cs typeface="Lato" panose="020F0502020204030203"/>
                <a:sym typeface="Lato" panose="020F0502020204030203"/>
              </a:rPr>
              <a:t>Fine-tuning với OpenAI cho các nhiệm vụ đặc thù</a:t>
            </a:r>
            <a:endParaRPr lang="en-US" sz="18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446" name="Shape 446"/>
        <p:cNvGrpSpPr/>
        <p:nvPr/>
      </p:nvGrpSpPr>
      <p:grpSpPr>
        <a:xfrm>
          <a:off x="0" y="0"/>
          <a:ext cx="0" cy="0"/>
          <a:chOff x="0" y="0"/>
          <a:chExt cx="0" cy="0"/>
        </a:xfrm>
      </p:grpSpPr>
      <p:pic>
        <p:nvPicPr>
          <p:cNvPr id="447" name="Google Shape;447;p3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448" name="Google Shape;448;p36" descr="image.png"/>
          <p:cNvPicPr preferRelativeResize="0"/>
          <p:nvPr/>
        </p:nvPicPr>
        <p:blipFill rotWithShape="1">
          <a:blip r:embed="rId2"/>
          <a:srcRect/>
          <a:stretch>
            <a:fillRect/>
          </a:stretch>
        </p:blipFill>
        <p:spPr>
          <a:xfrm>
            <a:off x="571500" y="2628900"/>
            <a:ext cx="11049000" cy="3038475"/>
          </a:xfrm>
          <a:prstGeom prst="rect">
            <a:avLst/>
          </a:prstGeom>
          <a:noFill/>
          <a:ln>
            <a:noFill/>
          </a:ln>
        </p:spPr>
      </p:pic>
      <p:pic>
        <p:nvPicPr>
          <p:cNvPr id="449" name="Google Shape;449;p36" descr="image.png"/>
          <p:cNvPicPr preferRelativeResize="0"/>
          <p:nvPr/>
        </p:nvPicPr>
        <p:blipFill rotWithShape="1">
          <a:blip r:embed="rId3"/>
          <a:srcRect/>
          <a:stretch>
            <a:fillRect/>
          </a:stretch>
        </p:blipFill>
        <p:spPr>
          <a:xfrm>
            <a:off x="5657552" y="2295525"/>
            <a:ext cx="876895" cy="238125"/>
          </a:xfrm>
          <a:prstGeom prst="rect">
            <a:avLst/>
          </a:prstGeom>
          <a:noFill/>
          <a:ln>
            <a:noFill/>
          </a:ln>
        </p:spPr>
      </p:pic>
      <p:graphicFrame>
        <p:nvGraphicFramePr>
          <p:cNvPr id="450" name="Google Shape;450;p36"/>
          <p:cNvGraphicFramePr/>
          <p:nvPr/>
        </p:nvGraphicFramePr>
        <p:xfrm>
          <a:off x="581025" y="2638425"/>
          <a:ext cx="11029925" cy="3019375"/>
        </p:xfrm>
        <a:graphic>
          <a:graphicData uri="http://schemas.openxmlformats.org/drawingml/2006/table">
            <a:tbl>
              <a:tblPr firstRow="1" bandRow="1">
                <a:noFill/>
                <a:tableStyleId>{AFBC7B88-CE87-468E-BA37-6E5ECFA51297}</a:tableStyleId>
              </a:tblPr>
              <a:tblGrid>
                <a:gridCol w="2142225"/>
                <a:gridCol w="2789325"/>
                <a:gridCol w="2579775"/>
                <a:gridCol w="3518600"/>
              </a:tblGrid>
              <a:tr h="603875">
                <a:tc>
                  <a:txBody>
                    <a:bodyPr/>
                    <a:lstStyle/>
                    <a:p>
                      <a:pPr marL="0" marR="0" lvl="0" indent="0" algn="l" rtl="0">
                        <a:spcBef>
                          <a:spcPts val="0"/>
                        </a:spcBef>
                        <a:spcAft>
                          <a:spcPts val="0"/>
                        </a:spcAft>
                        <a:buNone/>
                      </a:pPr>
                      <a:r>
                        <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rPr>
                        <a:t>Tiêu chí</a:t>
                      </a:r>
                      <a:endPar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rPr>
                        <a:t>Prompting</a:t>
                      </a:r>
                      <a:endPar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rPr>
                        <a:t>RAG</a:t>
                      </a:r>
                      <a:endPar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rPr>
                        <a:t>Fine-Tuning</a:t>
                      </a:r>
                      <a:endParaRPr lang="en-US" sz="1500" b="1" i="0" u="none" strike="noStrike" cap="none">
                        <a:solidFill>
                          <a:srgbClr val="0F172A"/>
                        </a:solidFill>
                        <a:latin typeface="Poppins" panose="00000500000000000000"/>
                        <a:ea typeface="Poppins" panose="00000500000000000000"/>
                        <a:cs typeface="Poppins" panose="00000500000000000000"/>
                        <a:sym typeface="Poppins" panose="0000050000000000000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r>
              <a:tr h="603875">
                <a:tc>
                  <a:txBody>
                    <a:bodyPr/>
                    <a:lstStyle/>
                    <a:p>
                      <a:pPr marL="0" marR="0" lvl="0" indent="0" algn="l" rtl="0">
                        <a:spcBef>
                          <a:spcPts val="0"/>
                        </a:spcBef>
                        <a:spcAft>
                          <a:spcPts val="0"/>
                        </a:spcAft>
                        <a:buNone/>
                      </a:pPr>
                      <a:r>
                        <a:rPr lang="en-US" sz="1200" b="1" i="0" u="none" strike="noStrike" cap="none">
                          <a:solidFill>
                            <a:srgbClr val="334155"/>
                          </a:solidFill>
                          <a:latin typeface="Lato" panose="020F0502020204030203"/>
                          <a:ea typeface="Lato" panose="020F0502020204030203"/>
                          <a:cs typeface="Lato" panose="020F0502020204030203"/>
                          <a:sym typeface="Lato" panose="020F0502020204030203"/>
                        </a:rPr>
                        <a:t>Đặc điểm</a:t>
                      </a:r>
                      <a:endParaRPr lang="en-US" sz="1200" b="1"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Dựa trên câu lệnh người dùng</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Truy xuất dữ liệu bên ngoài</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Huấn luyện lại với dữ liệu riêng</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03875">
                <a:tc>
                  <a:txBody>
                    <a:bodyPr/>
                    <a:lstStyle/>
                    <a:p>
                      <a:pPr marL="0" marR="0" lvl="0" indent="0" algn="l" rtl="0">
                        <a:spcBef>
                          <a:spcPts val="0"/>
                        </a:spcBef>
                        <a:spcAft>
                          <a:spcPts val="0"/>
                        </a:spcAft>
                        <a:buNone/>
                      </a:pPr>
                      <a:r>
                        <a:rPr lang="en-US" sz="1200" b="1" i="0" u="none" strike="noStrike" cap="none">
                          <a:solidFill>
                            <a:srgbClr val="334155"/>
                          </a:solidFill>
                          <a:latin typeface="Lato" panose="020F0502020204030203"/>
                          <a:ea typeface="Lato" panose="020F0502020204030203"/>
                          <a:cs typeface="Lato" panose="020F0502020204030203"/>
                          <a:sym typeface="Lato" panose="020F0502020204030203"/>
                        </a:rPr>
                        <a:t>Chi phí/Tốc độ</a:t>
                      </a:r>
                      <a:endParaRPr lang="en-US" sz="1200" b="1"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Thấp / Rất Nhanh</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Trung bình / Vừa</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Cao / Huấn luyện Chậm</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03875">
                <a:tc>
                  <a:txBody>
                    <a:bodyPr/>
                    <a:lstStyle/>
                    <a:p>
                      <a:pPr marL="0" marR="0" lvl="0" indent="0" algn="l" rtl="0">
                        <a:spcBef>
                          <a:spcPts val="0"/>
                        </a:spcBef>
                        <a:spcAft>
                          <a:spcPts val="0"/>
                        </a:spcAft>
                        <a:buNone/>
                      </a:pPr>
                      <a:r>
                        <a:rPr lang="en-US" sz="1200" b="1" i="0" u="none" strike="noStrike" cap="none">
                          <a:solidFill>
                            <a:srgbClr val="334155"/>
                          </a:solidFill>
                          <a:latin typeface="Lato" panose="020F0502020204030203"/>
                          <a:ea typeface="Lato" panose="020F0502020204030203"/>
                          <a:cs typeface="Lato" panose="020F0502020204030203"/>
                          <a:sym typeface="Lato" panose="020F0502020204030203"/>
                        </a:rPr>
                        <a:t>Độ nhất quán format</a:t>
                      </a:r>
                      <a:endParaRPr lang="en-US" sz="1200" b="1"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Trung bình</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Tốt</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Xuất sắc</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03875">
                <a:tc>
                  <a:txBody>
                    <a:bodyPr/>
                    <a:lstStyle/>
                    <a:p>
                      <a:pPr marL="0" marR="0" lvl="0" indent="0" algn="l" rtl="0">
                        <a:spcBef>
                          <a:spcPts val="0"/>
                        </a:spcBef>
                        <a:spcAft>
                          <a:spcPts val="0"/>
                        </a:spcAft>
                        <a:buNone/>
                      </a:pPr>
                      <a:r>
                        <a:rPr lang="en-US" sz="1200" b="1" i="0" u="none" strike="noStrike" cap="none">
                          <a:solidFill>
                            <a:srgbClr val="334155"/>
                          </a:solidFill>
                          <a:latin typeface="Lato" panose="020F0502020204030203"/>
                          <a:ea typeface="Lato" panose="020F0502020204030203"/>
                          <a:cs typeface="Lato" panose="020F0502020204030203"/>
                          <a:sym typeface="Lato" panose="020F0502020204030203"/>
                        </a:rPr>
                        <a:t>Phù hợp nhất cho</a:t>
                      </a:r>
                      <a:endParaRPr lang="en-US" sz="1200" b="1"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Nhiệm vụ chung, cơ bản</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Hỏi đáp cần thông tin mới</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panose="020F0502020204030203"/>
                          <a:ea typeface="Lato" panose="020F0502020204030203"/>
                          <a:cs typeface="Lato" panose="020F0502020204030203"/>
                          <a:sym typeface="Lato" panose="020F0502020204030203"/>
                        </a:rPr>
                        <a:t>Định dạng ngặt nghèo, phong cách riêng</a:t>
                      </a:r>
                      <a:endParaRPr lang="en-US" sz="1200" b="0" i="0" u="none" strike="noStrike" cap="none">
                        <a:solidFill>
                          <a:srgbClr val="334155"/>
                        </a:solidFill>
                        <a:latin typeface="Lato" panose="020F0502020204030203"/>
                        <a:ea typeface="Lato" panose="020F0502020204030203"/>
                        <a:cs typeface="Lato" panose="020F0502020204030203"/>
                        <a:sym typeface="Lato" panose="020F0502020204030203"/>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451" name="Google Shape;451;p36"/>
          <p:cNvSpPr/>
          <p:nvPr/>
        </p:nvSpPr>
        <p:spPr>
          <a:xfrm>
            <a:off x="581025" y="3300412"/>
            <a:ext cx="21422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2" name="Google Shape;452;p36"/>
          <p:cNvSpPr/>
          <p:nvPr/>
        </p:nvSpPr>
        <p:spPr>
          <a:xfrm>
            <a:off x="2723257" y="3300412"/>
            <a:ext cx="278933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3" name="Google Shape;453;p36"/>
          <p:cNvSpPr/>
          <p:nvPr/>
        </p:nvSpPr>
        <p:spPr>
          <a:xfrm>
            <a:off x="5512593" y="3300412"/>
            <a:ext cx="257978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4" name="Google Shape;454;p36"/>
          <p:cNvSpPr/>
          <p:nvPr/>
        </p:nvSpPr>
        <p:spPr>
          <a:xfrm>
            <a:off x="8092380" y="3300412"/>
            <a:ext cx="3518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5" name="Google Shape;455;p36"/>
          <p:cNvSpPr/>
          <p:nvPr/>
        </p:nvSpPr>
        <p:spPr>
          <a:xfrm>
            <a:off x="581025" y="3881437"/>
            <a:ext cx="21422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6" name="Google Shape;456;p36"/>
          <p:cNvSpPr/>
          <p:nvPr/>
        </p:nvSpPr>
        <p:spPr>
          <a:xfrm>
            <a:off x="2723257" y="3881437"/>
            <a:ext cx="278933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7" name="Google Shape;457;p36"/>
          <p:cNvSpPr/>
          <p:nvPr/>
        </p:nvSpPr>
        <p:spPr>
          <a:xfrm>
            <a:off x="5512593" y="3881437"/>
            <a:ext cx="257978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8" name="Google Shape;458;p36"/>
          <p:cNvSpPr/>
          <p:nvPr/>
        </p:nvSpPr>
        <p:spPr>
          <a:xfrm>
            <a:off x="8092380" y="3881437"/>
            <a:ext cx="3518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59" name="Google Shape;459;p36"/>
          <p:cNvSpPr/>
          <p:nvPr/>
        </p:nvSpPr>
        <p:spPr>
          <a:xfrm>
            <a:off x="581025" y="4462462"/>
            <a:ext cx="21422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0" name="Google Shape;460;p36"/>
          <p:cNvSpPr/>
          <p:nvPr/>
        </p:nvSpPr>
        <p:spPr>
          <a:xfrm>
            <a:off x="2723257" y="4462462"/>
            <a:ext cx="278933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1" name="Google Shape;461;p36"/>
          <p:cNvSpPr/>
          <p:nvPr/>
        </p:nvSpPr>
        <p:spPr>
          <a:xfrm>
            <a:off x="5512593" y="4462462"/>
            <a:ext cx="257978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2" name="Google Shape;462;p36"/>
          <p:cNvSpPr/>
          <p:nvPr/>
        </p:nvSpPr>
        <p:spPr>
          <a:xfrm>
            <a:off x="8092380" y="4462462"/>
            <a:ext cx="3518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3" name="Google Shape;463;p36"/>
          <p:cNvSpPr/>
          <p:nvPr/>
        </p:nvSpPr>
        <p:spPr>
          <a:xfrm>
            <a:off x="581025" y="5072062"/>
            <a:ext cx="21422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4" name="Google Shape;464;p36"/>
          <p:cNvSpPr/>
          <p:nvPr/>
        </p:nvSpPr>
        <p:spPr>
          <a:xfrm>
            <a:off x="2723257" y="5072062"/>
            <a:ext cx="278933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5" name="Google Shape;465;p36"/>
          <p:cNvSpPr/>
          <p:nvPr/>
        </p:nvSpPr>
        <p:spPr>
          <a:xfrm>
            <a:off x="5512593" y="5072062"/>
            <a:ext cx="257978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66" name="Google Shape;466;p36"/>
          <p:cNvSpPr/>
          <p:nvPr/>
        </p:nvSpPr>
        <p:spPr>
          <a:xfrm>
            <a:off x="8092380" y="5072062"/>
            <a:ext cx="35185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467" name="Google Shape;467;p36" descr="image.png"/>
          <p:cNvPicPr preferRelativeResize="0"/>
          <p:nvPr/>
        </p:nvPicPr>
        <p:blipFill rotWithShape="1">
          <a:blip r:embed="rId4"/>
          <a:srcRect/>
          <a:stretch>
            <a:fillRect/>
          </a:stretch>
        </p:blipFill>
        <p:spPr>
          <a:xfrm>
            <a:off x="5750718" y="4667250"/>
            <a:ext cx="209550" cy="209550"/>
          </a:xfrm>
          <a:prstGeom prst="rect">
            <a:avLst/>
          </a:prstGeom>
          <a:noFill/>
          <a:ln>
            <a:noFill/>
          </a:ln>
        </p:spPr>
      </p:pic>
      <p:pic>
        <p:nvPicPr>
          <p:cNvPr id="468" name="Google Shape;468;p36" descr="image.png"/>
          <p:cNvPicPr preferRelativeResize="0"/>
          <p:nvPr/>
        </p:nvPicPr>
        <p:blipFill rotWithShape="1">
          <a:blip r:embed="rId5"/>
          <a:srcRect/>
          <a:stretch>
            <a:fillRect/>
          </a:stretch>
        </p:blipFill>
        <p:spPr>
          <a:xfrm>
            <a:off x="8330505" y="4667250"/>
            <a:ext cx="209550" cy="209550"/>
          </a:xfrm>
          <a:prstGeom prst="rect">
            <a:avLst/>
          </a:prstGeom>
          <a:noFill/>
          <a:ln>
            <a:noFill/>
          </a:ln>
        </p:spPr>
      </p:pic>
      <p:pic>
        <p:nvPicPr>
          <p:cNvPr id="469" name="Google Shape;469;p36" descr="image.png"/>
          <p:cNvPicPr preferRelativeResize="0"/>
          <p:nvPr/>
        </p:nvPicPr>
        <p:blipFill rotWithShape="1">
          <a:blip r:embed="rId6"/>
          <a:srcRect/>
          <a:stretch>
            <a:fillRect/>
          </a:stretch>
        </p:blipFill>
        <p:spPr>
          <a:xfrm>
            <a:off x="2961382" y="4672012"/>
            <a:ext cx="209550" cy="209550"/>
          </a:xfrm>
          <a:prstGeom prst="rect">
            <a:avLst/>
          </a:prstGeom>
          <a:noFill/>
          <a:ln>
            <a:noFill/>
          </a:ln>
        </p:spPr>
      </p:pic>
      <p:pic>
        <p:nvPicPr>
          <p:cNvPr id="470" name="Google Shape;470;p36" descr="image.png"/>
          <p:cNvPicPr preferRelativeResize="0"/>
          <p:nvPr/>
        </p:nvPicPr>
        <p:blipFill rotWithShape="1">
          <a:blip r:embed="rId6"/>
          <a:srcRect/>
          <a:stretch>
            <a:fillRect/>
          </a:stretch>
        </p:blipFill>
        <p:spPr>
          <a:xfrm>
            <a:off x="2961382" y="4672012"/>
            <a:ext cx="209550" cy="209550"/>
          </a:xfrm>
          <a:prstGeom prst="rect">
            <a:avLst/>
          </a:prstGeom>
          <a:noFill/>
          <a:ln>
            <a:noFill/>
          </a:ln>
        </p:spPr>
      </p:pic>
      <p:pic>
        <p:nvPicPr>
          <p:cNvPr id="471" name="Google Shape;471;p36" descr="image.png"/>
          <p:cNvPicPr preferRelativeResize="0"/>
          <p:nvPr/>
        </p:nvPicPr>
        <p:blipFill rotWithShape="1">
          <a:blip r:embed="rId4"/>
          <a:srcRect/>
          <a:stretch>
            <a:fillRect/>
          </a:stretch>
        </p:blipFill>
        <p:spPr>
          <a:xfrm>
            <a:off x="5750718" y="4667250"/>
            <a:ext cx="209550" cy="209550"/>
          </a:xfrm>
          <a:prstGeom prst="rect">
            <a:avLst/>
          </a:prstGeom>
          <a:noFill/>
          <a:ln>
            <a:noFill/>
          </a:ln>
        </p:spPr>
      </p:pic>
      <p:pic>
        <p:nvPicPr>
          <p:cNvPr id="472" name="Google Shape;472;p36" descr="image.png"/>
          <p:cNvPicPr preferRelativeResize="0"/>
          <p:nvPr/>
        </p:nvPicPr>
        <p:blipFill rotWithShape="1">
          <a:blip r:embed="rId5"/>
          <a:srcRect/>
          <a:stretch>
            <a:fillRect/>
          </a:stretch>
        </p:blipFill>
        <p:spPr>
          <a:xfrm>
            <a:off x="8330505" y="4667250"/>
            <a:ext cx="209550" cy="209550"/>
          </a:xfrm>
          <a:prstGeom prst="rect">
            <a:avLst/>
          </a:prstGeom>
          <a:noFill/>
          <a:ln>
            <a:noFill/>
          </a:ln>
        </p:spPr>
      </p:pic>
      <p:sp>
        <p:nvSpPr>
          <p:cNvPr id="473" name="Google Shape;473;p36"/>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So Sánh Các Phương Pháp Áp Dụng AI</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474" name="Google Shape;474;p36"/>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478" name="Shape 478"/>
        <p:cNvGrpSpPr/>
        <p:nvPr/>
      </p:nvGrpSpPr>
      <p:grpSpPr>
        <a:xfrm>
          <a:off x="0" y="0"/>
          <a:ext cx="0" cy="0"/>
          <a:chOff x="0" y="0"/>
          <a:chExt cx="0" cy="0"/>
        </a:xfrm>
      </p:grpSpPr>
      <p:pic>
        <p:nvPicPr>
          <p:cNvPr id="479" name="Google Shape;479;p3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480" name="Google Shape;480;p37" descr="image.png"/>
          <p:cNvPicPr preferRelativeResize="0"/>
          <p:nvPr/>
        </p:nvPicPr>
        <p:blipFill rotWithShape="1">
          <a:blip r:embed="rId2"/>
          <a:srcRect/>
          <a:stretch>
            <a:fillRect/>
          </a:stretch>
        </p:blipFill>
        <p:spPr>
          <a:xfrm>
            <a:off x="6381750" y="2076450"/>
            <a:ext cx="5238750" cy="3810000"/>
          </a:xfrm>
          <a:prstGeom prst="rect">
            <a:avLst/>
          </a:prstGeom>
          <a:noFill/>
          <a:ln>
            <a:noFill/>
          </a:ln>
        </p:spPr>
      </p:pic>
      <p:pic>
        <p:nvPicPr>
          <p:cNvPr id="481" name="Google Shape;481;p37" descr="image.png"/>
          <p:cNvPicPr preferRelativeResize="0"/>
          <p:nvPr/>
        </p:nvPicPr>
        <p:blipFill rotWithShape="1">
          <a:blip r:embed="rId3"/>
          <a:srcRect/>
          <a:stretch>
            <a:fillRect/>
          </a:stretch>
        </p:blipFill>
        <p:spPr>
          <a:xfrm>
            <a:off x="571500" y="2076450"/>
            <a:ext cx="686990" cy="238125"/>
          </a:xfrm>
          <a:prstGeom prst="rect">
            <a:avLst/>
          </a:prstGeom>
          <a:noFill/>
          <a:ln>
            <a:noFill/>
          </a:ln>
        </p:spPr>
      </p:pic>
      <p:sp>
        <p:nvSpPr>
          <p:cNvPr id="482" name="Google Shape;482;p37"/>
          <p:cNvSpPr txBox="1"/>
          <p:nvPr/>
        </p:nvSpPr>
        <p:spPr>
          <a:xfrm>
            <a:off x="857250" y="240982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Thực nghiệm Fine-tuning:</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Chuẩn bị file dữ liệu JSONL, huấn luyện OpenAI Model học cú pháp lập trình cá nhân hóa.</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483" name="Google Shape;483;p37"/>
          <p:cNvSpPr txBox="1"/>
          <p:nvPr/>
        </p:nvSpPr>
        <p:spPr>
          <a:xfrm>
            <a:off x="857250" y="3495675"/>
            <a:ext cx="4953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Hiệu suất:</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Không cần Prompt hướng dẫn dài dòng, mô hình sinh code đúng chuẩn ngay lập tức.</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sp>
        <p:nvSpPr>
          <p:cNvPr id="484" name="Google Shape;484;p37"/>
          <p:cNvSpPr txBox="1"/>
          <p:nvPr/>
        </p:nvSpPr>
        <p:spPr>
          <a:xfrm>
            <a:off x="857250" y="427672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Lato" panose="020F0502020204030203"/>
                <a:ea typeface="Lato" panose="020F0502020204030203"/>
                <a:cs typeface="Lato" panose="020F0502020204030203"/>
                <a:sym typeface="Lato" panose="020F0502020204030203"/>
              </a:rPr>
              <a:t>Kết Luận Chung:</a:t>
            </a:r>
            <a:r>
              <a:rPr lang="en-US" sz="1500" b="0" i="0" u="none" strike="noStrike" cap="none">
                <a:solidFill>
                  <a:srgbClr val="334155"/>
                </a:solidFill>
                <a:latin typeface="Lato" panose="020F0502020204030203"/>
                <a:ea typeface="Lato" panose="020F0502020204030203"/>
                <a:cs typeface="Lato" panose="020F0502020204030203"/>
                <a:sym typeface="Lato" panose="020F0502020204030203"/>
              </a:rPr>
              <a:t> GenAI hỗ trợ đắc lực chu kỳ phần mềm, từ giải thích mã, viết Prompt Chaining đến Refactoring và Fine-tuning chuyên sâu.</a:t>
            </a:r>
            <a:endParaRPr lang="en-US" sz="1500" b="0" i="0" u="none" strike="noStrike" cap="none">
              <a:solidFill>
                <a:srgbClr val="334155"/>
              </a:solidFill>
              <a:latin typeface="Lato" panose="020F0502020204030203"/>
              <a:ea typeface="Lato" panose="020F0502020204030203"/>
              <a:cs typeface="Lato" panose="020F0502020204030203"/>
              <a:sym typeface="Lato" panose="020F0502020204030203"/>
            </a:endParaRPr>
          </a:p>
        </p:txBody>
      </p:sp>
      <p:pic>
        <p:nvPicPr>
          <p:cNvPr id="485" name="Google Shape;485;p37" descr="image.png"/>
          <p:cNvPicPr preferRelativeResize="0"/>
          <p:nvPr/>
        </p:nvPicPr>
        <p:blipFill rotWithShape="1">
          <a:blip r:embed="rId4"/>
          <a:srcRect/>
          <a:stretch>
            <a:fillRect/>
          </a:stretch>
        </p:blipFill>
        <p:spPr>
          <a:xfrm>
            <a:off x="6381750" y="2076450"/>
            <a:ext cx="5238750" cy="3810000"/>
          </a:xfrm>
          <a:prstGeom prst="rect">
            <a:avLst/>
          </a:prstGeom>
          <a:noFill/>
          <a:ln>
            <a:noFill/>
          </a:ln>
        </p:spPr>
      </p:pic>
      <p:sp>
        <p:nvSpPr>
          <p:cNvPr id="486" name="Google Shape;486;p37"/>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rPr>
              <a:t>Lab 11: Thực Nghiệm &amp; Kết Luận</a:t>
            </a:r>
            <a:endParaRPr lang="en-US" sz="3150" b="0" i="0" u="none" strike="noStrike" cap="none">
              <a:solidFill>
                <a:srgbClr val="0F172A"/>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487" name="Google Shape;487;p37"/>
          <p:cNvSpPr/>
          <p:nvPr/>
        </p:nvSpPr>
        <p:spPr>
          <a:xfrm>
            <a:off x="571500" y="126682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488" name="Google Shape;488;p37" descr="image.png"/>
          <p:cNvPicPr preferRelativeResize="0"/>
          <p:nvPr/>
        </p:nvPicPr>
        <p:blipFill rotWithShape="1">
          <a:blip r:embed="rId5"/>
          <a:srcRect/>
          <a:stretch>
            <a:fillRect/>
          </a:stretch>
        </p:blipFill>
        <p:spPr>
          <a:xfrm>
            <a:off x="571500" y="2428875"/>
            <a:ext cx="95250" cy="200025"/>
          </a:xfrm>
          <a:prstGeom prst="rect">
            <a:avLst/>
          </a:prstGeom>
          <a:noFill/>
          <a:ln>
            <a:noFill/>
          </a:ln>
        </p:spPr>
      </p:pic>
      <p:pic>
        <p:nvPicPr>
          <p:cNvPr id="489" name="Google Shape;489;p37" descr="image.png"/>
          <p:cNvPicPr preferRelativeResize="0"/>
          <p:nvPr/>
        </p:nvPicPr>
        <p:blipFill rotWithShape="1">
          <a:blip r:embed="rId5"/>
          <a:srcRect/>
          <a:stretch>
            <a:fillRect/>
          </a:stretch>
        </p:blipFill>
        <p:spPr>
          <a:xfrm>
            <a:off x="571500" y="3514725"/>
            <a:ext cx="95250" cy="200025"/>
          </a:xfrm>
          <a:prstGeom prst="rect">
            <a:avLst/>
          </a:prstGeom>
          <a:noFill/>
          <a:ln>
            <a:noFill/>
          </a:ln>
        </p:spPr>
      </p:pic>
      <p:pic>
        <p:nvPicPr>
          <p:cNvPr id="490" name="Google Shape;490;p37" descr="image.png"/>
          <p:cNvPicPr preferRelativeResize="0"/>
          <p:nvPr/>
        </p:nvPicPr>
        <p:blipFill rotWithShape="1">
          <a:blip r:embed="rId5"/>
          <a:srcRect/>
          <a:stretch>
            <a:fillRect/>
          </a:stretch>
        </p:blipFill>
        <p:spPr>
          <a:xfrm>
            <a:off x="571500" y="4295775"/>
            <a:ext cx="95250" cy="2000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7511</Words>
  <Application>WPS Presentation</Application>
  <PresentationFormat/>
  <Paragraphs>282</Paragraphs>
  <Slides>25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SimSun</vt:lpstr>
      <vt:lpstr>Wingdings</vt:lpstr>
      <vt:lpstr>Arial</vt:lpstr>
      <vt:lpstr>Calibri</vt:lpstr>
      <vt:lpstr>Poppins</vt:lpstr>
      <vt:lpstr>Lato</vt:lpstr>
      <vt:lpstr>Poppins SemiBold</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Hãi Đăng</cp:lastModifiedBy>
  <cp:revision>1</cp:revision>
  <dcterms:created xsi:type="dcterms:W3CDTF">2026-03-19T17:01:16Z</dcterms:created>
  <dcterms:modified xsi:type="dcterms:W3CDTF">2026-03-19T17:01:16Z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8A164FFDE9884C3BA7854667CABCC42D_12</vt:lpwstr>
  </property>
  <property fmtid="{D5CDD505-2E9C-101B-9397-08002B2CF9AE}" pid="3" name="KSOProductBuildVer">
    <vt:lpwstr>1033-12.1.0.25242</vt:lpwstr>
  </property>
</Properties>
</file>