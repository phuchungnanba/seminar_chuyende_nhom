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6858000" cx="12192000"/>
  <p:notesSz cx="6858000" cy="9144000"/>
  <p:embeddedFontLst>
    <p:embeddedFont>
      <p:font typeface="Inter SemiBold"/>
      <p:regular r:id="rId32"/>
      <p:bold r:id="rId33"/>
      <p:italic r:id="rId34"/>
      <p:boldItalic r:id="rId35"/>
    </p:embeddedFont>
    <p:embeddedFont>
      <p:font typeface="Inter"/>
      <p:regular r:id="rId36"/>
      <p:bold r:id="rId37"/>
      <p:italic r:id="rId38"/>
      <p:boldItalic r:id="rId39"/>
    </p:embeddedFont>
    <p:embeddedFont>
      <p:font typeface="Space Grotesk Medium"/>
      <p:regular r:id="rId40"/>
      <p:bold r:id="rId41"/>
    </p:embeddedFont>
    <p:embeddedFont>
      <p:font typeface="Fira Code"/>
      <p:regular r:id="rId42"/>
      <p:bold r:id="rId43"/>
    </p:embeddedFont>
    <p:embeddedFont>
      <p:font typeface="Space Grotesk SemiBold"/>
      <p:regular r:id="rId44"/>
      <p:bold r:id="rId45"/>
    </p:embeddedFont>
    <p:embeddedFont>
      <p:font typeface="Space Grotesk"/>
      <p:regular r:id="rId46"/>
      <p:bold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85AD8F8-11F2-499E-BD7A-1E5B71361930}">
  <a:tblStyle styleId="{785AD8F8-11F2-499E-BD7A-1E5B71361930}"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SpaceGroteskMedium-regular.fntdata"/><Relationship Id="rId20" Type="http://schemas.openxmlformats.org/officeDocument/2006/relationships/slide" Target="slides/slide14.xml"/><Relationship Id="rId42" Type="http://schemas.openxmlformats.org/officeDocument/2006/relationships/font" Target="fonts/FiraCode-regular.fntdata"/><Relationship Id="rId41" Type="http://schemas.openxmlformats.org/officeDocument/2006/relationships/font" Target="fonts/SpaceGroteskMedium-bold.fntdata"/><Relationship Id="rId22" Type="http://schemas.openxmlformats.org/officeDocument/2006/relationships/slide" Target="slides/slide16.xml"/><Relationship Id="rId44" Type="http://schemas.openxmlformats.org/officeDocument/2006/relationships/font" Target="fonts/SpaceGroteskSemiBold-regular.fntdata"/><Relationship Id="rId21" Type="http://schemas.openxmlformats.org/officeDocument/2006/relationships/slide" Target="slides/slide15.xml"/><Relationship Id="rId43" Type="http://schemas.openxmlformats.org/officeDocument/2006/relationships/font" Target="fonts/FiraCode-bold.fntdata"/><Relationship Id="rId24" Type="http://schemas.openxmlformats.org/officeDocument/2006/relationships/slide" Target="slides/slide18.xml"/><Relationship Id="rId46" Type="http://schemas.openxmlformats.org/officeDocument/2006/relationships/font" Target="fonts/SpaceGrotesk-regular.fntdata"/><Relationship Id="rId23" Type="http://schemas.openxmlformats.org/officeDocument/2006/relationships/slide" Target="slides/slide17.xml"/><Relationship Id="rId45" Type="http://schemas.openxmlformats.org/officeDocument/2006/relationships/font" Target="fonts/SpaceGroteskSemiBold-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47" Type="http://schemas.openxmlformats.org/officeDocument/2006/relationships/font" Target="fonts/SpaceGrotesk-bold.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InterSemiBold-bold.fntdata"/><Relationship Id="rId10" Type="http://schemas.openxmlformats.org/officeDocument/2006/relationships/slide" Target="slides/slide4.xml"/><Relationship Id="rId32" Type="http://schemas.openxmlformats.org/officeDocument/2006/relationships/font" Target="fonts/InterSemiBold-regular.fntdata"/><Relationship Id="rId13" Type="http://schemas.openxmlformats.org/officeDocument/2006/relationships/slide" Target="slides/slide7.xml"/><Relationship Id="rId35" Type="http://schemas.openxmlformats.org/officeDocument/2006/relationships/font" Target="fonts/InterSemiBold-boldItalic.fntdata"/><Relationship Id="rId12" Type="http://schemas.openxmlformats.org/officeDocument/2006/relationships/slide" Target="slides/slide6.xml"/><Relationship Id="rId34" Type="http://schemas.openxmlformats.org/officeDocument/2006/relationships/font" Target="fonts/InterSemiBold-italic.fntdata"/><Relationship Id="rId15" Type="http://schemas.openxmlformats.org/officeDocument/2006/relationships/slide" Target="slides/slide9.xml"/><Relationship Id="rId37" Type="http://schemas.openxmlformats.org/officeDocument/2006/relationships/font" Target="fonts/Inter-bold.fntdata"/><Relationship Id="rId14" Type="http://schemas.openxmlformats.org/officeDocument/2006/relationships/slide" Target="slides/slide8.xml"/><Relationship Id="rId36" Type="http://schemas.openxmlformats.org/officeDocument/2006/relationships/font" Target="fonts/Inter-regular.fntdata"/><Relationship Id="rId17" Type="http://schemas.openxmlformats.org/officeDocument/2006/relationships/slide" Target="slides/slide11.xml"/><Relationship Id="rId39" Type="http://schemas.openxmlformats.org/officeDocument/2006/relationships/font" Target="fonts/Inter-boldItalic.fntdata"/><Relationship Id="rId16" Type="http://schemas.openxmlformats.org/officeDocument/2006/relationships/slide" Target="slides/slide10.xml"/><Relationship Id="rId38" Type="http://schemas.openxmlformats.org/officeDocument/2006/relationships/font" Target="fonts/Inter-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3.png"/><Relationship Id="rId9" Type="http://schemas.openxmlformats.org/officeDocument/2006/relationships/image" Target="../media/image18.png"/><Relationship Id="rId5" Type="http://schemas.openxmlformats.org/officeDocument/2006/relationships/image" Target="../media/image40.png"/><Relationship Id="rId6" Type="http://schemas.openxmlformats.org/officeDocument/2006/relationships/image" Target="../media/image5.png"/><Relationship Id="rId7" Type="http://schemas.openxmlformats.org/officeDocument/2006/relationships/image" Target="../media/image7.png"/><Relationship Id="rId8"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3.png"/><Relationship Id="rId11" Type="http://schemas.openxmlformats.org/officeDocument/2006/relationships/image" Target="../media/image19.png"/><Relationship Id="rId10" Type="http://schemas.openxmlformats.org/officeDocument/2006/relationships/image" Target="../media/image16.png"/><Relationship Id="rId12" Type="http://schemas.openxmlformats.org/officeDocument/2006/relationships/image" Target="../media/image8.png"/><Relationship Id="rId9" Type="http://schemas.openxmlformats.org/officeDocument/2006/relationships/image" Target="../media/image35.png"/><Relationship Id="rId5" Type="http://schemas.openxmlformats.org/officeDocument/2006/relationships/image" Target="../media/image17.png"/><Relationship Id="rId6" Type="http://schemas.openxmlformats.org/officeDocument/2006/relationships/image" Target="../media/image4.png"/><Relationship Id="rId7" Type="http://schemas.openxmlformats.org/officeDocument/2006/relationships/image" Target="../media/image30.png"/><Relationship Id="rId8"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14.png"/><Relationship Id="rId9" Type="http://schemas.openxmlformats.org/officeDocument/2006/relationships/image" Target="../media/image47.png"/><Relationship Id="rId5" Type="http://schemas.openxmlformats.org/officeDocument/2006/relationships/image" Target="../media/image6.png"/><Relationship Id="rId6" Type="http://schemas.openxmlformats.org/officeDocument/2006/relationships/image" Target="../media/image26.png"/><Relationship Id="rId7" Type="http://schemas.openxmlformats.org/officeDocument/2006/relationships/image" Target="../media/image34.png"/><Relationship Id="rId8"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12.png"/><Relationship Id="rId11" Type="http://schemas.openxmlformats.org/officeDocument/2006/relationships/image" Target="../media/image29.png"/><Relationship Id="rId10" Type="http://schemas.openxmlformats.org/officeDocument/2006/relationships/image" Target="../media/image70.png"/><Relationship Id="rId9" Type="http://schemas.openxmlformats.org/officeDocument/2006/relationships/image" Target="../media/image23.png"/><Relationship Id="rId5" Type="http://schemas.openxmlformats.org/officeDocument/2006/relationships/image" Target="../media/image22.png"/><Relationship Id="rId6" Type="http://schemas.openxmlformats.org/officeDocument/2006/relationships/image" Target="../media/image80.png"/><Relationship Id="rId7" Type="http://schemas.openxmlformats.org/officeDocument/2006/relationships/image" Target="../media/image15.png"/><Relationship Id="rId8"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3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44.png"/><Relationship Id="rId5"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27.png"/><Relationship Id="rId8" Type="http://schemas.openxmlformats.org/officeDocument/2006/relationships/image" Target="../media/image2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41.png"/><Relationship Id="rId11" Type="http://schemas.openxmlformats.org/officeDocument/2006/relationships/image" Target="../media/image57.png"/><Relationship Id="rId10" Type="http://schemas.openxmlformats.org/officeDocument/2006/relationships/image" Target="../media/image56.png"/><Relationship Id="rId12" Type="http://schemas.openxmlformats.org/officeDocument/2006/relationships/image" Target="../media/image39.png"/><Relationship Id="rId9" Type="http://schemas.openxmlformats.org/officeDocument/2006/relationships/image" Target="../media/image49.png"/><Relationship Id="rId5" Type="http://schemas.openxmlformats.org/officeDocument/2006/relationships/image" Target="../media/image37.png"/><Relationship Id="rId6" Type="http://schemas.openxmlformats.org/officeDocument/2006/relationships/image" Target="../media/image45.png"/><Relationship Id="rId7" Type="http://schemas.openxmlformats.org/officeDocument/2006/relationships/image" Target="../media/image48.png"/><Relationship Id="rId8" Type="http://schemas.openxmlformats.org/officeDocument/2006/relationships/image" Target="../media/image6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13.png"/><Relationship Id="rId10" Type="http://schemas.openxmlformats.org/officeDocument/2006/relationships/image" Target="../media/image64.png"/><Relationship Id="rId9" Type="http://schemas.openxmlformats.org/officeDocument/2006/relationships/image" Target="../media/image72.png"/><Relationship Id="rId5" Type="http://schemas.openxmlformats.org/officeDocument/2006/relationships/image" Target="../media/image65.png"/><Relationship Id="rId6" Type="http://schemas.openxmlformats.org/officeDocument/2006/relationships/image" Target="../media/image42.png"/><Relationship Id="rId7" Type="http://schemas.openxmlformats.org/officeDocument/2006/relationships/image" Target="../media/image52.png"/><Relationship Id="rId8" Type="http://schemas.openxmlformats.org/officeDocument/2006/relationships/image" Target="../media/image5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43.png"/><Relationship Id="rId5" Type="http://schemas.openxmlformats.org/officeDocument/2006/relationships/image" Target="../media/image4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75.png"/><Relationship Id="rId9" Type="http://schemas.openxmlformats.org/officeDocument/2006/relationships/image" Target="../media/image78.png"/><Relationship Id="rId5" Type="http://schemas.openxmlformats.org/officeDocument/2006/relationships/image" Target="../media/image50.png"/><Relationship Id="rId6" Type="http://schemas.openxmlformats.org/officeDocument/2006/relationships/image" Target="../media/image71.png"/><Relationship Id="rId7" Type="http://schemas.openxmlformats.org/officeDocument/2006/relationships/image" Target="../media/image61.png"/><Relationship Id="rId8" Type="http://schemas.openxmlformats.org/officeDocument/2006/relationships/image" Target="../media/image6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3.png"/><Relationship Id="rId11" Type="http://schemas.openxmlformats.org/officeDocument/2006/relationships/image" Target="../media/image79.png"/><Relationship Id="rId10" Type="http://schemas.openxmlformats.org/officeDocument/2006/relationships/image" Target="../media/image77.png"/><Relationship Id="rId12" Type="http://schemas.openxmlformats.org/officeDocument/2006/relationships/image" Target="../media/image66.png"/><Relationship Id="rId9" Type="http://schemas.openxmlformats.org/officeDocument/2006/relationships/image" Target="../media/image35.png"/><Relationship Id="rId5" Type="http://schemas.openxmlformats.org/officeDocument/2006/relationships/image" Target="../media/image17.png"/><Relationship Id="rId6" Type="http://schemas.openxmlformats.org/officeDocument/2006/relationships/image" Target="../media/image4.png"/><Relationship Id="rId7" Type="http://schemas.openxmlformats.org/officeDocument/2006/relationships/image" Target="../media/image30.png"/><Relationship Id="rId8"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63.png"/><Relationship Id="rId5" Type="http://schemas.openxmlformats.org/officeDocument/2006/relationships/image" Target="../media/image6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68.png"/><Relationship Id="rId5" Type="http://schemas.openxmlformats.org/officeDocument/2006/relationships/image" Target="../media/image76.png"/><Relationship Id="rId6" Type="http://schemas.openxmlformats.org/officeDocument/2006/relationships/image" Target="../media/image73.png"/><Relationship Id="rId7" Type="http://schemas.openxmlformats.org/officeDocument/2006/relationships/image" Target="../media/image7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4424355" y="3981650"/>
            <a:ext cx="3343276" cy="1973450"/>
          </a:xfrm>
          <a:prstGeom prst="rect">
            <a:avLst/>
          </a:prstGeom>
          <a:noFill/>
          <a:ln>
            <a:noFill/>
          </a:ln>
        </p:spPr>
      </p:pic>
      <p:sp>
        <p:nvSpPr>
          <p:cNvPr id="86" name="Google Shape;86;p13"/>
          <p:cNvSpPr txBox="1"/>
          <p:nvPr/>
        </p:nvSpPr>
        <p:spPr>
          <a:xfrm>
            <a:off x="2195512" y="1731764"/>
            <a:ext cx="7800975" cy="731490"/>
          </a:xfrm>
          <a:prstGeom prst="rect">
            <a:avLst/>
          </a:prstGeom>
          <a:noFill/>
          <a:ln>
            <a:noFill/>
          </a:ln>
        </p:spPr>
        <p:txBody>
          <a:bodyPr anchorCtr="0" anchor="t" bIns="0" lIns="0" spcFirstLastPara="1" rIns="0" wrap="square" tIns="0">
            <a:spAutoFit/>
          </a:bodyPr>
          <a:lstStyle/>
          <a:p>
            <a:pPr indent="0" lvl="0" marL="0" marR="0" rtl="0" algn="ctr">
              <a:lnSpc>
                <a:spcPct val="119979"/>
              </a:lnSpc>
              <a:spcBef>
                <a:spcPts val="0"/>
              </a:spcBef>
              <a:spcAft>
                <a:spcPts val="0"/>
              </a:spcAft>
              <a:buNone/>
            </a:pPr>
            <a:r>
              <a:rPr b="1" i="0" lang="en-US" sz="4800" u="none" cap="none" strike="noStrike">
                <a:solidFill>
                  <a:srgbClr val="F8FAFC"/>
                </a:solidFill>
                <a:latin typeface="Space Grotesk"/>
                <a:ea typeface="Space Grotesk"/>
                <a:cs typeface="Space Grotesk"/>
                <a:sym typeface="Space Grotesk"/>
              </a:rPr>
              <a:t>Cơ Sở Lập Trình Với </a:t>
            </a:r>
            <a:r>
              <a:rPr b="1" i="0" lang="en-US" sz="4800" u="none" cap="none" strike="noStrike">
                <a:solidFill>
                  <a:srgbClr val="38BDF8"/>
                </a:solidFill>
                <a:latin typeface="Space Grotesk"/>
                <a:ea typeface="Space Grotesk"/>
                <a:cs typeface="Space Grotesk"/>
                <a:sym typeface="Space Grotesk"/>
              </a:rPr>
              <a:t>GenAI</a:t>
            </a:r>
            <a:endParaRPr/>
          </a:p>
        </p:txBody>
      </p:sp>
      <p:sp>
        <p:nvSpPr>
          <p:cNvPr id="87" name="Google Shape;87;p13"/>
          <p:cNvSpPr txBox="1"/>
          <p:nvPr/>
        </p:nvSpPr>
        <p:spPr>
          <a:xfrm>
            <a:off x="2286000" y="2844254"/>
            <a:ext cx="7620000" cy="670321"/>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650" u="none" cap="none" strike="noStrike">
                <a:solidFill>
                  <a:srgbClr val="94A3B8"/>
                </a:solidFill>
                <a:latin typeface="Inter"/>
                <a:ea typeface="Inter"/>
                <a:cs typeface="Inter"/>
                <a:sym typeface="Inter"/>
              </a:rPr>
              <a:t>Báo cáo học phần Seminar Chuyên Đề: Tìm hiểu công nghệ Vibe Coding, GitHub Copilot</a:t>
            </a:r>
            <a:endParaRPr/>
          </a:p>
        </p:txBody>
      </p:sp>
      <p:sp>
        <p:nvSpPr>
          <p:cNvPr id="88" name="Google Shape;88;p13"/>
          <p:cNvSpPr txBox="1"/>
          <p:nvPr/>
        </p:nvSpPr>
        <p:spPr>
          <a:xfrm>
            <a:off x="4776787" y="4181676"/>
            <a:ext cx="2600400" cy="207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38BDF8"/>
                </a:solidFill>
                <a:latin typeface="Inter SemiBold"/>
                <a:ea typeface="Inter SemiBold"/>
                <a:cs typeface="Inter SemiBold"/>
                <a:sym typeface="Inter SemiBold"/>
              </a:rPr>
              <a:t>Nhóm sinh viên thực hiện:</a:t>
            </a:r>
            <a:endParaRPr/>
          </a:p>
        </p:txBody>
      </p:sp>
      <p:sp>
        <p:nvSpPr>
          <p:cNvPr id="89" name="Google Shape;89;p13"/>
          <p:cNvSpPr txBox="1"/>
          <p:nvPr/>
        </p:nvSpPr>
        <p:spPr>
          <a:xfrm>
            <a:off x="4776787" y="4503591"/>
            <a:ext cx="2600400" cy="207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Đinh Trung Hội (3122411058)</a:t>
            </a:r>
            <a:endParaRPr/>
          </a:p>
        </p:txBody>
      </p:sp>
      <p:sp>
        <p:nvSpPr>
          <p:cNvPr id="90" name="Google Shape;90;p13"/>
          <p:cNvSpPr txBox="1"/>
          <p:nvPr/>
        </p:nvSpPr>
        <p:spPr>
          <a:xfrm>
            <a:off x="4776787" y="4920756"/>
            <a:ext cx="2600400" cy="207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Huỳnh Phúc Hưng (3122411073)</a:t>
            </a:r>
            <a:endParaRPr/>
          </a:p>
        </p:txBody>
      </p:sp>
      <p:sp>
        <p:nvSpPr>
          <p:cNvPr id="91" name="Google Shape;91;p13"/>
          <p:cNvSpPr txBox="1"/>
          <p:nvPr/>
        </p:nvSpPr>
        <p:spPr>
          <a:xfrm>
            <a:off x="4776787" y="5337921"/>
            <a:ext cx="2600400" cy="207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Nguyễn Hãi Đăng (3122411031)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95" name="Shape 95"/>
        <p:cNvGrpSpPr/>
        <p:nvPr/>
      </p:nvGrpSpPr>
      <p:grpSpPr>
        <a:xfrm>
          <a:off x="0" y="0"/>
          <a:ext cx="0" cy="0"/>
          <a:chOff x="0" y="0"/>
          <a:chExt cx="0" cy="0"/>
        </a:xfrm>
      </p:grpSpPr>
      <p:pic>
        <p:nvPicPr>
          <p:cNvPr descr="image.png" id="96" name="Google Shape;96;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7" name="Google Shape;97;p14"/>
          <p:cNvSpPr/>
          <p:nvPr/>
        </p:nvSpPr>
        <p:spPr>
          <a:xfrm>
            <a:off x="5619750" y="1067841"/>
            <a:ext cx="952500" cy="5715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8" name="Google Shape;98;p14"/>
          <p:cNvSpPr txBox="1"/>
          <p:nvPr/>
        </p:nvSpPr>
        <p:spPr>
          <a:xfrm>
            <a:off x="3200638" y="1410741"/>
            <a:ext cx="5790723" cy="731490"/>
          </a:xfrm>
          <a:prstGeom prst="rect">
            <a:avLst/>
          </a:prstGeom>
          <a:noFill/>
          <a:ln>
            <a:noFill/>
          </a:ln>
        </p:spPr>
        <p:txBody>
          <a:bodyPr anchorCtr="0" anchor="t" bIns="0" lIns="0" spcFirstLastPara="1" rIns="0" wrap="square" tIns="0">
            <a:spAutoFit/>
          </a:bodyPr>
          <a:lstStyle/>
          <a:p>
            <a:pPr indent="0" lvl="0" marL="0" marR="0" rtl="0" algn="ctr">
              <a:lnSpc>
                <a:spcPct val="119979"/>
              </a:lnSpc>
              <a:spcBef>
                <a:spcPts val="0"/>
              </a:spcBef>
              <a:spcAft>
                <a:spcPts val="0"/>
              </a:spcAft>
              <a:buNone/>
            </a:pPr>
            <a:r>
              <a:rPr b="1" i="0" lang="en-US" sz="4800" u="none" cap="none" strike="noStrike">
                <a:solidFill>
                  <a:srgbClr val="F8FAFC"/>
                </a:solidFill>
                <a:latin typeface="Space Grotesk"/>
                <a:ea typeface="Space Grotesk"/>
                <a:cs typeface="Space Grotesk"/>
                <a:sym typeface="Space Grotesk"/>
              </a:rPr>
              <a:t>Nội Dung Trình Bày</a:t>
            </a:r>
            <a:endParaRPr/>
          </a:p>
        </p:txBody>
      </p:sp>
      <p:sp>
        <p:nvSpPr>
          <p:cNvPr id="99" name="Google Shape;99;p14"/>
          <p:cNvSpPr txBox="1"/>
          <p:nvPr/>
        </p:nvSpPr>
        <p:spPr>
          <a:xfrm>
            <a:off x="1952625" y="2713732"/>
            <a:ext cx="8701087" cy="3199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38BDF8"/>
                </a:solidFill>
                <a:latin typeface="Space Grotesk Medium"/>
                <a:ea typeface="Space Grotesk Medium"/>
                <a:cs typeface="Space Grotesk Medium"/>
                <a:sym typeface="Space Grotesk Medium"/>
              </a:rPr>
              <a:t>01.</a:t>
            </a:r>
            <a:r>
              <a:rPr b="0" i="0" lang="en-US" sz="2100" u="none" cap="none" strike="noStrike">
                <a:solidFill>
                  <a:srgbClr val="F8FAFC"/>
                </a:solidFill>
                <a:latin typeface="Space Grotesk Medium"/>
                <a:ea typeface="Space Grotesk Medium"/>
                <a:cs typeface="Space Grotesk Medium"/>
                <a:sym typeface="Space Grotesk Medium"/>
              </a:rPr>
              <a:t> Từ Tự động hóa đến Chu kỳ Phát triển Phần mềm (SDLC)</a:t>
            </a:r>
            <a:endParaRPr/>
          </a:p>
        </p:txBody>
      </p:sp>
      <p:sp>
        <p:nvSpPr>
          <p:cNvPr id="100" name="Google Shape;100;p14"/>
          <p:cNvSpPr txBox="1"/>
          <p:nvPr/>
        </p:nvSpPr>
        <p:spPr>
          <a:xfrm>
            <a:off x="1952625" y="3367087"/>
            <a:ext cx="8701087" cy="3199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38BDF8"/>
                </a:solidFill>
                <a:latin typeface="Space Grotesk Medium"/>
                <a:ea typeface="Space Grotesk Medium"/>
                <a:cs typeface="Space Grotesk Medium"/>
                <a:sym typeface="Space Grotesk Medium"/>
              </a:rPr>
              <a:t>02.</a:t>
            </a:r>
            <a:r>
              <a:rPr b="0" i="0" lang="en-US" sz="2100" u="none" cap="none" strike="noStrike">
                <a:solidFill>
                  <a:srgbClr val="F8FAFC"/>
                </a:solidFill>
                <a:latin typeface="Space Grotesk Medium"/>
                <a:ea typeface="Space Grotesk Medium"/>
                <a:cs typeface="Space Grotesk Medium"/>
                <a:sym typeface="Space Grotesk Medium"/>
              </a:rPr>
              <a:t> Làm việc với API OpenAI</a:t>
            </a:r>
            <a:endParaRPr/>
          </a:p>
        </p:txBody>
      </p:sp>
      <p:sp>
        <p:nvSpPr>
          <p:cNvPr id="101" name="Google Shape;101;p14"/>
          <p:cNvSpPr txBox="1"/>
          <p:nvPr/>
        </p:nvSpPr>
        <p:spPr>
          <a:xfrm>
            <a:off x="1952625" y="4020442"/>
            <a:ext cx="8701087" cy="3199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38BDF8"/>
                </a:solidFill>
                <a:latin typeface="Space Grotesk Medium"/>
                <a:ea typeface="Space Grotesk Medium"/>
                <a:cs typeface="Space Grotesk Medium"/>
                <a:sym typeface="Space Grotesk Medium"/>
              </a:rPr>
              <a:t>03.</a:t>
            </a:r>
            <a:r>
              <a:rPr b="0" i="0" lang="en-US" sz="2100" u="none" cap="none" strike="noStrike">
                <a:solidFill>
                  <a:srgbClr val="F8FAFC"/>
                </a:solidFill>
                <a:latin typeface="Space Grotesk Medium"/>
                <a:ea typeface="Space Grotesk Medium"/>
                <a:cs typeface="Space Grotesk Medium"/>
                <a:sym typeface="Space Grotesk Medium"/>
              </a:rPr>
              <a:t> Sử dụng GitHub Copilot với IDE (PyCharm, VS Code, Jupyter)</a:t>
            </a:r>
            <a:endParaRPr/>
          </a:p>
        </p:txBody>
      </p:sp>
      <p:sp>
        <p:nvSpPr>
          <p:cNvPr id="102" name="Google Shape;102;p14"/>
          <p:cNvSpPr txBox="1"/>
          <p:nvPr/>
        </p:nvSpPr>
        <p:spPr>
          <a:xfrm>
            <a:off x="1952625" y="4673798"/>
            <a:ext cx="8701087" cy="3199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38BDF8"/>
                </a:solidFill>
                <a:latin typeface="Space Grotesk Medium"/>
                <a:ea typeface="Space Grotesk Medium"/>
                <a:cs typeface="Space Grotesk Medium"/>
                <a:sym typeface="Space Grotesk Medium"/>
              </a:rPr>
              <a:t>04.</a:t>
            </a:r>
            <a:r>
              <a:rPr b="0" i="0" lang="en-US" sz="2100" u="none" cap="none" strike="noStrike">
                <a:solidFill>
                  <a:srgbClr val="F8FAFC"/>
                </a:solidFill>
                <a:latin typeface="Space Grotesk Medium"/>
                <a:ea typeface="Space Grotesk Medium"/>
                <a:cs typeface="Space Grotesk Medium"/>
                <a:sym typeface="Space Grotesk Medium"/>
              </a:rPr>
              <a:t> Các Phương pháp Tốt nhất để Hỏi đáp với ChatGPT</a:t>
            </a:r>
            <a:endParaRPr/>
          </a:p>
        </p:txBody>
      </p:sp>
      <p:sp>
        <p:nvSpPr>
          <p:cNvPr id="103" name="Google Shape;103;p14"/>
          <p:cNvSpPr txBox="1"/>
          <p:nvPr/>
        </p:nvSpPr>
        <p:spPr>
          <a:xfrm>
            <a:off x="1952625" y="5327153"/>
            <a:ext cx="8701087" cy="3199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38BDF8"/>
                </a:solidFill>
                <a:latin typeface="Space Grotesk Medium"/>
                <a:ea typeface="Space Grotesk Medium"/>
                <a:cs typeface="Space Grotesk Medium"/>
                <a:sym typeface="Space Grotesk Medium"/>
              </a:rPr>
              <a:t>05.</a:t>
            </a:r>
            <a:r>
              <a:rPr b="0" i="0" lang="en-US" sz="2100" u="none" cap="none" strike="noStrike">
                <a:solidFill>
                  <a:srgbClr val="F8FAFC"/>
                </a:solidFill>
                <a:latin typeface="Space Grotesk Medium"/>
                <a:ea typeface="Space Grotesk Medium"/>
                <a:cs typeface="Space Grotesk Medium"/>
                <a:sym typeface="Space Grotesk Medium"/>
              </a:rPr>
              <a:t> Best Practices với API OpenAI và GitHub Copilot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07" name="Shape 107"/>
        <p:cNvGrpSpPr/>
        <p:nvPr/>
      </p:nvGrpSpPr>
      <p:grpSpPr>
        <a:xfrm>
          <a:off x="0" y="0"/>
          <a:ext cx="0" cy="0"/>
          <a:chOff x="0" y="0"/>
          <a:chExt cx="0" cy="0"/>
        </a:xfrm>
      </p:grpSpPr>
      <p:pic>
        <p:nvPicPr>
          <p:cNvPr descr="image.png" id="108" name="Google Shape;108;p1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9" name="Google Shape;109;p15"/>
          <p:cNvSpPr/>
          <p:nvPr/>
        </p:nvSpPr>
        <p:spPr>
          <a:xfrm>
            <a:off x="5619750" y="1864221"/>
            <a:ext cx="952500" cy="5715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0" name="Google Shape;110;p15"/>
          <p:cNvSpPr txBox="1"/>
          <p:nvPr/>
        </p:nvSpPr>
        <p:spPr>
          <a:xfrm>
            <a:off x="5480923" y="2207121"/>
            <a:ext cx="1230153" cy="31998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2100" u="none" cap="none" strike="noStrike">
                <a:solidFill>
                  <a:srgbClr val="94A3B8"/>
                </a:solidFill>
                <a:latin typeface="Space Grotesk SemiBold"/>
                <a:ea typeface="Space Grotesk SemiBold"/>
                <a:cs typeface="Space Grotesk SemiBold"/>
                <a:sym typeface="Space Grotesk SemiBold"/>
              </a:rPr>
              <a:t>PHẦN 01</a:t>
            </a:r>
            <a:endParaRPr/>
          </a:p>
        </p:txBody>
      </p:sp>
      <p:sp>
        <p:nvSpPr>
          <p:cNvPr id="111" name="Google Shape;111;p15"/>
          <p:cNvSpPr txBox="1"/>
          <p:nvPr/>
        </p:nvSpPr>
        <p:spPr>
          <a:xfrm>
            <a:off x="1065371" y="2669976"/>
            <a:ext cx="10061257" cy="1462980"/>
          </a:xfrm>
          <a:prstGeom prst="rect">
            <a:avLst/>
          </a:prstGeom>
          <a:noFill/>
          <a:ln>
            <a:noFill/>
          </a:ln>
        </p:spPr>
        <p:txBody>
          <a:bodyPr anchorCtr="0" anchor="t" bIns="0" lIns="0" spcFirstLastPara="1" rIns="0" wrap="square" tIns="0">
            <a:spAutoFit/>
          </a:bodyPr>
          <a:lstStyle/>
          <a:p>
            <a:pPr indent="0" lvl="0" marL="0" marR="0" rtl="0" algn="ctr">
              <a:lnSpc>
                <a:spcPct val="119979"/>
              </a:lnSpc>
              <a:spcBef>
                <a:spcPts val="0"/>
              </a:spcBef>
              <a:spcAft>
                <a:spcPts val="0"/>
              </a:spcAft>
              <a:buNone/>
            </a:pPr>
            <a:r>
              <a:rPr b="1" i="0" lang="en-US" sz="4800" u="none" cap="none" strike="noStrike">
                <a:solidFill>
                  <a:srgbClr val="F8FAFC"/>
                </a:solidFill>
                <a:latin typeface="Space Grotesk"/>
                <a:ea typeface="Space Grotesk"/>
                <a:cs typeface="Space Grotesk"/>
                <a:sym typeface="Space Grotesk"/>
              </a:rPr>
              <a:t>Từ Tự Động Hóa Đến Chu Kỳ</a:t>
            </a:r>
            <a:br>
              <a:rPr b="0" i="0" lang="en-US" sz="1800" u="none" cap="none" strike="noStrike">
                <a:solidFill>
                  <a:schemeClr val="dk1"/>
                </a:solidFill>
                <a:latin typeface="Calibri"/>
                <a:ea typeface="Calibri"/>
                <a:cs typeface="Calibri"/>
                <a:sym typeface="Calibri"/>
              </a:rPr>
            </a:br>
            <a:r>
              <a:rPr b="1" i="0" lang="en-US" sz="4800" u="none" cap="none" strike="noStrike">
                <a:solidFill>
                  <a:srgbClr val="F8FAFC"/>
                </a:solidFill>
                <a:latin typeface="Space Grotesk"/>
                <a:ea typeface="Space Grotesk"/>
                <a:cs typeface="Space Grotesk"/>
                <a:sym typeface="Space Grotesk"/>
              </a:rPr>
              <a:t>Phát Triển Phần Mềm Hoàn Chỉnh</a:t>
            </a:r>
            <a:endParaRPr/>
          </a:p>
        </p:txBody>
      </p:sp>
      <p:sp>
        <p:nvSpPr>
          <p:cNvPr id="112" name="Google Shape;112;p15"/>
          <p:cNvSpPr txBox="1"/>
          <p:nvPr/>
        </p:nvSpPr>
        <p:spPr>
          <a:xfrm>
            <a:off x="2286000" y="4323457"/>
            <a:ext cx="7620000" cy="670321"/>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650" u="none" cap="none" strike="noStrike">
                <a:solidFill>
                  <a:srgbClr val="94A3B8"/>
                </a:solidFill>
                <a:latin typeface="Inter"/>
                <a:ea typeface="Inter"/>
                <a:cs typeface="Inter"/>
                <a:sym typeface="Inter"/>
              </a:rPr>
              <a:t>Khám phá cơ hội hiện tại cho Generative AI trong ngành công nghiệp phần mềm.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16" name="Shape 116"/>
        <p:cNvGrpSpPr/>
        <p:nvPr/>
      </p:nvGrpSpPr>
      <p:grpSpPr>
        <a:xfrm>
          <a:off x="0" y="0"/>
          <a:ext cx="0" cy="0"/>
          <a:chOff x="0" y="0"/>
          <a:chExt cx="0" cy="0"/>
        </a:xfrm>
      </p:grpSpPr>
      <p:pic>
        <p:nvPicPr>
          <p:cNvPr descr="image.png" id="117" name="Google Shape;117;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18" name="Google Shape;118;p16"/>
          <p:cNvPicPr preferRelativeResize="0"/>
          <p:nvPr/>
        </p:nvPicPr>
        <p:blipFill rotWithShape="1">
          <a:blip r:embed="rId4">
            <a:alphaModFix/>
          </a:blip>
          <a:srcRect b="0" l="0" r="0" t="0"/>
          <a:stretch/>
        </p:blipFill>
        <p:spPr>
          <a:xfrm>
            <a:off x="6286500" y="1858416"/>
            <a:ext cx="5324475" cy="3333750"/>
          </a:xfrm>
          <a:prstGeom prst="rect">
            <a:avLst/>
          </a:prstGeom>
          <a:noFill/>
          <a:ln>
            <a:noFill/>
          </a:ln>
        </p:spPr>
      </p:pic>
      <p:sp>
        <p:nvSpPr>
          <p:cNvPr id="119" name="Google Shape;119;p16"/>
          <p:cNvSpPr txBox="1"/>
          <p:nvPr/>
        </p:nvSpPr>
        <p:spPr>
          <a:xfrm>
            <a:off x="581025" y="1858416"/>
            <a:ext cx="5590698" cy="3199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38BDF8"/>
                </a:solidFill>
                <a:latin typeface="Space Grotesk SemiBold"/>
                <a:ea typeface="Space Grotesk SemiBold"/>
                <a:cs typeface="Space Grotesk SemiBold"/>
                <a:sym typeface="Space Grotesk SemiBold"/>
              </a:rPr>
              <a:t>Khái niệm cơ bản</a:t>
            </a:r>
            <a:endParaRPr/>
          </a:p>
        </p:txBody>
      </p:sp>
      <p:sp>
        <p:nvSpPr>
          <p:cNvPr id="120" name="Google Shape;120;p16"/>
          <p:cNvSpPr txBox="1"/>
          <p:nvPr/>
        </p:nvSpPr>
        <p:spPr>
          <a:xfrm>
            <a:off x="581025" y="4633763"/>
            <a:ext cx="5590698" cy="3199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38BDF8"/>
                </a:solidFill>
                <a:latin typeface="Space Grotesk SemiBold"/>
                <a:ea typeface="Space Grotesk SemiBold"/>
                <a:cs typeface="Space Grotesk SemiBold"/>
                <a:sym typeface="Space Grotesk SemiBold"/>
              </a:rPr>
              <a:t>Quy trình cốt lõi</a:t>
            </a:r>
            <a:endParaRPr/>
          </a:p>
        </p:txBody>
      </p:sp>
      <p:sp>
        <p:nvSpPr>
          <p:cNvPr id="121" name="Google Shape;121;p16"/>
          <p:cNvSpPr txBox="1"/>
          <p:nvPr/>
        </p:nvSpPr>
        <p:spPr>
          <a:xfrm>
            <a:off x="914400" y="5096619"/>
            <a:ext cx="49911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CBD5E1"/>
                </a:solidFill>
                <a:latin typeface="Inter"/>
                <a:ea typeface="Inter"/>
                <a:cs typeface="Inter"/>
                <a:sym typeface="Inter"/>
              </a:rPr>
              <a:t>Prompt (Yêu cầu)</a:t>
            </a:r>
            <a:r>
              <a:rPr b="0" i="0" lang="en-US" sz="1350" u="none" cap="none" strike="noStrike">
                <a:solidFill>
                  <a:srgbClr val="CBD5E1"/>
                </a:solidFill>
                <a:latin typeface="Inter"/>
                <a:ea typeface="Inter"/>
                <a:cs typeface="Inter"/>
                <a:sym typeface="Inter"/>
              </a:rPr>
              <a:t> </a:t>
            </a:r>
            <a:r>
              <a:rPr b="1" i="0" lang="en-US" sz="1350" u="none" cap="none" strike="noStrike">
                <a:solidFill>
                  <a:srgbClr val="CBD5E1"/>
                </a:solidFill>
                <a:latin typeface="Inter"/>
                <a:ea typeface="Inter"/>
                <a:cs typeface="Inter"/>
                <a:sym typeface="Inter"/>
              </a:rPr>
              <a:t>LLM Xử lý</a:t>
            </a:r>
            <a:r>
              <a:rPr b="0" i="0" lang="en-US" sz="1350" u="none" cap="none" strike="noStrike">
                <a:solidFill>
                  <a:srgbClr val="CBD5E1"/>
                </a:solidFill>
                <a:latin typeface="Inter"/>
                <a:ea typeface="Inter"/>
                <a:cs typeface="Inter"/>
                <a:sym typeface="Inter"/>
              </a:rPr>
              <a:t> </a:t>
            </a:r>
            <a:r>
              <a:rPr b="1" i="0" lang="en-US" sz="1350" u="none" cap="none" strike="noStrike">
                <a:solidFill>
                  <a:srgbClr val="CBD5E1"/>
                </a:solidFill>
                <a:latin typeface="Inter"/>
                <a:ea typeface="Inter"/>
                <a:cs typeface="Inter"/>
                <a:sym typeface="Inter"/>
              </a:rPr>
              <a:t>Output (Code/Giải thích)</a:t>
            </a:r>
            <a:endParaRPr/>
          </a:p>
        </p:txBody>
      </p:sp>
      <p:sp>
        <p:nvSpPr>
          <p:cNvPr id="122" name="Google Shape;122;p16"/>
          <p:cNvSpPr txBox="1"/>
          <p:nvPr/>
        </p:nvSpPr>
        <p:spPr>
          <a:xfrm>
            <a:off x="914400" y="2321272"/>
            <a:ext cx="49911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GenAI là nhánh AI tạo ra dữ liệu mới (văn bản, hình ảnh, mã nguồn) dựa trên dữ liệu huấn luyện (LLMs).</a:t>
            </a:r>
            <a:endParaRPr/>
          </a:p>
        </p:txBody>
      </p:sp>
      <p:sp>
        <p:nvSpPr>
          <p:cNvPr id="123" name="Google Shape;123;p16"/>
          <p:cNvSpPr txBox="1"/>
          <p:nvPr/>
        </p:nvSpPr>
        <p:spPr>
          <a:xfrm>
            <a:off x="914400" y="3060352"/>
            <a:ext cx="49911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Khác với AI truyền thống (phân loại/dự đoán), GenAI có thể sáng tạo ra nội dung hoàn toàn mới.</a:t>
            </a:r>
            <a:endParaRPr/>
          </a:p>
        </p:txBody>
      </p:sp>
      <p:sp>
        <p:nvSpPr>
          <p:cNvPr id="124" name="Google Shape;124;p16"/>
          <p:cNvSpPr txBox="1"/>
          <p:nvPr/>
        </p:nvSpPr>
        <p:spPr>
          <a:xfrm>
            <a:off x="914400" y="3799433"/>
            <a:ext cx="49911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Trong lập trình: Đóng vai trò như </a:t>
            </a:r>
            <a:r>
              <a:rPr b="1" i="0" lang="en-US" sz="1350" u="none" cap="none" strike="noStrike">
                <a:solidFill>
                  <a:srgbClr val="CBD5E1"/>
                </a:solidFill>
                <a:latin typeface="Inter"/>
                <a:ea typeface="Inter"/>
                <a:cs typeface="Inter"/>
                <a:sym typeface="Inter"/>
              </a:rPr>
              <a:t>trợ lý thông minh</a:t>
            </a:r>
            <a:r>
              <a:rPr b="0" i="0" lang="en-US" sz="1350" u="none" cap="none" strike="noStrike">
                <a:solidFill>
                  <a:srgbClr val="CBD5E1"/>
                </a:solidFill>
                <a:latin typeface="Inter"/>
                <a:ea typeface="Inter"/>
                <a:cs typeface="Inter"/>
                <a:sym typeface="Inter"/>
              </a:rPr>
              <a:t>, không thay thế hoàn toàn lập trình viên.</a:t>
            </a:r>
            <a:endParaRPr/>
          </a:p>
        </p:txBody>
      </p:sp>
      <p:pic>
        <p:nvPicPr>
          <p:cNvPr descr="image.png" id="125" name="Google Shape;125;p16"/>
          <p:cNvPicPr preferRelativeResize="0"/>
          <p:nvPr/>
        </p:nvPicPr>
        <p:blipFill rotWithShape="1">
          <a:blip r:embed="rId5">
            <a:alphaModFix/>
          </a:blip>
          <a:srcRect b="0" l="0" r="0" t="0"/>
          <a:stretch/>
        </p:blipFill>
        <p:spPr>
          <a:xfrm>
            <a:off x="2495550" y="5144244"/>
            <a:ext cx="152400" cy="171450"/>
          </a:xfrm>
          <a:prstGeom prst="rect">
            <a:avLst/>
          </a:prstGeom>
          <a:noFill/>
          <a:ln>
            <a:noFill/>
          </a:ln>
        </p:spPr>
      </p:pic>
      <p:pic>
        <p:nvPicPr>
          <p:cNvPr descr="image.png" id="126" name="Google Shape;126;p16"/>
          <p:cNvPicPr preferRelativeResize="0"/>
          <p:nvPr/>
        </p:nvPicPr>
        <p:blipFill rotWithShape="1">
          <a:blip r:embed="rId5">
            <a:alphaModFix/>
          </a:blip>
          <a:srcRect b="0" l="0" r="0" t="0"/>
          <a:stretch/>
        </p:blipFill>
        <p:spPr>
          <a:xfrm>
            <a:off x="3752850" y="5144244"/>
            <a:ext cx="152400" cy="171450"/>
          </a:xfrm>
          <a:prstGeom prst="rect">
            <a:avLst/>
          </a:prstGeom>
          <a:noFill/>
          <a:ln>
            <a:noFill/>
          </a:ln>
        </p:spPr>
      </p:pic>
      <p:pic>
        <p:nvPicPr>
          <p:cNvPr descr="image.png" id="127" name="Google Shape;127;p16"/>
          <p:cNvPicPr preferRelativeResize="0"/>
          <p:nvPr/>
        </p:nvPicPr>
        <p:blipFill rotWithShape="1">
          <a:blip r:embed="rId6">
            <a:alphaModFix/>
          </a:blip>
          <a:srcRect b="0" l="0" r="0" t="0"/>
          <a:stretch/>
        </p:blipFill>
        <p:spPr>
          <a:xfrm>
            <a:off x="6296025" y="1867941"/>
            <a:ext cx="5305425" cy="3314700"/>
          </a:xfrm>
          <a:prstGeom prst="rect">
            <a:avLst/>
          </a:prstGeom>
          <a:noFill/>
          <a:ln>
            <a:noFill/>
          </a:ln>
        </p:spPr>
      </p:pic>
      <p:pic>
        <p:nvPicPr>
          <p:cNvPr descr="image.png" id="128" name="Google Shape;128;p16"/>
          <p:cNvPicPr preferRelativeResize="0"/>
          <p:nvPr/>
        </p:nvPicPr>
        <p:blipFill rotWithShape="1">
          <a:blip r:embed="rId7">
            <a:alphaModFix/>
          </a:blip>
          <a:srcRect b="0" l="0" r="0" t="0"/>
          <a:stretch/>
        </p:blipFill>
        <p:spPr>
          <a:xfrm>
            <a:off x="581025" y="2354609"/>
            <a:ext cx="190500" cy="200025"/>
          </a:xfrm>
          <a:prstGeom prst="rect">
            <a:avLst/>
          </a:prstGeom>
          <a:noFill/>
          <a:ln>
            <a:noFill/>
          </a:ln>
        </p:spPr>
      </p:pic>
      <p:pic>
        <p:nvPicPr>
          <p:cNvPr descr="image.png" id="129" name="Google Shape;129;p16"/>
          <p:cNvPicPr preferRelativeResize="0"/>
          <p:nvPr/>
        </p:nvPicPr>
        <p:blipFill rotWithShape="1">
          <a:blip r:embed="rId8">
            <a:alphaModFix/>
          </a:blip>
          <a:srcRect b="0" l="0" r="0" t="0"/>
          <a:stretch/>
        </p:blipFill>
        <p:spPr>
          <a:xfrm>
            <a:off x="581025" y="3093690"/>
            <a:ext cx="190500" cy="200025"/>
          </a:xfrm>
          <a:prstGeom prst="rect">
            <a:avLst/>
          </a:prstGeom>
          <a:noFill/>
          <a:ln>
            <a:noFill/>
          </a:ln>
        </p:spPr>
      </p:pic>
      <p:pic>
        <p:nvPicPr>
          <p:cNvPr descr="image.png" id="130" name="Google Shape;130;p16"/>
          <p:cNvPicPr preferRelativeResize="0"/>
          <p:nvPr/>
        </p:nvPicPr>
        <p:blipFill rotWithShape="1">
          <a:blip r:embed="rId9">
            <a:alphaModFix/>
          </a:blip>
          <a:srcRect b="0" l="0" r="0" t="0"/>
          <a:stretch/>
        </p:blipFill>
        <p:spPr>
          <a:xfrm>
            <a:off x="581025" y="3832770"/>
            <a:ext cx="238125" cy="200025"/>
          </a:xfrm>
          <a:prstGeom prst="rect">
            <a:avLst/>
          </a:prstGeom>
          <a:noFill/>
          <a:ln>
            <a:noFill/>
          </a:ln>
        </p:spPr>
      </p:pic>
      <p:sp>
        <p:nvSpPr>
          <p:cNvPr id="131" name="Google Shape;131;p16"/>
          <p:cNvSpPr txBox="1"/>
          <p:nvPr/>
        </p:nvSpPr>
        <p:spPr>
          <a:xfrm>
            <a:off x="581025" y="485775"/>
            <a:ext cx="11581447" cy="502890"/>
          </a:xfrm>
          <a:prstGeom prst="rect">
            <a:avLst/>
          </a:prstGeom>
          <a:noFill/>
          <a:ln>
            <a:noFill/>
          </a:ln>
        </p:spPr>
        <p:txBody>
          <a:bodyPr anchorCtr="0" anchor="ctr" bIns="0" lIns="0" spcFirstLastPara="1" rIns="0" wrap="square" tIns="0">
            <a:spAutoFit/>
          </a:bodyPr>
          <a:lstStyle/>
          <a:p>
            <a:pPr indent="0" lvl="0" marL="0" marR="0" rtl="0" algn="l">
              <a:lnSpc>
                <a:spcPct val="119969"/>
              </a:lnSpc>
              <a:spcBef>
                <a:spcPts val="0"/>
              </a:spcBef>
              <a:spcAft>
                <a:spcPts val="0"/>
              </a:spcAft>
              <a:buNone/>
            </a:pPr>
            <a:r>
              <a:rPr b="0" i="0" lang="en-US" sz="3300" u="none" cap="none" strike="noStrike">
                <a:solidFill>
                  <a:srgbClr val="F8FAFC"/>
                </a:solidFill>
                <a:latin typeface="Space Grotesk SemiBold"/>
                <a:ea typeface="Space Grotesk SemiBold"/>
                <a:cs typeface="Space Grotesk SemiBold"/>
                <a:sym typeface="Space Grotesk SemiBold"/>
              </a:rPr>
              <a:t>Generative AI (GenAI) Trong Lập Trình</a:t>
            </a:r>
            <a:endParaRPr/>
          </a:p>
        </p:txBody>
      </p:sp>
      <p:sp>
        <p:nvSpPr>
          <p:cNvPr id="132" name="Google Shape;132;p16"/>
          <p:cNvSpPr/>
          <p:nvPr/>
        </p:nvSpPr>
        <p:spPr>
          <a:xfrm>
            <a:off x="581025" y="988665"/>
            <a:ext cx="57150" cy="381000"/>
          </a:xfrm>
          <a:prstGeom prst="roundRect">
            <a:avLst>
              <a:gd fmla="val 50000" name="adj"/>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36" name="Shape 136"/>
        <p:cNvGrpSpPr/>
        <p:nvPr/>
      </p:nvGrpSpPr>
      <p:grpSpPr>
        <a:xfrm>
          <a:off x="0" y="0"/>
          <a:ext cx="0" cy="0"/>
          <a:chOff x="0" y="0"/>
          <a:chExt cx="0" cy="0"/>
        </a:xfrm>
      </p:grpSpPr>
      <p:pic>
        <p:nvPicPr>
          <p:cNvPr descr="image.png" id="137" name="Google Shape;137;p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8" name="Google Shape;138;p17"/>
          <p:cNvSpPr/>
          <p:nvPr/>
        </p:nvSpPr>
        <p:spPr>
          <a:xfrm>
            <a:off x="581025" y="1861244"/>
            <a:ext cx="11030100" cy="3924300"/>
          </a:xfrm>
          <a:prstGeom prst="roundRect">
            <a:avLst>
              <a:gd fmla="val 0" name="adj"/>
            </a:avLst>
          </a:prstGeom>
          <a:solidFill>
            <a:srgbClr val="1E293B"/>
          </a:soli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139" name="Google Shape;139;p17"/>
          <p:cNvGraphicFramePr/>
          <p:nvPr/>
        </p:nvGraphicFramePr>
        <p:xfrm>
          <a:off x="581025" y="1861244"/>
          <a:ext cx="3000000" cy="3000000"/>
        </p:xfrm>
        <a:graphic>
          <a:graphicData uri="http://schemas.openxmlformats.org/drawingml/2006/table">
            <a:tbl>
              <a:tblPr bandRow="1" firstRow="1">
                <a:noFill/>
                <a:tableStyleId>{785AD8F8-11F2-499E-BD7A-1E5B71361930}</a:tableStyleId>
              </a:tblPr>
              <a:tblGrid>
                <a:gridCol w="1817625"/>
                <a:gridCol w="4222100"/>
                <a:gridCol w="4990200"/>
              </a:tblGrid>
              <a:tr h="784825">
                <a:tc>
                  <a:txBody>
                    <a:bodyPr/>
                    <a:lstStyle/>
                    <a:p>
                      <a:pPr indent="0" lvl="0" marL="0" marR="0" rtl="0" algn="l">
                        <a:spcBef>
                          <a:spcPts val="0"/>
                        </a:spcBef>
                        <a:spcAft>
                          <a:spcPts val="0"/>
                        </a:spcAft>
                        <a:buNone/>
                      </a:pPr>
                      <a:r>
                        <a:rPr b="1" i="0" lang="en-US" sz="1500" u="none" cap="none" strike="noStrike">
                          <a:solidFill>
                            <a:srgbClr val="38BDF8"/>
                          </a:solidFill>
                          <a:latin typeface="Space Grotesk"/>
                          <a:ea typeface="Space Grotesk"/>
                          <a:cs typeface="Space Grotesk"/>
                          <a:sym typeface="Space Grotesk"/>
                        </a:rPr>
                        <a:t>Tiêu chí</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666666"/>
                    </a:solidFill>
                  </a:tcPr>
                </a:tc>
                <a:tc>
                  <a:txBody>
                    <a:bodyPr/>
                    <a:lstStyle/>
                    <a:p>
                      <a:pPr indent="0" lvl="0" marL="0" marR="0" rtl="0" algn="l">
                        <a:spcBef>
                          <a:spcPts val="0"/>
                        </a:spcBef>
                        <a:spcAft>
                          <a:spcPts val="0"/>
                        </a:spcAft>
                        <a:buNone/>
                      </a:pPr>
                      <a:r>
                        <a:rPr b="1" i="0" lang="en-US" sz="1500" u="none" cap="none" strike="noStrike">
                          <a:solidFill>
                            <a:srgbClr val="38BDF8"/>
                          </a:solidFill>
                          <a:latin typeface="Space Grotesk"/>
                          <a:ea typeface="Space Grotesk"/>
                          <a:cs typeface="Space Grotesk"/>
                          <a:sym typeface="Space Grotesk"/>
                        </a:rPr>
                        <a:t>Tự động hóa truyền thống (CI/CD, Scripts)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666666"/>
                    </a:solidFill>
                  </a:tcPr>
                </a:tc>
                <a:tc>
                  <a:txBody>
                    <a:bodyPr/>
                    <a:lstStyle/>
                    <a:p>
                      <a:pPr indent="0" lvl="0" marL="0" marR="0" rtl="0" algn="l">
                        <a:spcBef>
                          <a:spcPts val="0"/>
                        </a:spcBef>
                        <a:spcAft>
                          <a:spcPts val="0"/>
                        </a:spcAft>
                        <a:buNone/>
                      </a:pPr>
                      <a:r>
                        <a:rPr b="1" i="0" lang="en-US" sz="1500" u="none" cap="none" strike="noStrike">
                          <a:solidFill>
                            <a:srgbClr val="38BDF8"/>
                          </a:solidFill>
                          <a:latin typeface="Space Grotesk"/>
                          <a:ea typeface="Space Grotesk"/>
                          <a:cs typeface="Space Grotesk"/>
                          <a:sym typeface="Space Grotesk"/>
                        </a:rPr>
                        <a:t>Generative AI (Copilot, ChatGPT)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666666"/>
                    </a:solidFill>
                  </a:tcPr>
                </a:tc>
              </a:tr>
              <a:tr h="784825">
                <a:tc>
                  <a:txBody>
                    <a:bodyPr/>
                    <a:lstStyle/>
                    <a:p>
                      <a:pPr indent="0" lvl="0" marL="0" marR="0" rtl="0" algn="l">
                        <a:spcBef>
                          <a:spcPts val="0"/>
                        </a:spcBef>
                        <a:spcAft>
                          <a:spcPts val="0"/>
                        </a:spcAft>
                        <a:buNone/>
                      </a:pPr>
                      <a:r>
                        <a:rPr b="1" i="0" lang="en-US" sz="1350" u="none" cap="none" strike="noStrike">
                          <a:solidFill>
                            <a:srgbClr val="CBD5E1"/>
                          </a:solidFill>
                          <a:latin typeface="Inter"/>
                          <a:ea typeface="Inter"/>
                          <a:cs typeface="Inter"/>
                          <a:sym typeface="Inter"/>
                        </a:rPr>
                        <a:t>Cơ chế hoạt động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666666"/>
                    </a:solidFill>
                  </a:tcPr>
                </a:tc>
                <a:tc>
                  <a:txBody>
                    <a:bodyPr/>
                    <a:lstStyle/>
                    <a:p>
                      <a:pPr indent="0" lvl="0" marL="0" marR="0" rtl="0" algn="l">
                        <a:spcBef>
                          <a:spcPts val="0"/>
                        </a:spcBef>
                        <a:spcAft>
                          <a:spcPts val="0"/>
                        </a:spcAft>
                        <a:buNone/>
                      </a:pPr>
                      <a:r>
                        <a:rPr b="0" i="0" lang="en-US" sz="1350" u="none" cap="none" strike="noStrike">
                          <a:solidFill>
                            <a:srgbClr val="CBD5E1"/>
                          </a:solidFill>
                          <a:latin typeface="Inter"/>
                          <a:ea typeface="Inter"/>
                          <a:cs typeface="Inter"/>
                          <a:sym typeface="Inter"/>
                        </a:rPr>
                        <a:t>Dựa trên quy tắc (Rule-based) lập trình sẵn.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666666"/>
                    </a:solidFill>
                  </a:tcPr>
                </a:tc>
                <a:tc>
                  <a:txBody>
                    <a:bodyPr/>
                    <a:lstStyle/>
                    <a:p>
                      <a:pPr indent="0" lvl="0" marL="0" marR="0" rtl="0" algn="l">
                        <a:spcBef>
                          <a:spcPts val="0"/>
                        </a:spcBef>
                        <a:spcAft>
                          <a:spcPts val="0"/>
                        </a:spcAft>
                        <a:buNone/>
                      </a:pPr>
                      <a:r>
                        <a:rPr b="0" i="0" lang="en-US" sz="1350" u="none" cap="none" strike="noStrike">
                          <a:solidFill>
                            <a:srgbClr val="CBD5E1"/>
                          </a:solidFill>
                          <a:latin typeface="Inter"/>
                          <a:ea typeface="Inter"/>
                          <a:cs typeface="Inter"/>
                          <a:sym typeface="Inter"/>
                        </a:rPr>
                        <a:t>Phân tích, suy luận và tạo nội dung mới (Context-aware).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666666"/>
                    </a:solidFill>
                  </a:tcPr>
                </a:tc>
              </a:tr>
              <a:tr h="784825">
                <a:tc>
                  <a:txBody>
                    <a:bodyPr/>
                    <a:lstStyle/>
                    <a:p>
                      <a:pPr indent="0" lvl="0" marL="0" marR="0" rtl="0" algn="l">
                        <a:spcBef>
                          <a:spcPts val="0"/>
                        </a:spcBef>
                        <a:spcAft>
                          <a:spcPts val="0"/>
                        </a:spcAft>
                        <a:buNone/>
                      </a:pPr>
                      <a:r>
                        <a:rPr b="1" i="0" lang="en-US" sz="1350" u="none" cap="none" strike="noStrike">
                          <a:solidFill>
                            <a:srgbClr val="CBD5E1"/>
                          </a:solidFill>
                          <a:latin typeface="Inter"/>
                          <a:ea typeface="Inter"/>
                          <a:cs typeface="Inter"/>
                          <a:sym typeface="Inter"/>
                        </a:rPr>
                        <a:t>Phạm vi xử lý</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666666"/>
                    </a:solidFill>
                  </a:tcPr>
                </a:tc>
                <a:tc>
                  <a:txBody>
                    <a:bodyPr/>
                    <a:lstStyle/>
                    <a:p>
                      <a:pPr indent="0" lvl="0" marL="0" marR="0" rtl="0" algn="l">
                        <a:spcBef>
                          <a:spcPts val="0"/>
                        </a:spcBef>
                        <a:spcAft>
                          <a:spcPts val="0"/>
                        </a:spcAft>
                        <a:buNone/>
                      </a:pPr>
                      <a:r>
                        <a:rPr b="0" i="0" lang="en-US" sz="1350" u="none" cap="none" strike="noStrike">
                          <a:solidFill>
                            <a:srgbClr val="CBD5E1"/>
                          </a:solidFill>
                          <a:latin typeface="Inter"/>
                          <a:ea typeface="Inter"/>
                          <a:cs typeface="Inter"/>
                          <a:sym typeface="Inter"/>
                        </a:rPr>
                        <a:t>Chỉ xử lý các kịch bản đã biết trước.</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666666"/>
                    </a:solidFill>
                  </a:tcPr>
                </a:tc>
                <a:tc>
                  <a:txBody>
                    <a:bodyPr/>
                    <a:lstStyle/>
                    <a:p>
                      <a:pPr indent="0" lvl="0" marL="0" marR="0" rtl="0" algn="l">
                        <a:spcBef>
                          <a:spcPts val="0"/>
                        </a:spcBef>
                        <a:spcAft>
                          <a:spcPts val="0"/>
                        </a:spcAft>
                        <a:buNone/>
                      </a:pPr>
                      <a:r>
                        <a:rPr b="0" i="0" lang="en-US" sz="1350" u="none" cap="none" strike="noStrike">
                          <a:solidFill>
                            <a:srgbClr val="CBD5E1"/>
                          </a:solidFill>
                          <a:latin typeface="Inter"/>
                          <a:ea typeface="Inter"/>
                          <a:cs typeface="Inter"/>
                          <a:sym typeface="Inter"/>
                        </a:rPr>
                        <a:t>Xử lý các tình huống mới, chưa từng gặp.</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666666"/>
                    </a:solidFill>
                  </a:tcPr>
                </a:tc>
              </a:tr>
              <a:tr h="784825">
                <a:tc>
                  <a:txBody>
                    <a:bodyPr/>
                    <a:lstStyle/>
                    <a:p>
                      <a:pPr indent="0" lvl="0" marL="0" marR="0" rtl="0" algn="l">
                        <a:spcBef>
                          <a:spcPts val="0"/>
                        </a:spcBef>
                        <a:spcAft>
                          <a:spcPts val="0"/>
                        </a:spcAft>
                        <a:buNone/>
                      </a:pPr>
                      <a:r>
                        <a:rPr b="1" i="0" lang="en-US" sz="1350" u="none" cap="none" strike="noStrike">
                          <a:solidFill>
                            <a:srgbClr val="CBD5E1"/>
                          </a:solidFill>
                          <a:latin typeface="Inter"/>
                          <a:ea typeface="Inter"/>
                          <a:cs typeface="Inter"/>
                          <a:sym typeface="Inter"/>
                        </a:rPr>
                        <a:t>Ứng dụng chính</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666666"/>
                    </a:solidFill>
                  </a:tcPr>
                </a:tc>
                <a:tc>
                  <a:txBody>
                    <a:bodyPr/>
                    <a:lstStyle/>
                    <a:p>
                      <a:pPr indent="0" lvl="0" marL="0" marR="0" rtl="0" algn="l">
                        <a:spcBef>
                          <a:spcPts val="0"/>
                        </a:spcBef>
                        <a:spcAft>
                          <a:spcPts val="0"/>
                        </a:spcAft>
                        <a:buNone/>
                      </a:pPr>
                      <a:r>
                        <a:rPr b="0" i="0" lang="en-US" sz="1350" u="none" cap="none" strike="noStrike">
                          <a:solidFill>
                            <a:srgbClr val="CBD5E1"/>
                          </a:solidFill>
                          <a:latin typeface="Inter"/>
                          <a:ea typeface="Inter"/>
                          <a:cs typeface="Inter"/>
                          <a:sym typeface="Inter"/>
                        </a:rPr>
                        <a:t>Build, Auto-test, Deploy (Jenkins, Git Actions).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666666"/>
                    </a:solidFill>
                  </a:tcPr>
                </a:tc>
                <a:tc>
                  <a:txBody>
                    <a:bodyPr/>
                    <a:lstStyle/>
                    <a:p>
                      <a:pPr indent="0" lvl="0" marL="0" marR="0" rtl="0" algn="l">
                        <a:spcBef>
                          <a:spcPts val="0"/>
                        </a:spcBef>
                        <a:spcAft>
                          <a:spcPts val="0"/>
                        </a:spcAft>
                        <a:buNone/>
                      </a:pPr>
                      <a:r>
                        <a:rPr b="0" i="0" lang="en-US" sz="1350" u="none" cap="none" strike="noStrike">
                          <a:solidFill>
                            <a:srgbClr val="CBD5E1"/>
                          </a:solidFill>
                          <a:latin typeface="Inter"/>
                          <a:ea typeface="Inter"/>
                          <a:cs typeface="Inter"/>
                          <a:sym typeface="Inter"/>
                        </a:rPr>
                        <a:t>Sinh code, giải thích thuật toán, refactor code.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666666"/>
                    </a:solidFill>
                  </a:tcPr>
                </a:tc>
              </a:tr>
              <a:tr h="784825">
                <a:tc>
                  <a:txBody>
                    <a:bodyPr/>
                    <a:lstStyle/>
                    <a:p>
                      <a:pPr indent="0" lvl="0" marL="0" marR="0" rtl="0" algn="l">
                        <a:spcBef>
                          <a:spcPts val="0"/>
                        </a:spcBef>
                        <a:spcAft>
                          <a:spcPts val="0"/>
                        </a:spcAft>
                        <a:buNone/>
                      </a:pPr>
                      <a:r>
                        <a:rPr b="1" i="0" lang="en-US" sz="1350" u="none" cap="none" strike="noStrike">
                          <a:solidFill>
                            <a:srgbClr val="CBD5E1"/>
                          </a:solidFill>
                          <a:latin typeface="Inter"/>
                          <a:ea typeface="Inter"/>
                          <a:cs typeface="Inter"/>
                          <a:sym typeface="Inter"/>
                        </a:rPr>
                        <a:t>Hạn chế</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666666"/>
                    </a:solidFill>
                  </a:tcPr>
                </a:tc>
                <a:tc>
                  <a:txBody>
                    <a:bodyPr/>
                    <a:lstStyle/>
                    <a:p>
                      <a:pPr indent="0" lvl="0" marL="0" marR="0" rtl="0" algn="l">
                        <a:spcBef>
                          <a:spcPts val="0"/>
                        </a:spcBef>
                        <a:spcAft>
                          <a:spcPts val="0"/>
                        </a:spcAft>
                        <a:buNone/>
                      </a:pPr>
                      <a:r>
                        <a:rPr b="0" i="0" lang="en-US" sz="1350" u="none" cap="none" strike="noStrike">
                          <a:solidFill>
                            <a:srgbClr val="CBD5E1"/>
                          </a:solidFill>
                          <a:latin typeface="Inter"/>
                          <a:ea typeface="Inter"/>
                          <a:cs typeface="Inter"/>
                          <a:sym typeface="Inter"/>
                        </a:rPr>
                        <a:t>Không hiểu ngữ cảnh logic của phần mềm.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666666"/>
                    </a:solidFill>
                  </a:tcPr>
                </a:tc>
                <a:tc>
                  <a:txBody>
                    <a:bodyPr/>
                    <a:lstStyle/>
                    <a:p>
                      <a:pPr indent="0" lvl="0" marL="0" marR="0" rtl="0" algn="l">
                        <a:spcBef>
                          <a:spcPts val="0"/>
                        </a:spcBef>
                        <a:spcAft>
                          <a:spcPts val="0"/>
                        </a:spcAft>
                        <a:buNone/>
                      </a:pPr>
                      <a:r>
                        <a:rPr b="0" i="0" lang="en-US" sz="1350" u="none" cap="none" strike="noStrike">
                          <a:solidFill>
                            <a:srgbClr val="CBD5E1"/>
                          </a:solidFill>
                          <a:latin typeface="Inter"/>
                          <a:ea typeface="Inter"/>
                          <a:cs typeface="Inter"/>
                          <a:sym typeface="Inter"/>
                        </a:rPr>
                        <a:t>Có thể sinh code sai (hallucination), cần review.</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666666"/>
                    </a:solidFill>
                  </a:tcPr>
                </a:tc>
              </a:tr>
            </a:tbl>
          </a:graphicData>
        </a:graphic>
      </p:graphicFrame>
      <p:sp>
        <p:nvSpPr>
          <p:cNvPr id="140" name="Google Shape;140;p17"/>
          <p:cNvSpPr/>
          <p:nvPr/>
        </p:nvSpPr>
        <p:spPr>
          <a:xfrm>
            <a:off x="581025" y="2847082"/>
            <a:ext cx="1817700" cy="960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1" name="Google Shape;141;p17"/>
          <p:cNvSpPr/>
          <p:nvPr/>
        </p:nvSpPr>
        <p:spPr>
          <a:xfrm>
            <a:off x="2398662" y="2847082"/>
            <a:ext cx="4222200" cy="960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2" name="Google Shape;142;p17"/>
          <p:cNvSpPr/>
          <p:nvPr/>
        </p:nvSpPr>
        <p:spPr>
          <a:xfrm>
            <a:off x="6620767" y="2847082"/>
            <a:ext cx="4990200" cy="960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3" name="Google Shape;143;p17"/>
          <p:cNvSpPr/>
          <p:nvPr/>
        </p:nvSpPr>
        <p:spPr>
          <a:xfrm>
            <a:off x="581025" y="3786187"/>
            <a:ext cx="1817700" cy="960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4" name="Google Shape;144;p17"/>
          <p:cNvSpPr/>
          <p:nvPr/>
        </p:nvSpPr>
        <p:spPr>
          <a:xfrm>
            <a:off x="2398662" y="3786187"/>
            <a:ext cx="4222200" cy="960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5" name="Google Shape;145;p17"/>
          <p:cNvSpPr/>
          <p:nvPr/>
        </p:nvSpPr>
        <p:spPr>
          <a:xfrm>
            <a:off x="6620767" y="3786187"/>
            <a:ext cx="4990200" cy="960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6" name="Google Shape;146;p17"/>
          <p:cNvSpPr/>
          <p:nvPr/>
        </p:nvSpPr>
        <p:spPr>
          <a:xfrm>
            <a:off x="581025" y="4451002"/>
            <a:ext cx="1817700" cy="960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7" name="Google Shape;147;p17"/>
          <p:cNvSpPr/>
          <p:nvPr/>
        </p:nvSpPr>
        <p:spPr>
          <a:xfrm>
            <a:off x="2398662" y="4451002"/>
            <a:ext cx="4222200" cy="960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8" name="Google Shape;148;p17"/>
          <p:cNvSpPr/>
          <p:nvPr/>
        </p:nvSpPr>
        <p:spPr>
          <a:xfrm>
            <a:off x="6620767" y="4451002"/>
            <a:ext cx="4990200" cy="960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9" name="Google Shape;149;p17"/>
          <p:cNvSpPr/>
          <p:nvPr/>
        </p:nvSpPr>
        <p:spPr>
          <a:xfrm>
            <a:off x="581025" y="5115817"/>
            <a:ext cx="1817700" cy="960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0" name="Google Shape;150;p17"/>
          <p:cNvSpPr/>
          <p:nvPr/>
        </p:nvSpPr>
        <p:spPr>
          <a:xfrm>
            <a:off x="2398662" y="5115817"/>
            <a:ext cx="4222200" cy="960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1" name="Google Shape;151;p17"/>
          <p:cNvSpPr/>
          <p:nvPr/>
        </p:nvSpPr>
        <p:spPr>
          <a:xfrm>
            <a:off x="6620767" y="5115817"/>
            <a:ext cx="4990200" cy="960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2" name="Google Shape;152;p17"/>
          <p:cNvSpPr txBox="1"/>
          <p:nvPr/>
        </p:nvSpPr>
        <p:spPr>
          <a:xfrm>
            <a:off x="581025" y="485775"/>
            <a:ext cx="11581447" cy="502890"/>
          </a:xfrm>
          <a:prstGeom prst="rect">
            <a:avLst/>
          </a:prstGeom>
          <a:noFill/>
          <a:ln>
            <a:noFill/>
          </a:ln>
        </p:spPr>
        <p:txBody>
          <a:bodyPr anchorCtr="0" anchor="ctr" bIns="0" lIns="0" spcFirstLastPara="1" rIns="0" wrap="square" tIns="0">
            <a:spAutoFit/>
          </a:bodyPr>
          <a:lstStyle/>
          <a:p>
            <a:pPr indent="0" lvl="0" marL="0" marR="0" rtl="0" algn="l">
              <a:lnSpc>
                <a:spcPct val="119969"/>
              </a:lnSpc>
              <a:spcBef>
                <a:spcPts val="0"/>
              </a:spcBef>
              <a:spcAft>
                <a:spcPts val="0"/>
              </a:spcAft>
              <a:buNone/>
            </a:pPr>
            <a:r>
              <a:rPr b="0" i="0" lang="en-US" sz="3300" u="none" cap="none" strike="noStrike">
                <a:solidFill>
                  <a:srgbClr val="F8FAFC"/>
                </a:solidFill>
                <a:latin typeface="Space Grotesk SemiBold"/>
                <a:ea typeface="Space Grotesk SemiBold"/>
                <a:cs typeface="Space Grotesk SemiBold"/>
                <a:sym typeface="Space Grotesk SemiBold"/>
              </a:rPr>
              <a:t>Sự Tiến Hóa Của Tự Động Hóa</a:t>
            </a:r>
            <a:endParaRPr/>
          </a:p>
        </p:txBody>
      </p:sp>
      <p:sp>
        <p:nvSpPr>
          <p:cNvPr id="153" name="Google Shape;153;p17"/>
          <p:cNvSpPr/>
          <p:nvPr/>
        </p:nvSpPr>
        <p:spPr>
          <a:xfrm>
            <a:off x="581025" y="988665"/>
            <a:ext cx="57150" cy="381000"/>
          </a:xfrm>
          <a:prstGeom prst="roundRect">
            <a:avLst>
              <a:gd fmla="val 50000" name="adj"/>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57" name="Shape 157"/>
        <p:cNvGrpSpPr/>
        <p:nvPr/>
      </p:nvGrpSpPr>
      <p:grpSpPr>
        <a:xfrm>
          <a:off x="0" y="0"/>
          <a:ext cx="0" cy="0"/>
          <a:chOff x="0" y="0"/>
          <a:chExt cx="0" cy="0"/>
        </a:xfrm>
      </p:grpSpPr>
      <p:pic>
        <p:nvPicPr>
          <p:cNvPr descr="image.png" id="158" name="Google Shape;158;p1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59" name="Google Shape;159;p18"/>
          <p:cNvSpPr txBox="1"/>
          <p:nvPr/>
        </p:nvSpPr>
        <p:spPr>
          <a:xfrm>
            <a:off x="581025" y="1274415"/>
            <a:ext cx="11029950" cy="27429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SDLC là quy trình đảm bảo phần mềm được xây dựng có hệ thống, đạt chất lượng cao.</a:t>
            </a:r>
            <a:endParaRPr/>
          </a:p>
        </p:txBody>
      </p:sp>
      <p:sp>
        <p:nvSpPr>
          <p:cNvPr id="160" name="Google Shape;160;p18"/>
          <p:cNvSpPr/>
          <p:nvPr/>
        </p:nvSpPr>
        <p:spPr>
          <a:xfrm>
            <a:off x="581025" y="4036665"/>
            <a:ext cx="11029950" cy="3810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1" name="Google Shape;161;p18"/>
          <p:cNvSpPr txBox="1"/>
          <p:nvPr/>
        </p:nvSpPr>
        <p:spPr>
          <a:xfrm>
            <a:off x="520362" y="4579590"/>
            <a:ext cx="2547818" cy="31998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2100" u="none" cap="none" strike="noStrike">
                <a:solidFill>
                  <a:srgbClr val="38BDF8"/>
                </a:solidFill>
                <a:latin typeface="Space Grotesk SemiBold"/>
                <a:ea typeface="Space Grotesk SemiBold"/>
                <a:cs typeface="Space Grotesk SemiBold"/>
                <a:sym typeface="Space Grotesk SemiBold"/>
              </a:rPr>
              <a:t>1. Phân Tích</a:t>
            </a:r>
            <a:endParaRPr/>
          </a:p>
        </p:txBody>
      </p:sp>
      <p:sp>
        <p:nvSpPr>
          <p:cNvPr id="162" name="Google Shape;162;p18"/>
          <p:cNvSpPr txBox="1"/>
          <p:nvPr/>
        </p:nvSpPr>
        <p:spPr>
          <a:xfrm>
            <a:off x="581025" y="5042445"/>
            <a:ext cx="2426493" cy="5485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Xác định yêu cầu chức năng &amp; phi chức năng.</a:t>
            </a:r>
            <a:endParaRPr/>
          </a:p>
        </p:txBody>
      </p:sp>
      <p:sp>
        <p:nvSpPr>
          <p:cNvPr id="163" name="Google Shape;163;p18"/>
          <p:cNvSpPr txBox="1"/>
          <p:nvPr/>
        </p:nvSpPr>
        <p:spPr>
          <a:xfrm>
            <a:off x="3388131" y="2853779"/>
            <a:ext cx="2547818" cy="31998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2100" u="none" cap="none" strike="noStrike">
                <a:solidFill>
                  <a:srgbClr val="38BDF8"/>
                </a:solidFill>
                <a:latin typeface="Space Grotesk SemiBold"/>
                <a:ea typeface="Space Grotesk SemiBold"/>
                <a:cs typeface="Space Grotesk SemiBold"/>
                <a:sym typeface="Space Grotesk SemiBold"/>
              </a:rPr>
              <a:t>2. Thiết Kế</a:t>
            </a:r>
            <a:endParaRPr/>
          </a:p>
        </p:txBody>
      </p:sp>
      <p:sp>
        <p:nvSpPr>
          <p:cNvPr id="164" name="Google Shape;164;p18"/>
          <p:cNvSpPr txBox="1"/>
          <p:nvPr/>
        </p:nvSpPr>
        <p:spPr>
          <a:xfrm>
            <a:off x="3448794" y="3316634"/>
            <a:ext cx="2426493" cy="5485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Kiến trúc hệ thống, cấu trúc dữ liệu, UML.</a:t>
            </a:r>
            <a:endParaRPr/>
          </a:p>
        </p:txBody>
      </p:sp>
      <p:sp>
        <p:nvSpPr>
          <p:cNvPr id="165" name="Google Shape;165;p18"/>
          <p:cNvSpPr txBox="1"/>
          <p:nvPr/>
        </p:nvSpPr>
        <p:spPr>
          <a:xfrm>
            <a:off x="6255900" y="4579590"/>
            <a:ext cx="2547818" cy="31998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2100" u="none" cap="none" strike="noStrike">
                <a:solidFill>
                  <a:srgbClr val="38BDF8"/>
                </a:solidFill>
                <a:latin typeface="Space Grotesk SemiBold"/>
                <a:ea typeface="Space Grotesk SemiBold"/>
                <a:cs typeface="Space Grotesk SemiBold"/>
                <a:sym typeface="Space Grotesk SemiBold"/>
              </a:rPr>
              <a:t>3. Lập Trình</a:t>
            </a:r>
            <a:endParaRPr/>
          </a:p>
        </p:txBody>
      </p:sp>
      <p:sp>
        <p:nvSpPr>
          <p:cNvPr id="166" name="Google Shape;166;p18"/>
          <p:cNvSpPr txBox="1"/>
          <p:nvPr/>
        </p:nvSpPr>
        <p:spPr>
          <a:xfrm>
            <a:off x="6316563" y="5042445"/>
            <a:ext cx="2426493" cy="5485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Chuyển đổi thiết kế thành mã nguồn cụ thể.</a:t>
            </a:r>
            <a:endParaRPr/>
          </a:p>
        </p:txBody>
      </p:sp>
      <p:sp>
        <p:nvSpPr>
          <p:cNvPr id="167" name="Google Shape;167;p18"/>
          <p:cNvSpPr txBox="1"/>
          <p:nvPr/>
        </p:nvSpPr>
        <p:spPr>
          <a:xfrm>
            <a:off x="9123670" y="2853779"/>
            <a:ext cx="2547818" cy="31998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2100" u="none" cap="none" strike="noStrike">
                <a:solidFill>
                  <a:srgbClr val="38BDF8"/>
                </a:solidFill>
                <a:latin typeface="Space Grotesk SemiBold"/>
                <a:ea typeface="Space Grotesk SemiBold"/>
                <a:cs typeface="Space Grotesk SemiBold"/>
                <a:sym typeface="Space Grotesk SemiBold"/>
              </a:rPr>
              <a:t>4. Kiểm Thử</a:t>
            </a:r>
            <a:endParaRPr/>
          </a:p>
        </p:txBody>
      </p:sp>
      <p:sp>
        <p:nvSpPr>
          <p:cNvPr id="168" name="Google Shape;168;p18"/>
          <p:cNvSpPr txBox="1"/>
          <p:nvPr/>
        </p:nvSpPr>
        <p:spPr>
          <a:xfrm>
            <a:off x="9184332" y="3316634"/>
            <a:ext cx="2426493" cy="5485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Đảm bảo hoạt động đúng yêu cầu (Unit/Integration Test).</a:t>
            </a:r>
            <a:endParaRPr/>
          </a:p>
        </p:txBody>
      </p:sp>
      <p:sp>
        <p:nvSpPr>
          <p:cNvPr id="169" name="Google Shape;169;p18"/>
          <p:cNvSpPr txBox="1"/>
          <p:nvPr/>
        </p:nvSpPr>
        <p:spPr>
          <a:xfrm>
            <a:off x="581025" y="485775"/>
            <a:ext cx="11581447" cy="502890"/>
          </a:xfrm>
          <a:prstGeom prst="rect">
            <a:avLst/>
          </a:prstGeom>
          <a:noFill/>
          <a:ln>
            <a:noFill/>
          </a:ln>
        </p:spPr>
        <p:txBody>
          <a:bodyPr anchorCtr="0" anchor="ctr" bIns="0" lIns="0" spcFirstLastPara="1" rIns="0" wrap="square" tIns="0">
            <a:spAutoFit/>
          </a:bodyPr>
          <a:lstStyle/>
          <a:p>
            <a:pPr indent="0" lvl="0" marL="0" marR="0" rtl="0" algn="l">
              <a:lnSpc>
                <a:spcPct val="119969"/>
              </a:lnSpc>
              <a:spcBef>
                <a:spcPts val="0"/>
              </a:spcBef>
              <a:spcAft>
                <a:spcPts val="0"/>
              </a:spcAft>
              <a:buNone/>
            </a:pPr>
            <a:r>
              <a:rPr b="0" i="0" lang="en-US" sz="3300" u="none" cap="none" strike="noStrike">
                <a:solidFill>
                  <a:srgbClr val="F8FAFC"/>
                </a:solidFill>
                <a:latin typeface="Space Grotesk SemiBold"/>
                <a:ea typeface="Space Grotesk SemiBold"/>
                <a:cs typeface="Space Grotesk SemiBold"/>
                <a:sym typeface="Space Grotesk SemiBold"/>
              </a:rPr>
              <a:t>Chu Kỳ Phát Triển Phần Mềm (SDLC)</a:t>
            </a:r>
            <a:endParaRPr/>
          </a:p>
        </p:txBody>
      </p:sp>
      <p:sp>
        <p:nvSpPr>
          <p:cNvPr id="170" name="Google Shape;170;p18"/>
          <p:cNvSpPr/>
          <p:nvPr/>
        </p:nvSpPr>
        <p:spPr>
          <a:xfrm>
            <a:off x="581025" y="988665"/>
            <a:ext cx="57150" cy="381000"/>
          </a:xfrm>
          <a:prstGeom prst="roundRect">
            <a:avLst>
              <a:gd fmla="val 50000" name="adj"/>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1" name="Google Shape;171;p18"/>
          <p:cNvSpPr/>
          <p:nvPr/>
        </p:nvSpPr>
        <p:spPr>
          <a:xfrm>
            <a:off x="1699021" y="4198590"/>
            <a:ext cx="190500" cy="190500"/>
          </a:xfrm>
          <a:prstGeom prst="roundRect">
            <a:avLst>
              <a:gd fmla="val 50000" name="adj"/>
            </a:avLst>
          </a:prstGeom>
          <a:solidFill>
            <a:srgbClr val="0F172A"/>
          </a:solidFill>
          <a:ln cap="flat" cmpd="sng" w="38100">
            <a:solidFill>
              <a:srgbClr val="38BDF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2" name="Google Shape;172;p18"/>
          <p:cNvSpPr/>
          <p:nvPr/>
        </p:nvSpPr>
        <p:spPr>
          <a:xfrm>
            <a:off x="4566791" y="4198590"/>
            <a:ext cx="190500" cy="190500"/>
          </a:xfrm>
          <a:prstGeom prst="roundRect">
            <a:avLst>
              <a:gd fmla="val 50000" name="adj"/>
            </a:avLst>
          </a:prstGeom>
          <a:solidFill>
            <a:srgbClr val="0F172A"/>
          </a:solidFill>
          <a:ln cap="flat" cmpd="sng" w="38100">
            <a:solidFill>
              <a:srgbClr val="38BDF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3" name="Google Shape;173;p18"/>
          <p:cNvSpPr/>
          <p:nvPr/>
        </p:nvSpPr>
        <p:spPr>
          <a:xfrm>
            <a:off x="7434560" y="4198590"/>
            <a:ext cx="190500" cy="190500"/>
          </a:xfrm>
          <a:prstGeom prst="roundRect">
            <a:avLst>
              <a:gd fmla="val 50000" name="adj"/>
            </a:avLst>
          </a:prstGeom>
          <a:solidFill>
            <a:srgbClr val="0F172A"/>
          </a:solidFill>
          <a:ln cap="flat" cmpd="sng" w="38100">
            <a:solidFill>
              <a:srgbClr val="38BDF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4" name="Google Shape;174;p18"/>
          <p:cNvSpPr/>
          <p:nvPr/>
        </p:nvSpPr>
        <p:spPr>
          <a:xfrm>
            <a:off x="10302329" y="4198590"/>
            <a:ext cx="190500" cy="190500"/>
          </a:xfrm>
          <a:prstGeom prst="roundRect">
            <a:avLst>
              <a:gd fmla="val 50000" name="adj"/>
            </a:avLst>
          </a:prstGeom>
          <a:solidFill>
            <a:srgbClr val="0F172A"/>
          </a:solidFill>
          <a:ln cap="flat" cmpd="sng" w="38100">
            <a:solidFill>
              <a:srgbClr val="38BDF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78" name="Shape 178"/>
        <p:cNvGrpSpPr/>
        <p:nvPr/>
      </p:nvGrpSpPr>
      <p:grpSpPr>
        <a:xfrm>
          <a:off x="0" y="0"/>
          <a:ext cx="0" cy="0"/>
          <a:chOff x="0" y="0"/>
          <a:chExt cx="0" cy="0"/>
        </a:xfrm>
      </p:grpSpPr>
      <p:pic>
        <p:nvPicPr>
          <p:cNvPr descr="image.png" id="179" name="Google Shape;179;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80" name="Google Shape;180;p19"/>
          <p:cNvPicPr preferRelativeResize="0"/>
          <p:nvPr/>
        </p:nvPicPr>
        <p:blipFill rotWithShape="1">
          <a:blip r:embed="rId4">
            <a:alphaModFix/>
          </a:blip>
          <a:srcRect b="0" l="0" r="0" t="0"/>
          <a:stretch/>
        </p:blipFill>
        <p:spPr>
          <a:xfrm>
            <a:off x="581025" y="2228850"/>
            <a:ext cx="3486150" cy="3188791"/>
          </a:xfrm>
          <a:prstGeom prst="rect">
            <a:avLst/>
          </a:prstGeom>
          <a:noFill/>
          <a:ln>
            <a:noFill/>
          </a:ln>
        </p:spPr>
      </p:pic>
      <p:pic>
        <p:nvPicPr>
          <p:cNvPr descr="image.png" id="181" name="Google Shape;181;p19"/>
          <p:cNvPicPr preferRelativeResize="0"/>
          <p:nvPr/>
        </p:nvPicPr>
        <p:blipFill rotWithShape="1">
          <a:blip r:embed="rId5">
            <a:alphaModFix/>
          </a:blip>
          <a:srcRect b="0" l="0" r="0" t="0"/>
          <a:stretch/>
        </p:blipFill>
        <p:spPr>
          <a:xfrm>
            <a:off x="4352925" y="2228850"/>
            <a:ext cx="3486150" cy="3188791"/>
          </a:xfrm>
          <a:prstGeom prst="rect">
            <a:avLst/>
          </a:prstGeom>
          <a:noFill/>
          <a:ln>
            <a:noFill/>
          </a:ln>
        </p:spPr>
      </p:pic>
      <p:pic>
        <p:nvPicPr>
          <p:cNvPr descr="image.png" id="182" name="Google Shape;182;p19"/>
          <p:cNvPicPr preferRelativeResize="0"/>
          <p:nvPr/>
        </p:nvPicPr>
        <p:blipFill rotWithShape="1">
          <a:blip r:embed="rId6">
            <a:alphaModFix/>
          </a:blip>
          <a:srcRect b="0" l="0" r="0" t="0"/>
          <a:stretch/>
        </p:blipFill>
        <p:spPr>
          <a:xfrm>
            <a:off x="8124825" y="2228850"/>
            <a:ext cx="3486150" cy="3188791"/>
          </a:xfrm>
          <a:prstGeom prst="rect">
            <a:avLst/>
          </a:prstGeom>
          <a:noFill/>
          <a:ln>
            <a:noFill/>
          </a:ln>
        </p:spPr>
      </p:pic>
      <p:pic>
        <p:nvPicPr>
          <p:cNvPr descr="image.png" id="183" name="Google Shape;183;p19"/>
          <p:cNvPicPr preferRelativeResize="0"/>
          <p:nvPr/>
        </p:nvPicPr>
        <p:blipFill rotWithShape="1">
          <a:blip r:embed="rId7">
            <a:alphaModFix/>
          </a:blip>
          <a:srcRect b="0" l="0" r="0" t="0"/>
          <a:stretch/>
        </p:blipFill>
        <p:spPr>
          <a:xfrm>
            <a:off x="876300" y="2524125"/>
            <a:ext cx="628650" cy="704850"/>
          </a:xfrm>
          <a:prstGeom prst="rect">
            <a:avLst/>
          </a:prstGeom>
          <a:noFill/>
          <a:ln>
            <a:noFill/>
          </a:ln>
        </p:spPr>
      </p:pic>
      <p:sp>
        <p:nvSpPr>
          <p:cNvPr id="184" name="Google Shape;184;p19"/>
          <p:cNvSpPr txBox="1"/>
          <p:nvPr/>
        </p:nvSpPr>
        <p:spPr>
          <a:xfrm>
            <a:off x="876300" y="3419475"/>
            <a:ext cx="2680335" cy="3199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38BDF8"/>
                </a:solidFill>
                <a:latin typeface="Space Grotesk SemiBold"/>
                <a:ea typeface="Space Grotesk SemiBold"/>
                <a:cs typeface="Space Grotesk SemiBold"/>
                <a:sym typeface="Space Grotesk SemiBold"/>
              </a:rPr>
              <a:t>Phân Tích &amp; Thiết Kế</a:t>
            </a:r>
            <a:endParaRPr/>
          </a:p>
        </p:txBody>
      </p:sp>
      <p:sp>
        <p:nvSpPr>
          <p:cNvPr id="185" name="Google Shape;185;p19"/>
          <p:cNvSpPr txBox="1"/>
          <p:nvPr/>
        </p:nvSpPr>
        <p:spPr>
          <a:xfrm>
            <a:off x="876300" y="3882330"/>
            <a:ext cx="2895600" cy="1097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Tóm tắt yêu cầu bằng ngôn ngữ tự nhiên thành đặc tả cấu trúc. Gợi ý Design Patterns và tạo sơ đồ UML tự động.</a:t>
            </a:r>
            <a:endParaRPr/>
          </a:p>
        </p:txBody>
      </p:sp>
      <p:pic>
        <p:nvPicPr>
          <p:cNvPr descr="image.png" id="186" name="Google Shape;186;p19"/>
          <p:cNvPicPr preferRelativeResize="0"/>
          <p:nvPr/>
        </p:nvPicPr>
        <p:blipFill rotWithShape="1">
          <a:blip r:embed="rId8">
            <a:alphaModFix/>
          </a:blip>
          <a:srcRect b="0" l="0" r="0" t="0"/>
          <a:stretch/>
        </p:blipFill>
        <p:spPr>
          <a:xfrm>
            <a:off x="4648200" y="2524125"/>
            <a:ext cx="714375" cy="704850"/>
          </a:xfrm>
          <a:prstGeom prst="rect">
            <a:avLst/>
          </a:prstGeom>
          <a:noFill/>
          <a:ln>
            <a:noFill/>
          </a:ln>
        </p:spPr>
      </p:pic>
      <p:sp>
        <p:nvSpPr>
          <p:cNvPr id="187" name="Google Shape;187;p19"/>
          <p:cNvSpPr txBox="1"/>
          <p:nvPr/>
        </p:nvSpPr>
        <p:spPr>
          <a:xfrm>
            <a:off x="4648200" y="3419475"/>
            <a:ext cx="2450306" cy="3199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38BDF8"/>
                </a:solidFill>
                <a:latin typeface="Space Grotesk SemiBold"/>
                <a:ea typeface="Space Grotesk SemiBold"/>
                <a:cs typeface="Space Grotesk SemiBold"/>
                <a:sym typeface="Space Grotesk SemiBold"/>
              </a:rPr>
              <a:t>Lập Trình (Coding)</a:t>
            </a:r>
            <a:endParaRPr/>
          </a:p>
        </p:txBody>
      </p:sp>
      <p:sp>
        <p:nvSpPr>
          <p:cNvPr id="188" name="Google Shape;188;p19"/>
          <p:cNvSpPr txBox="1"/>
          <p:nvPr/>
        </p:nvSpPr>
        <p:spPr>
          <a:xfrm>
            <a:off x="4648200" y="3882330"/>
            <a:ext cx="2895600"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Tự động gợi ý mã nguồn theo thời gian thực, sinh hàm từ mô tả text, giải thích code kế thừa phức tạp.</a:t>
            </a:r>
            <a:endParaRPr/>
          </a:p>
        </p:txBody>
      </p:sp>
      <p:pic>
        <p:nvPicPr>
          <p:cNvPr descr="image.png" id="189" name="Google Shape;189;p19"/>
          <p:cNvPicPr preferRelativeResize="0"/>
          <p:nvPr/>
        </p:nvPicPr>
        <p:blipFill rotWithShape="1">
          <a:blip r:embed="rId9">
            <a:alphaModFix/>
          </a:blip>
          <a:srcRect b="0" l="0" r="0" t="0"/>
          <a:stretch/>
        </p:blipFill>
        <p:spPr>
          <a:xfrm>
            <a:off x="8420100" y="2524125"/>
            <a:ext cx="714375" cy="704850"/>
          </a:xfrm>
          <a:prstGeom prst="rect">
            <a:avLst/>
          </a:prstGeom>
          <a:noFill/>
          <a:ln>
            <a:noFill/>
          </a:ln>
        </p:spPr>
      </p:pic>
      <p:sp>
        <p:nvSpPr>
          <p:cNvPr id="190" name="Google Shape;190;p19"/>
          <p:cNvSpPr txBox="1"/>
          <p:nvPr/>
        </p:nvSpPr>
        <p:spPr>
          <a:xfrm>
            <a:off x="8420100" y="3419475"/>
            <a:ext cx="2510313" cy="3199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38BDF8"/>
                </a:solidFill>
                <a:latin typeface="Space Grotesk SemiBold"/>
                <a:ea typeface="Space Grotesk SemiBold"/>
                <a:cs typeface="Space Grotesk SemiBold"/>
                <a:sym typeface="Space Grotesk SemiBold"/>
              </a:rPr>
              <a:t>Kiểm Thử &amp; Tài Liệu</a:t>
            </a:r>
            <a:endParaRPr/>
          </a:p>
        </p:txBody>
      </p:sp>
      <p:sp>
        <p:nvSpPr>
          <p:cNvPr id="191" name="Google Shape;191;p19"/>
          <p:cNvSpPr txBox="1"/>
          <p:nvPr/>
        </p:nvSpPr>
        <p:spPr>
          <a:xfrm>
            <a:off x="8420100" y="3882330"/>
            <a:ext cx="2895600"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Tự động sinh Unit Tests, phát hiện lỗi bảo mật, tự động tạo Docstring và tài liệu API hướng dẫn.</a:t>
            </a:r>
            <a:endParaRPr/>
          </a:p>
        </p:txBody>
      </p:sp>
      <p:pic>
        <p:nvPicPr>
          <p:cNvPr descr="image.png" id="192" name="Google Shape;192;p19"/>
          <p:cNvPicPr preferRelativeResize="0"/>
          <p:nvPr/>
        </p:nvPicPr>
        <p:blipFill rotWithShape="1">
          <a:blip r:embed="rId10">
            <a:alphaModFix/>
          </a:blip>
          <a:srcRect b="0" l="0" r="0" t="0"/>
          <a:stretch/>
        </p:blipFill>
        <p:spPr>
          <a:xfrm>
            <a:off x="1019175" y="2705100"/>
            <a:ext cx="342900" cy="342900"/>
          </a:xfrm>
          <a:prstGeom prst="rect">
            <a:avLst/>
          </a:prstGeom>
          <a:noFill/>
          <a:ln>
            <a:noFill/>
          </a:ln>
        </p:spPr>
      </p:pic>
      <p:pic>
        <p:nvPicPr>
          <p:cNvPr descr="image.png" id="193" name="Google Shape;193;p19"/>
          <p:cNvPicPr preferRelativeResize="0"/>
          <p:nvPr/>
        </p:nvPicPr>
        <p:blipFill rotWithShape="1">
          <a:blip r:embed="rId11">
            <a:alphaModFix/>
          </a:blip>
          <a:srcRect b="0" l="0" r="0" t="0"/>
          <a:stretch/>
        </p:blipFill>
        <p:spPr>
          <a:xfrm>
            <a:off x="4791075" y="2705100"/>
            <a:ext cx="428625" cy="342900"/>
          </a:xfrm>
          <a:prstGeom prst="rect">
            <a:avLst/>
          </a:prstGeom>
          <a:noFill/>
          <a:ln>
            <a:noFill/>
          </a:ln>
        </p:spPr>
      </p:pic>
      <p:pic>
        <p:nvPicPr>
          <p:cNvPr descr="image.png" id="194" name="Google Shape;194;p19"/>
          <p:cNvPicPr preferRelativeResize="0"/>
          <p:nvPr/>
        </p:nvPicPr>
        <p:blipFill rotWithShape="1">
          <a:blip r:embed="rId12">
            <a:alphaModFix/>
          </a:blip>
          <a:srcRect b="0" l="0" r="0" t="0"/>
          <a:stretch/>
        </p:blipFill>
        <p:spPr>
          <a:xfrm>
            <a:off x="8562975" y="2705100"/>
            <a:ext cx="428625" cy="342900"/>
          </a:xfrm>
          <a:prstGeom prst="rect">
            <a:avLst/>
          </a:prstGeom>
          <a:noFill/>
          <a:ln>
            <a:noFill/>
          </a:ln>
        </p:spPr>
      </p:pic>
      <p:sp>
        <p:nvSpPr>
          <p:cNvPr id="195" name="Google Shape;195;p19"/>
          <p:cNvSpPr txBox="1"/>
          <p:nvPr/>
        </p:nvSpPr>
        <p:spPr>
          <a:xfrm>
            <a:off x="581025" y="485775"/>
            <a:ext cx="11581447" cy="502890"/>
          </a:xfrm>
          <a:prstGeom prst="rect">
            <a:avLst/>
          </a:prstGeom>
          <a:noFill/>
          <a:ln>
            <a:noFill/>
          </a:ln>
        </p:spPr>
        <p:txBody>
          <a:bodyPr anchorCtr="0" anchor="ctr" bIns="0" lIns="0" spcFirstLastPara="1" rIns="0" wrap="square" tIns="0">
            <a:spAutoFit/>
          </a:bodyPr>
          <a:lstStyle/>
          <a:p>
            <a:pPr indent="0" lvl="0" marL="0" marR="0" rtl="0" algn="l">
              <a:lnSpc>
                <a:spcPct val="119969"/>
              </a:lnSpc>
              <a:spcBef>
                <a:spcPts val="0"/>
              </a:spcBef>
              <a:spcAft>
                <a:spcPts val="0"/>
              </a:spcAft>
              <a:buNone/>
            </a:pPr>
            <a:r>
              <a:rPr b="0" i="0" lang="en-US" sz="3300" u="none" cap="none" strike="noStrike">
                <a:solidFill>
                  <a:srgbClr val="F8FAFC"/>
                </a:solidFill>
                <a:latin typeface="Space Grotesk SemiBold"/>
                <a:ea typeface="Space Grotesk SemiBold"/>
                <a:cs typeface="Space Grotesk SemiBold"/>
                <a:sym typeface="Space Grotesk SemiBold"/>
              </a:rPr>
              <a:t>Tích Hợp GenAI Vào SDLC</a:t>
            </a:r>
            <a:endParaRPr/>
          </a:p>
        </p:txBody>
      </p:sp>
      <p:sp>
        <p:nvSpPr>
          <p:cNvPr id="196" name="Google Shape;196;p19"/>
          <p:cNvSpPr/>
          <p:nvPr/>
        </p:nvSpPr>
        <p:spPr>
          <a:xfrm>
            <a:off x="581025" y="988665"/>
            <a:ext cx="57150" cy="381000"/>
          </a:xfrm>
          <a:prstGeom prst="roundRect">
            <a:avLst>
              <a:gd fmla="val 50000" name="adj"/>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00" name="Shape 200"/>
        <p:cNvGrpSpPr/>
        <p:nvPr/>
      </p:nvGrpSpPr>
      <p:grpSpPr>
        <a:xfrm>
          <a:off x="0" y="0"/>
          <a:ext cx="0" cy="0"/>
          <a:chOff x="0" y="0"/>
          <a:chExt cx="0" cy="0"/>
        </a:xfrm>
      </p:grpSpPr>
      <p:pic>
        <p:nvPicPr>
          <p:cNvPr descr="image.png" id="201" name="Google Shape;201;p2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02" name="Google Shape;202;p20"/>
          <p:cNvSpPr/>
          <p:nvPr/>
        </p:nvSpPr>
        <p:spPr>
          <a:xfrm>
            <a:off x="5619750" y="2031801"/>
            <a:ext cx="952500" cy="5715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3" name="Google Shape;203;p20"/>
          <p:cNvSpPr txBox="1"/>
          <p:nvPr/>
        </p:nvSpPr>
        <p:spPr>
          <a:xfrm>
            <a:off x="5455920" y="2374701"/>
            <a:ext cx="1280160" cy="31998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2100" u="none" cap="none" strike="noStrike">
                <a:solidFill>
                  <a:srgbClr val="94A3B8"/>
                </a:solidFill>
                <a:latin typeface="Space Grotesk SemiBold"/>
                <a:ea typeface="Space Grotesk SemiBold"/>
                <a:cs typeface="Space Grotesk SemiBold"/>
                <a:sym typeface="Space Grotesk SemiBold"/>
              </a:rPr>
              <a:t>PHẦN 02</a:t>
            </a:r>
            <a:endParaRPr/>
          </a:p>
        </p:txBody>
      </p:sp>
      <p:sp>
        <p:nvSpPr>
          <p:cNvPr id="204" name="Google Shape;204;p20"/>
          <p:cNvSpPr txBox="1"/>
          <p:nvPr/>
        </p:nvSpPr>
        <p:spPr>
          <a:xfrm>
            <a:off x="4160758" y="2837557"/>
            <a:ext cx="3870483" cy="1462980"/>
          </a:xfrm>
          <a:prstGeom prst="rect">
            <a:avLst/>
          </a:prstGeom>
          <a:noFill/>
          <a:ln>
            <a:noFill/>
          </a:ln>
        </p:spPr>
        <p:txBody>
          <a:bodyPr anchorCtr="0" anchor="t" bIns="0" lIns="0" spcFirstLastPara="1" rIns="0" wrap="square" tIns="0">
            <a:spAutoFit/>
          </a:bodyPr>
          <a:lstStyle/>
          <a:p>
            <a:pPr indent="0" lvl="0" marL="0" marR="0" rtl="0" algn="ctr">
              <a:lnSpc>
                <a:spcPct val="119979"/>
              </a:lnSpc>
              <a:spcBef>
                <a:spcPts val="0"/>
              </a:spcBef>
              <a:spcAft>
                <a:spcPts val="0"/>
              </a:spcAft>
              <a:buNone/>
            </a:pPr>
            <a:r>
              <a:rPr b="1" i="0" lang="en-US" sz="4800" u="none" cap="none" strike="noStrike">
                <a:solidFill>
                  <a:srgbClr val="F8FAFC"/>
                </a:solidFill>
                <a:latin typeface="Space Grotesk"/>
                <a:ea typeface="Space Grotesk"/>
                <a:cs typeface="Space Grotesk"/>
                <a:sym typeface="Space Grotesk"/>
              </a:rPr>
              <a:t>Làm Việc Với</a:t>
            </a:r>
            <a:br>
              <a:rPr b="0" i="0" lang="en-US" sz="1800" u="none" cap="none" strike="noStrike">
                <a:solidFill>
                  <a:schemeClr val="dk1"/>
                </a:solidFill>
                <a:latin typeface="Calibri"/>
                <a:ea typeface="Calibri"/>
                <a:cs typeface="Calibri"/>
                <a:sym typeface="Calibri"/>
              </a:rPr>
            </a:br>
            <a:r>
              <a:rPr b="1" i="0" lang="en-US" sz="4800" u="none" cap="none" strike="noStrike">
                <a:solidFill>
                  <a:srgbClr val="F8FAFC"/>
                </a:solidFill>
                <a:latin typeface="Space Grotesk"/>
                <a:ea typeface="Space Grotesk"/>
                <a:cs typeface="Space Grotesk"/>
                <a:sym typeface="Space Grotesk"/>
              </a:rPr>
              <a:t>API OpenAI</a:t>
            </a:r>
            <a:endParaRPr/>
          </a:p>
        </p:txBody>
      </p:sp>
      <p:sp>
        <p:nvSpPr>
          <p:cNvPr id="205" name="Google Shape;205;p20"/>
          <p:cNvSpPr txBox="1"/>
          <p:nvPr/>
        </p:nvSpPr>
        <p:spPr>
          <a:xfrm>
            <a:off x="2905125" y="4491037"/>
            <a:ext cx="6381750" cy="3351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650" u="none" cap="none" strike="noStrike">
                <a:solidFill>
                  <a:srgbClr val="94A3B8"/>
                </a:solidFill>
                <a:latin typeface="Inter"/>
                <a:ea typeface="Inter"/>
                <a:cs typeface="Inter"/>
                <a:sym typeface="Inter"/>
              </a:rPr>
              <a:t>Kiến trúc, Cấu trúc Request và Tích hợp AI vào ứng dụng Python.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09" name="Shape 209"/>
        <p:cNvGrpSpPr/>
        <p:nvPr/>
      </p:nvGrpSpPr>
      <p:grpSpPr>
        <a:xfrm>
          <a:off x="0" y="0"/>
          <a:ext cx="0" cy="0"/>
          <a:chOff x="0" y="0"/>
          <a:chExt cx="0" cy="0"/>
        </a:xfrm>
      </p:grpSpPr>
      <p:pic>
        <p:nvPicPr>
          <p:cNvPr descr="image.png" id="210" name="Google Shape;210;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11" name="Google Shape;211;p21"/>
          <p:cNvPicPr preferRelativeResize="0"/>
          <p:nvPr/>
        </p:nvPicPr>
        <p:blipFill rotWithShape="1">
          <a:blip r:embed="rId4">
            <a:alphaModFix/>
          </a:blip>
          <a:srcRect b="0" l="0" r="0" t="0"/>
          <a:stretch/>
        </p:blipFill>
        <p:spPr>
          <a:xfrm>
            <a:off x="6286500" y="1838473"/>
            <a:ext cx="5324475" cy="3619500"/>
          </a:xfrm>
          <a:prstGeom prst="rect">
            <a:avLst/>
          </a:prstGeom>
          <a:noFill/>
          <a:ln>
            <a:noFill/>
          </a:ln>
        </p:spPr>
      </p:pic>
      <p:sp>
        <p:nvSpPr>
          <p:cNvPr id="212" name="Google Shape;212;p21"/>
          <p:cNvSpPr txBox="1"/>
          <p:nvPr/>
        </p:nvSpPr>
        <p:spPr>
          <a:xfrm>
            <a:off x="581025" y="1838473"/>
            <a:ext cx="5324475"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API (Application Programming Interface) là cầu nối giúp ứng dụng giao tiếp với mô hình AI mạnh mẽ mà không cần tự huấn luyện hệ thống.</a:t>
            </a:r>
            <a:endParaRPr/>
          </a:p>
        </p:txBody>
      </p:sp>
      <p:pic>
        <p:nvPicPr>
          <p:cNvPr descr="image.png" id="213" name="Google Shape;213;p21"/>
          <p:cNvPicPr preferRelativeResize="0"/>
          <p:nvPr/>
        </p:nvPicPr>
        <p:blipFill rotWithShape="1">
          <a:blip r:embed="rId5">
            <a:alphaModFix/>
          </a:blip>
          <a:srcRect b="0" l="0" r="0" t="0"/>
          <a:stretch/>
        </p:blipFill>
        <p:spPr>
          <a:xfrm>
            <a:off x="6296025" y="1847998"/>
            <a:ext cx="5305425" cy="3600450"/>
          </a:xfrm>
          <a:prstGeom prst="rect">
            <a:avLst/>
          </a:prstGeom>
          <a:noFill/>
          <a:ln>
            <a:noFill/>
          </a:ln>
        </p:spPr>
      </p:pic>
      <p:sp>
        <p:nvSpPr>
          <p:cNvPr id="214" name="Google Shape;214;p21"/>
          <p:cNvSpPr txBox="1"/>
          <p:nvPr/>
        </p:nvSpPr>
        <p:spPr>
          <a:xfrm>
            <a:off x="914400" y="2851844"/>
            <a:ext cx="49911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CBD5E1"/>
                </a:solidFill>
                <a:latin typeface="Inter"/>
                <a:ea typeface="Inter"/>
                <a:cs typeface="Inter"/>
                <a:sym typeface="Inter"/>
              </a:rPr>
              <a:t>Mô hình Client-Server:</a:t>
            </a:r>
            <a:r>
              <a:rPr b="0" i="0" lang="en-US" sz="1350" u="none" cap="none" strike="noStrike">
                <a:solidFill>
                  <a:srgbClr val="CBD5E1"/>
                </a:solidFill>
                <a:latin typeface="Inter"/>
                <a:ea typeface="Inter"/>
                <a:cs typeface="Inter"/>
                <a:sym typeface="Inter"/>
              </a:rPr>
              <a:t> Ứng dụng (Client) gửi yêu cầu tới máy chủ OpenAI (Server).</a:t>
            </a:r>
            <a:endParaRPr/>
          </a:p>
        </p:txBody>
      </p:sp>
      <p:sp>
        <p:nvSpPr>
          <p:cNvPr id="215" name="Google Shape;215;p21"/>
          <p:cNvSpPr txBox="1"/>
          <p:nvPr/>
        </p:nvSpPr>
        <p:spPr>
          <a:xfrm>
            <a:off x="914400" y="3590925"/>
            <a:ext cx="49911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CBD5E1"/>
                </a:solidFill>
                <a:latin typeface="Inter"/>
                <a:ea typeface="Inter"/>
                <a:cs typeface="Inter"/>
                <a:sym typeface="Inter"/>
              </a:rPr>
              <a:t>Xác thực:</a:t>
            </a:r>
            <a:r>
              <a:rPr b="0" i="0" lang="en-US" sz="1350" u="none" cap="none" strike="noStrike">
                <a:solidFill>
                  <a:srgbClr val="CBD5E1"/>
                </a:solidFill>
                <a:latin typeface="Inter"/>
                <a:ea typeface="Inter"/>
                <a:cs typeface="Inter"/>
                <a:sym typeface="Inter"/>
              </a:rPr>
              <a:t> Quản lý quyền truy cập thông qua API Key bảo mật.</a:t>
            </a:r>
            <a:endParaRPr/>
          </a:p>
        </p:txBody>
      </p:sp>
      <p:sp>
        <p:nvSpPr>
          <p:cNvPr id="216" name="Google Shape;216;p21"/>
          <p:cNvSpPr txBox="1"/>
          <p:nvPr/>
        </p:nvSpPr>
        <p:spPr>
          <a:xfrm>
            <a:off x="914400" y="4330005"/>
            <a:ext cx="49911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CBD5E1"/>
                </a:solidFill>
                <a:latin typeface="Inter"/>
                <a:ea typeface="Inter"/>
                <a:cs typeface="Inter"/>
                <a:sym typeface="Inter"/>
              </a:rPr>
              <a:t>Cloud Computing:</a:t>
            </a:r>
            <a:r>
              <a:rPr b="0" i="0" lang="en-US" sz="1350" u="none" cap="none" strike="noStrike">
                <a:solidFill>
                  <a:srgbClr val="CBD5E1"/>
                </a:solidFill>
                <a:latin typeface="Inter"/>
                <a:ea typeface="Inter"/>
                <a:cs typeface="Inter"/>
                <a:sym typeface="Inter"/>
              </a:rPr>
              <a:t> Mọi quá trình xử lý ngôn ngữ nặng (LLMs) diễn ra trên Cloud của OpenAI.</a:t>
            </a:r>
            <a:endParaRPr/>
          </a:p>
        </p:txBody>
      </p:sp>
      <p:sp>
        <p:nvSpPr>
          <p:cNvPr id="217" name="Google Shape;217;p21"/>
          <p:cNvSpPr txBox="1"/>
          <p:nvPr/>
        </p:nvSpPr>
        <p:spPr>
          <a:xfrm>
            <a:off x="914400" y="5069085"/>
            <a:ext cx="49911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CBD5E1"/>
                </a:solidFill>
                <a:latin typeface="Inter"/>
                <a:ea typeface="Inter"/>
                <a:cs typeface="Inter"/>
                <a:sym typeface="Inter"/>
              </a:rPr>
              <a:t>Phản hồi (Response):</a:t>
            </a:r>
            <a:r>
              <a:rPr b="0" i="0" lang="en-US" sz="1350" u="none" cap="none" strike="noStrike">
                <a:solidFill>
                  <a:srgbClr val="CBD5E1"/>
                </a:solidFill>
                <a:latin typeface="Inter"/>
                <a:ea typeface="Inter"/>
                <a:cs typeface="Inter"/>
                <a:sym typeface="Inter"/>
              </a:rPr>
              <a:t> Trả về dữ liệu định dạng JSON để ứng dụng phân tích và hiển thị.</a:t>
            </a:r>
            <a:endParaRPr/>
          </a:p>
        </p:txBody>
      </p:sp>
      <p:pic>
        <p:nvPicPr>
          <p:cNvPr descr="image.png" id="218" name="Google Shape;218;p21"/>
          <p:cNvPicPr preferRelativeResize="0"/>
          <p:nvPr/>
        </p:nvPicPr>
        <p:blipFill rotWithShape="1">
          <a:blip r:embed="rId6">
            <a:alphaModFix/>
          </a:blip>
          <a:srcRect b="0" l="0" r="0" t="0"/>
          <a:stretch/>
        </p:blipFill>
        <p:spPr>
          <a:xfrm>
            <a:off x="581025" y="2885182"/>
            <a:ext cx="190500" cy="200025"/>
          </a:xfrm>
          <a:prstGeom prst="rect">
            <a:avLst/>
          </a:prstGeom>
          <a:noFill/>
          <a:ln>
            <a:noFill/>
          </a:ln>
        </p:spPr>
      </p:pic>
      <p:pic>
        <p:nvPicPr>
          <p:cNvPr descr="image.png" id="219" name="Google Shape;219;p21"/>
          <p:cNvPicPr preferRelativeResize="0"/>
          <p:nvPr/>
        </p:nvPicPr>
        <p:blipFill rotWithShape="1">
          <a:blip r:embed="rId7">
            <a:alphaModFix/>
          </a:blip>
          <a:srcRect b="0" l="0" r="0" t="0"/>
          <a:stretch/>
        </p:blipFill>
        <p:spPr>
          <a:xfrm>
            <a:off x="581025" y="3624262"/>
            <a:ext cx="190500" cy="200025"/>
          </a:xfrm>
          <a:prstGeom prst="rect">
            <a:avLst/>
          </a:prstGeom>
          <a:noFill/>
          <a:ln>
            <a:noFill/>
          </a:ln>
        </p:spPr>
      </p:pic>
      <p:pic>
        <p:nvPicPr>
          <p:cNvPr descr="image.png" id="220" name="Google Shape;220;p21"/>
          <p:cNvPicPr preferRelativeResize="0"/>
          <p:nvPr/>
        </p:nvPicPr>
        <p:blipFill rotWithShape="1">
          <a:blip r:embed="rId8">
            <a:alphaModFix/>
          </a:blip>
          <a:srcRect b="0" l="0" r="0" t="0"/>
          <a:stretch/>
        </p:blipFill>
        <p:spPr>
          <a:xfrm>
            <a:off x="581025" y="4363342"/>
            <a:ext cx="190500" cy="200025"/>
          </a:xfrm>
          <a:prstGeom prst="rect">
            <a:avLst/>
          </a:prstGeom>
          <a:noFill/>
          <a:ln>
            <a:noFill/>
          </a:ln>
        </p:spPr>
      </p:pic>
      <p:pic>
        <p:nvPicPr>
          <p:cNvPr descr="image.png" id="221" name="Google Shape;221;p21"/>
          <p:cNvPicPr preferRelativeResize="0"/>
          <p:nvPr/>
        </p:nvPicPr>
        <p:blipFill rotWithShape="1">
          <a:blip r:embed="rId9">
            <a:alphaModFix/>
          </a:blip>
          <a:srcRect b="0" l="0" r="0" t="0"/>
          <a:stretch/>
        </p:blipFill>
        <p:spPr>
          <a:xfrm>
            <a:off x="581025" y="5102423"/>
            <a:ext cx="190500" cy="200025"/>
          </a:xfrm>
          <a:prstGeom prst="rect">
            <a:avLst/>
          </a:prstGeom>
          <a:noFill/>
          <a:ln>
            <a:noFill/>
          </a:ln>
        </p:spPr>
      </p:pic>
      <p:sp>
        <p:nvSpPr>
          <p:cNvPr id="222" name="Google Shape;222;p21"/>
          <p:cNvSpPr txBox="1"/>
          <p:nvPr/>
        </p:nvSpPr>
        <p:spPr>
          <a:xfrm>
            <a:off x="581025" y="485775"/>
            <a:ext cx="11581447" cy="502890"/>
          </a:xfrm>
          <a:prstGeom prst="rect">
            <a:avLst/>
          </a:prstGeom>
          <a:noFill/>
          <a:ln>
            <a:noFill/>
          </a:ln>
        </p:spPr>
        <p:txBody>
          <a:bodyPr anchorCtr="0" anchor="ctr" bIns="0" lIns="0" spcFirstLastPara="1" rIns="0" wrap="square" tIns="0">
            <a:spAutoFit/>
          </a:bodyPr>
          <a:lstStyle/>
          <a:p>
            <a:pPr indent="0" lvl="0" marL="0" marR="0" rtl="0" algn="l">
              <a:lnSpc>
                <a:spcPct val="119969"/>
              </a:lnSpc>
              <a:spcBef>
                <a:spcPts val="0"/>
              </a:spcBef>
              <a:spcAft>
                <a:spcPts val="0"/>
              </a:spcAft>
              <a:buNone/>
            </a:pPr>
            <a:r>
              <a:rPr b="0" i="0" lang="en-US" sz="3300" u="none" cap="none" strike="noStrike">
                <a:solidFill>
                  <a:srgbClr val="F8FAFC"/>
                </a:solidFill>
                <a:latin typeface="Space Grotesk SemiBold"/>
                <a:ea typeface="Space Grotesk SemiBold"/>
                <a:cs typeface="Space Grotesk SemiBold"/>
                <a:sym typeface="Space Grotesk SemiBold"/>
              </a:rPr>
              <a:t>Kiến Trúc Hoạt Động Của API OpenAI</a:t>
            </a:r>
            <a:endParaRPr/>
          </a:p>
        </p:txBody>
      </p:sp>
      <p:sp>
        <p:nvSpPr>
          <p:cNvPr id="223" name="Google Shape;223;p21"/>
          <p:cNvSpPr/>
          <p:nvPr/>
        </p:nvSpPr>
        <p:spPr>
          <a:xfrm>
            <a:off x="581025" y="988665"/>
            <a:ext cx="57150" cy="381000"/>
          </a:xfrm>
          <a:prstGeom prst="roundRect">
            <a:avLst>
              <a:gd fmla="val 50000" name="adj"/>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27" name="Shape 227"/>
        <p:cNvGrpSpPr/>
        <p:nvPr/>
      </p:nvGrpSpPr>
      <p:grpSpPr>
        <a:xfrm>
          <a:off x="0" y="0"/>
          <a:ext cx="0" cy="0"/>
          <a:chOff x="0" y="0"/>
          <a:chExt cx="0" cy="0"/>
        </a:xfrm>
      </p:grpSpPr>
      <p:pic>
        <p:nvPicPr>
          <p:cNvPr descr="image.png" id="228" name="Google Shape;228;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29" name="Google Shape;229;p22"/>
          <p:cNvPicPr preferRelativeResize="0"/>
          <p:nvPr/>
        </p:nvPicPr>
        <p:blipFill rotWithShape="1">
          <a:blip r:embed="rId4">
            <a:alphaModFix/>
          </a:blip>
          <a:srcRect b="0" l="0" r="0" t="0"/>
          <a:stretch/>
        </p:blipFill>
        <p:spPr>
          <a:xfrm>
            <a:off x="581025" y="1887884"/>
            <a:ext cx="5324475" cy="1744860"/>
          </a:xfrm>
          <a:prstGeom prst="rect">
            <a:avLst/>
          </a:prstGeom>
          <a:noFill/>
          <a:ln>
            <a:noFill/>
          </a:ln>
        </p:spPr>
      </p:pic>
      <p:pic>
        <p:nvPicPr>
          <p:cNvPr descr="image.png" id="230" name="Google Shape;230;p22"/>
          <p:cNvPicPr preferRelativeResize="0"/>
          <p:nvPr/>
        </p:nvPicPr>
        <p:blipFill rotWithShape="1">
          <a:blip r:embed="rId5">
            <a:alphaModFix/>
          </a:blip>
          <a:srcRect b="0" l="0" r="0" t="0"/>
          <a:stretch/>
        </p:blipFill>
        <p:spPr>
          <a:xfrm>
            <a:off x="6286500" y="1887884"/>
            <a:ext cx="5324475" cy="1744860"/>
          </a:xfrm>
          <a:prstGeom prst="rect">
            <a:avLst/>
          </a:prstGeom>
          <a:noFill/>
          <a:ln>
            <a:noFill/>
          </a:ln>
        </p:spPr>
      </p:pic>
      <p:pic>
        <p:nvPicPr>
          <p:cNvPr descr="image.png" id="231" name="Google Shape;231;p22"/>
          <p:cNvPicPr preferRelativeResize="0"/>
          <p:nvPr/>
        </p:nvPicPr>
        <p:blipFill rotWithShape="1">
          <a:blip r:embed="rId6">
            <a:alphaModFix/>
          </a:blip>
          <a:srcRect b="0" l="0" r="0" t="0"/>
          <a:stretch/>
        </p:blipFill>
        <p:spPr>
          <a:xfrm>
            <a:off x="581025" y="4013745"/>
            <a:ext cx="5324475" cy="1744860"/>
          </a:xfrm>
          <a:prstGeom prst="rect">
            <a:avLst/>
          </a:prstGeom>
          <a:noFill/>
          <a:ln>
            <a:noFill/>
          </a:ln>
        </p:spPr>
      </p:pic>
      <p:pic>
        <p:nvPicPr>
          <p:cNvPr descr="image.png" id="232" name="Google Shape;232;p22"/>
          <p:cNvPicPr preferRelativeResize="0"/>
          <p:nvPr/>
        </p:nvPicPr>
        <p:blipFill rotWithShape="1">
          <a:blip r:embed="rId7">
            <a:alphaModFix/>
          </a:blip>
          <a:srcRect b="0" l="0" r="0" t="0"/>
          <a:stretch/>
        </p:blipFill>
        <p:spPr>
          <a:xfrm>
            <a:off x="6286500" y="4013745"/>
            <a:ext cx="5324475" cy="1744860"/>
          </a:xfrm>
          <a:prstGeom prst="rect">
            <a:avLst/>
          </a:prstGeom>
          <a:noFill/>
          <a:ln>
            <a:noFill/>
          </a:ln>
        </p:spPr>
      </p:pic>
      <p:sp>
        <p:nvSpPr>
          <p:cNvPr id="233" name="Google Shape;233;p22"/>
          <p:cNvSpPr txBox="1"/>
          <p:nvPr/>
        </p:nvSpPr>
        <p:spPr>
          <a:xfrm>
            <a:off x="876300" y="2183159"/>
            <a:ext cx="4970621" cy="319980"/>
          </a:xfrm>
          <a:prstGeom prst="rect">
            <a:avLst/>
          </a:prstGeom>
          <a:noFill/>
          <a:ln>
            <a:noFill/>
          </a:ln>
        </p:spPr>
        <p:txBody>
          <a:bodyPr anchorCtr="0" anchor="t" bIns="0" lIns="428625"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38BDF8"/>
                </a:solidFill>
                <a:latin typeface="Space Grotesk SemiBold"/>
                <a:ea typeface="Space Grotesk SemiBold"/>
                <a:cs typeface="Space Grotesk SemiBold"/>
                <a:sym typeface="Space Grotesk SemiBold"/>
              </a:rPr>
              <a:t>Endpoint</a:t>
            </a:r>
            <a:endParaRPr/>
          </a:p>
        </p:txBody>
      </p:sp>
      <p:sp>
        <p:nvSpPr>
          <p:cNvPr id="234" name="Google Shape;234;p22"/>
          <p:cNvSpPr txBox="1"/>
          <p:nvPr/>
        </p:nvSpPr>
        <p:spPr>
          <a:xfrm>
            <a:off x="876300" y="2646015"/>
            <a:ext cx="473392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Địa chỉ URL của dịch vụ (VD: /v1/chat/completions). Mỗi endpoint tương ứng một chức năng xử lý riêng biệt.</a:t>
            </a:r>
            <a:endParaRPr/>
          </a:p>
        </p:txBody>
      </p:sp>
      <p:sp>
        <p:nvSpPr>
          <p:cNvPr id="235" name="Google Shape;235;p22"/>
          <p:cNvSpPr txBox="1"/>
          <p:nvPr/>
        </p:nvSpPr>
        <p:spPr>
          <a:xfrm>
            <a:off x="6581775" y="2183159"/>
            <a:ext cx="4970621" cy="319980"/>
          </a:xfrm>
          <a:prstGeom prst="rect">
            <a:avLst/>
          </a:prstGeom>
          <a:noFill/>
          <a:ln>
            <a:noFill/>
          </a:ln>
        </p:spPr>
        <p:txBody>
          <a:bodyPr anchorCtr="0" anchor="t" bIns="0" lIns="36195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38BDF8"/>
                </a:solidFill>
                <a:latin typeface="Space Grotesk SemiBold"/>
                <a:ea typeface="Space Grotesk SemiBold"/>
                <a:cs typeface="Space Grotesk SemiBold"/>
                <a:sym typeface="Space Grotesk SemiBold"/>
              </a:rPr>
              <a:t>Authentication</a:t>
            </a:r>
            <a:endParaRPr/>
          </a:p>
        </p:txBody>
      </p:sp>
      <p:sp>
        <p:nvSpPr>
          <p:cNvPr id="236" name="Google Shape;236;p22"/>
          <p:cNvSpPr txBox="1"/>
          <p:nvPr/>
        </p:nvSpPr>
        <p:spPr>
          <a:xfrm>
            <a:off x="6581775" y="2646015"/>
            <a:ext cx="473392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Sử dụng API Key bí mật để hệ thống OpenAI định danh và cấp quyền truy cập, thường đặt trong Header.</a:t>
            </a:r>
            <a:endParaRPr/>
          </a:p>
        </p:txBody>
      </p:sp>
      <p:sp>
        <p:nvSpPr>
          <p:cNvPr id="237" name="Google Shape;237;p22"/>
          <p:cNvSpPr txBox="1"/>
          <p:nvPr/>
        </p:nvSpPr>
        <p:spPr>
          <a:xfrm>
            <a:off x="876300" y="4309020"/>
            <a:ext cx="4970621" cy="319980"/>
          </a:xfrm>
          <a:prstGeom prst="rect">
            <a:avLst/>
          </a:prstGeom>
          <a:noFill/>
          <a:ln>
            <a:noFill/>
          </a:ln>
        </p:spPr>
        <p:txBody>
          <a:bodyPr anchorCtr="0" anchor="t" bIns="0" lIns="36195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38BDF8"/>
                </a:solidFill>
                <a:latin typeface="Space Grotesk SemiBold"/>
                <a:ea typeface="Space Grotesk SemiBold"/>
                <a:cs typeface="Space Grotesk SemiBold"/>
                <a:sym typeface="Space Grotesk SemiBold"/>
              </a:rPr>
              <a:t>Tham số cấu hình</a:t>
            </a:r>
            <a:endParaRPr/>
          </a:p>
        </p:txBody>
      </p:sp>
      <p:sp>
        <p:nvSpPr>
          <p:cNvPr id="238" name="Google Shape;238;p22"/>
          <p:cNvSpPr txBox="1"/>
          <p:nvPr/>
        </p:nvSpPr>
        <p:spPr>
          <a:xfrm>
            <a:off x="876300" y="4771876"/>
            <a:ext cx="473392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Điều khiển hành vi AI: model (gpt-4o, gemini-2.5), temperature (độ sáng tạo), max_tokens (độ dài).</a:t>
            </a:r>
            <a:endParaRPr/>
          </a:p>
        </p:txBody>
      </p:sp>
      <p:sp>
        <p:nvSpPr>
          <p:cNvPr id="239" name="Google Shape;239;p22"/>
          <p:cNvSpPr txBox="1"/>
          <p:nvPr/>
        </p:nvSpPr>
        <p:spPr>
          <a:xfrm>
            <a:off x="6581775" y="4309020"/>
            <a:ext cx="4970621" cy="319980"/>
          </a:xfrm>
          <a:prstGeom prst="rect">
            <a:avLst/>
          </a:prstGeom>
          <a:noFill/>
          <a:ln>
            <a:noFill/>
          </a:ln>
        </p:spPr>
        <p:txBody>
          <a:bodyPr anchorCtr="0" anchor="t" bIns="0" lIns="36195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38BDF8"/>
                </a:solidFill>
                <a:latin typeface="Space Grotesk SemiBold"/>
                <a:ea typeface="Space Grotesk SemiBold"/>
                <a:cs typeface="Space Grotesk SemiBold"/>
                <a:sym typeface="Space Grotesk SemiBold"/>
              </a:rPr>
              <a:t>Messages (Payload)</a:t>
            </a:r>
            <a:endParaRPr/>
          </a:p>
        </p:txBody>
      </p:sp>
      <p:sp>
        <p:nvSpPr>
          <p:cNvPr id="240" name="Google Shape;240;p22"/>
          <p:cNvSpPr txBox="1"/>
          <p:nvPr/>
        </p:nvSpPr>
        <p:spPr>
          <a:xfrm>
            <a:off x="6581775" y="4771876"/>
            <a:ext cx="473392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Nội dung giao tiếp. Gồm các role: system (định hình AI), user (người dùng hỏi), assistant (AI đáp).</a:t>
            </a:r>
            <a:endParaRPr/>
          </a:p>
        </p:txBody>
      </p:sp>
      <p:pic>
        <p:nvPicPr>
          <p:cNvPr descr="image.png" id="241" name="Google Shape;241;p22"/>
          <p:cNvPicPr preferRelativeResize="0"/>
          <p:nvPr/>
        </p:nvPicPr>
        <p:blipFill rotWithShape="1">
          <a:blip r:embed="rId8">
            <a:alphaModFix/>
          </a:blip>
          <a:srcRect b="0" l="0" r="0" t="0"/>
          <a:stretch/>
        </p:blipFill>
        <p:spPr>
          <a:xfrm>
            <a:off x="876300" y="2202209"/>
            <a:ext cx="333375" cy="266700"/>
          </a:xfrm>
          <a:prstGeom prst="rect">
            <a:avLst/>
          </a:prstGeom>
          <a:noFill/>
          <a:ln>
            <a:noFill/>
          </a:ln>
        </p:spPr>
      </p:pic>
      <p:pic>
        <p:nvPicPr>
          <p:cNvPr descr="image.png" id="242" name="Google Shape;242;p22"/>
          <p:cNvPicPr preferRelativeResize="0"/>
          <p:nvPr/>
        </p:nvPicPr>
        <p:blipFill rotWithShape="1">
          <a:blip r:embed="rId9">
            <a:alphaModFix/>
          </a:blip>
          <a:srcRect b="0" l="0" r="0" t="0"/>
          <a:stretch/>
        </p:blipFill>
        <p:spPr>
          <a:xfrm>
            <a:off x="6581775" y="2202209"/>
            <a:ext cx="266700" cy="266700"/>
          </a:xfrm>
          <a:prstGeom prst="rect">
            <a:avLst/>
          </a:prstGeom>
          <a:noFill/>
          <a:ln>
            <a:noFill/>
          </a:ln>
        </p:spPr>
      </p:pic>
      <p:pic>
        <p:nvPicPr>
          <p:cNvPr descr="image.png" id="243" name="Google Shape;243;p22"/>
          <p:cNvPicPr preferRelativeResize="0"/>
          <p:nvPr/>
        </p:nvPicPr>
        <p:blipFill rotWithShape="1">
          <a:blip r:embed="rId10">
            <a:alphaModFix/>
          </a:blip>
          <a:srcRect b="0" l="0" r="0" t="0"/>
          <a:stretch/>
        </p:blipFill>
        <p:spPr>
          <a:xfrm>
            <a:off x="876300" y="4328070"/>
            <a:ext cx="266700" cy="266700"/>
          </a:xfrm>
          <a:prstGeom prst="rect">
            <a:avLst/>
          </a:prstGeom>
          <a:noFill/>
          <a:ln>
            <a:noFill/>
          </a:ln>
        </p:spPr>
      </p:pic>
      <p:pic>
        <p:nvPicPr>
          <p:cNvPr descr="image.png" id="244" name="Google Shape;244;p22"/>
          <p:cNvPicPr preferRelativeResize="0"/>
          <p:nvPr/>
        </p:nvPicPr>
        <p:blipFill rotWithShape="1">
          <a:blip r:embed="rId11">
            <a:alphaModFix/>
          </a:blip>
          <a:srcRect b="0" l="0" r="0" t="0"/>
          <a:stretch/>
        </p:blipFill>
        <p:spPr>
          <a:xfrm>
            <a:off x="6581775" y="4328070"/>
            <a:ext cx="266700" cy="266700"/>
          </a:xfrm>
          <a:prstGeom prst="rect">
            <a:avLst/>
          </a:prstGeom>
          <a:noFill/>
          <a:ln>
            <a:noFill/>
          </a:ln>
        </p:spPr>
      </p:pic>
      <p:sp>
        <p:nvSpPr>
          <p:cNvPr id="245" name="Google Shape;245;p22"/>
          <p:cNvSpPr txBox="1"/>
          <p:nvPr/>
        </p:nvSpPr>
        <p:spPr>
          <a:xfrm>
            <a:off x="581025" y="485775"/>
            <a:ext cx="11581447" cy="502890"/>
          </a:xfrm>
          <a:prstGeom prst="rect">
            <a:avLst/>
          </a:prstGeom>
          <a:noFill/>
          <a:ln>
            <a:noFill/>
          </a:ln>
        </p:spPr>
        <p:txBody>
          <a:bodyPr anchorCtr="0" anchor="ctr" bIns="0" lIns="0" spcFirstLastPara="1" rIns="0" wrap="square" tIns="0">
            <a:spAutoFit/>
          </a:bodyPr>
          <a:lstStyle/>
          <a:p>
            <a:pPr indent="0" lvl="0" marL="0" marR="0" rtl="0" algn="l">
              <a:lnSpc>
                <a:spcPct val="119969"/>
              </a:lnSpc>
              <a:spcBef>
                <a:spcPts val="0"/>
              </a:spcBef>
              <a:spcAft>
                <a:spcPts val="0"/>
              </a:spcAft>
              <a:buNone/>
            </a:pPr>
            <a:r>
              <a:rPr b="0" i="0" lang="en-US" sz="3300" u="none" cap="none" strike="noStrike">
                <a:solidFill>
                  <a:srgbClr val="F8FAFC"/>
                </a:solidFill>
                <a:latin typeface="Space Grotesk SemiBold"/>
                <a:ea typeface="Space Grotesk SemiBold"/>
                <a:cs typeface="Space Grotesk SemiBold"/>
                <a:sym typeface="Space Grotesk SemiBold"/>
              </a:rPr>
              <a:t>Thành Phần Của Một API Request</a:t>
            </a:r>
            <a:endParaRPr/>
          </a:p>
        </p:txBody>
      </p:sp>
      <p:sp>
        <p:nvSpPr>
          <p:cNvPr id="246" name="Google Shape;246;p22"/>
          <p:cNvSpPr/>
          <p:nvPr/>
        </p:nvSpPr>
        <p:spPr>
          <a:xfrm>
            <a:off x="581025" y="988665"/>
            <a:ext cx="57150" cy="381000"/>
          </a:xfrm>
          <a:prstGeom prst="roundRect">
            <a:avLst>
              <a:gd fmla="val 50000" name="adj"/>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50" name="Shape 250"/>
        <p:cNvGrpSpPr/>
        <p:nvPr/>
      </p:nvGrpSpPr>
      <p:grpSpPr>
        <a:xfrm>
          <a:off x="0" y="0"/>
          <a:ext cx="0" cy="0"/>
          <a:chOff x="0" y="0"/>
          <a:chExt cx="0" cy="0"/>
        </a:xfrm>
      </p:grpSpPr>
      <p:pic>
        <p:nvPicPr>
          <p:cNvPr descr="image.png" id="251" name="Google Shape;251;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52" name="Google Shape;252;p23"/>
          <p:cNvPicPr preferRelativeResize="0"/>
          <p:nvPr/>
        </p:nvPicPr>
        <p:blipFill rotWithShape="1">
          <a:blip r:embed="rId4">
            <a:alphaModFix/>
          </a:blip>
          <a:srcRect b="0" l="0" r="0" t="0"/>
          <a:stretch/>
        </p:blipFill>
        <p:spPr>
          <a:xfrm>
            <a:off x="6286500" y="2620416"/>
            <a:ext cx="5324475" cy="1600200"/>
          </a:xfrm>
          <a:prstGeom prst="rect">
            <a:avLst/>
          </a:prstGeom>
          <a:noFill/>
          <a:ln>
            <a:noFill/>
          </a:ln>
        </p:spPr>
      </p:pic>
      <p:sp>
        <p:nvSpPr>
          <p:cNvPr id="253" name="Google Shape;253;p23"/>
          <p:cNvSpPr txBox="1"/>
          <p:nvPr/>
        </p:nvSpPr>
        <p:spPr>
          <a:xfrm>
            <a:off x="581025" y="2620416"/>
            <a:ext cx="5590698" cy="3199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38BDF8"/>
                </a:solidFill>
                <a:latin typeface="Space Grotesk SemiBold"/>
                <a:ea typeface="Space Grotesk SemiBold"/>
                <a:cs typeface="Space Grotesk SemiBold"/>
                <a:sym typeface="Space Grotesk SemiBold"/>
              </a:rPr>
              <a:t>Quy trình thiết lập</a:t>
            </a:r>
            <a:endParaRPr/>
          </a:p>
        </p:txBody>
      </p:sp>
      <p:sp>
        <p:nvSpPr>
          <p:cNvPr id="254" name="Google Shape;254;p23"/>
          <p:cNvSpPr txBox="1"/>
          <p:nvPr/>
        </p:nvSpPr>
        <p:spPr>
          <a:xfrm>
            <a:off x="6486525" y="2820441"/>
            <a:ext cx="514350" cy="190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125" u="none" cap="none" strike="noStrike">
                <a:solidFill>
                  <a:srgbClr val="FF7B72"/>
                </a:solidFill>
                <a:latin typeface="Fira Code"/>
                <a:ea typeface="Fira Code"/>
                <a:cs typeface="Fira Code"/>
                <a:sym typeface="Fira Code"/>
              </a:rPr>
              <a:t>import</a:t>
            </a:r>
            <a:endParaRPr/>
          </a:p>
        </p:txBody>
      </p:sp>
      <p:sp>
        <p:nvSpPr>
          <p:cNvPr id="255" name="Google Shape;255;p23"/>
          <p:cNvSpPr txBox="1"/>
          <p:nvPr/>
        </p:nvSpPr>
        <p:spPr>
          <a:xfrm>
            <a:off x="7343775" y="2820441"/>
            <a:ext cx="342900" cy="190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125" u="none" cap="none" strike="noStrike">
                <a:solidFill>
                  <a:srgbClr val="FF7B72"/>
                </a:solidFill>
                <a:latin typeface="Fira Code"/>
                <a:ea typeface="Fira Code"/>
                <a:cs typeface="Fira Code"/>
                <a:sym typeface="Fira Code"/>
              </a:rPr>
              <a:t>from</a:t>
            </a:r>
            <a:endParaRPr/>
          </a:p>
        </p:txBody>
      </p:sp>
      <p:sp>
        <p:nvSpPr>
          <p:cNvPr id="256" name="Google Shape;256;p23"/>
          <p:cNvSpPr txBox="1"/>
          <p:nvPr/>
        </p:nvSpPr>
        <p:spPr>
          <a:xfrm>
            <a:off x="8372475" y="2820441"/>
            <a:ext cx="514350" cy="190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125" u="none" cap="none" strike="noStrike">
                <a:solidFill>
                  <a:srgbClr val="FF7B72"/>
                </a:solidFill>
                <a:latin typeface="Fira Code"/>
                <a:ea typeface="Fira Code"/>
                <a:cs typeface="Fira Code"/>
                <a:sym typeface="Fira Code"/>
              </a:rPr>
              <a:t>import</a:t>
            </a:r>
            <a:endParaRPr/>
          </a:p>
        </p:txBody>
      </p:sp>
      <p:sp>
        <p:nvSpPr>
          <p:cNvPr id="257" name="Google Shape;257;p23"/>
          <p:cNvSpPr txBox="1"/>
          <p:nvPr/>
        </p:nvSpPr>
        <p:spPr>
          <a:xfrm>
            <a:off x="10001250" y="2820441"/>
            <a:ext cx="342900" cy="190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125" u="none" cap="none" strike="noStrike">
                <a:solidFill>
                  <a:srgbClr val="FF7B72"/>
                </a:solidFill>
                <a:latin typeface="Fira Code"/>
                <a:ea typeface="Fira Code"/>
                <a:cs typeface="Fira Code"/>
                <a:sym typeface="Fira Code"/>
              </a:rPr>
              <a:t>from</a:t>
            </a:r>
            <a:endParaRPr/>
          </a:p>
        </p:txBody>
      </p:sp>
      <p:sp>
        <p:nvSpPr>
          <p:cNvPr id="258" name="Google Shape;258;p23"/>
          <p:cNvSpPr txBox="1"/>
          <p:nvPr/>
        </p:nvSpPr>
        <p:spPr>
          <a:xfrm>
            <a:off x="6486525" y="3020466"/>
            <a:ext cx="514350" cy="190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125" u="none" cap="none" strike="noStrike">
                <a:solidFill>
                  <a:srgbClr val="FF7B72"/>
                </a:solidFill>
                <a:latin typeface="Fira Code"/>
                <a:ea typeface="Fira Code"/>
                <a:cs typeface="Fira Code"/>
                <a:sym typeface="Fira Code"/>
              </a:rPr>
              <a:t>import</a:t>
            </a:r>
            <a:endParaRPr/>
          </a:p>
        </p:txBody>
      </p:sp>
      <p:sp>
        <p:nvSpPr>
          <p:cNvPr id="259" name="Google Shape;259;p23"/>
          <p:cNvSpPr txBox="1"/>
          <p:nvPr/>
        </p:nvSpPr>
        <p:spPr>
          <a:xfrm>
            <a:off x="7600950" y="3020466"/>
            <a:ext cx="2870596" cy="190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1" lang="en-US" sz="1125" u="none" cap="none" strike="noStrike">
                <a:solidFill>
                  <a:srgbClr val="8B949E"/>
                </a:solidFill>
                <a:latin typeface="Fira Code"/>
                <a:ea typeface="Fira Code"/>
                <a:cs typeface="Fira Code"/>
                <a:sym typeface="Fira Code"/>
              </a:rPr>
              <a:t># Tự động nạp API Key từ file .env</a:t>
            </a:r>
            <a:endParaRPr/>
          </a:p>
        </p:txBody>
      </p:sp>
      <p:sp>
        <p:nvSpPr>
          <p:cNvPr id="260" name="Google Shape;260;p23"/>
          <p:cNvSpPr txBox="1"/>
          <p:nvPr/>
        </p:nvSpPr>
        <p:spPr>
          <a:xfrm>
            <a:off x="7686675" y="3220491"/>
            <a:ext cx="171450" cy="190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125" u="none" cap="none" strike="noStrike">
                <a:solidFill>
                  <a:srgbClr val="FF7B72"/>
                </a:solidFill>
                <a:latin typeface="Fira Code"/>
                <a:ea typeface="Fira Code"/>
                <a:cs typeface="Fira Code"/>
                <a:sym typeface="Fira Code"/>
              </a:rPr>
              <a:t>if</a:t>
            </a:r>
            <a:endParaRPr/>
          </a:p>
        </p:txBody>
      </p:sp>
      <p:sp>
        <p:nvSpPr>
          <p:cNvPr id="261" name="Google Shape;261;p23"/>
          <p:cNvSpPr txBox="1"/>
          <p:nvPr/>
        </p:nvSpPr>
        <p:spPr>
          <a:xfrm>
            <a:off x="8972550" y="3220491"/>
            <a:ext cx="857250" cy="190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125" u="none" cap="none" strike="noStrike">
                <a:solidFill>
                  <a:srgbClr val="A5D6FF"/>
                </a:solidFill>
                <a:latin typeface="Fira Code"/>
                <a:ea typeface="Fira Code"/>
                <a:cs typeface="Fira Code"/>
                <a:sym typeface="Fira Code"/>
              </a:rPr>
              <a:t>"__main__"</a:t>
            </a:r>
            <a:endParaRPr/>
          </a:p>
        </p:txBody>
      </p:sp>
      <p:sp>
        <p:nvSpPr>
          <p:cNvPr id="262" name="Google Shape;262;p23"/>
          <p:cNvSpPr txBox="1"/>
          <p:nvPr/>
        </p:nvSpPr>
        <p:spPr>
          <a:xfrm>
            <a:off x="7000875" y="3620541"/>
            <a:ext cx="1543050" cy="190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125" u="none" cap="none" strike="noStrike">
                <a:solidFill>
                  <a:srgbClr val="A5D6FF"/>
                </a:solidFill>
                <a:latin typeface="Fira Code"/>
                <a:ea typeface="Fira Code"/>
                <a:cs typeface="Fira Code"/>
                <a:sym typeface="Fira Code"/>
              </a:rPr>
              <a:t>"gemini-2.5-flash"</a:t>
            </a:r>
            <a:endParaRPr/>
          </a:p>
        </p:txBody>
      </p:sp>
      <p:sp>
        <p:nvSpPr>
          <p:cNvPr id="263" name="Google Shape;263;p23"/>
          <p:cNvSpPr txBox="1"/>
          <p:nvPr/>
        </p:nvSpPr>
        <p:spPr>
          <a:xfrm>
            <a:off x="6486525" y="3620541"/>
            <a:ext cx="4800600" cy="39052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125" u="none" cap="none" strike="noStrike">
                <a:solidFill>
                  <a:srgbClr val="A5D6FF"/>
                </a:solidFill>
                <a:latin typeface="Fira Code"/>
                <a:ea typeface="Fira Code"/>
                <a:cs typeface="Fira Code"/>
                <a:sym typeface="Fira Code"/>
              </a:rPr>
              <a:t>"What is the FizzBuzz problem?"</a:t>
            </a:r>
            <a:endParaRPr/>
          </a:p>
        </p:txBody>
      </p:sp>
      <p:sp>
        <p:nvSpPr>
          <p:cNvPr id="264" name="Google Shape;264;p23"/>
          <p:cNvSpPr txBox="1"/>
          <p:nvPr/>
        </p:nvSpPr>
        <p:spPr>
          <a:xfrm>
            <a:off x="7515225" y="3820566"/>
            <a:ext cx="428625" cy="190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125" u="none" cap="none" strike="noStrike">
                <a:solidFill>
                  <a:srgbClr val="D2A8FF"/>
                </a:solidFill>
                <a:latin typeface="Fira Code"/>
                <a:ea typeface="Fira Code"/>
                <a:cs typeface="Fira Code"/>
                <a:sym typeface="Fira Code"/>
              </a:rPr>
              <a:t>print</a:t>
            </a:r>
            <a:endParaRPr/>
          </a:p>
        </p:txBody>
      </p:sp>
      <p:sp>
        <p:nvSpPr>
          <p:cNvPr id="265" name="Google Shape;265;p23"/>
          <p:cNvSpPr txBox="1"/>
          <p:nvPr/>
        </p:nvSpPr>
        <p:spPr>
          <a:xfrm>
            <a:off x="914400" y="3083272"/>
            <a:ext cx="49911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Cài đặt SDK (OpenAI hoặc Google GenAI).</a:t>
            </a:r>
            <a:endParaRPr/>
          </a:p>
        </p:txBody>
      </p:sp>
      <p:sp>
        <p:nvSpPr>
          <p:cNvPr id="266" name="Google Shape;266;p23"/>
          <p:cNvSpPr txBox="1"/>
          <p:nvPr/>
        </p:nvSpPr>
        <p:spPr>
          <a:xfrm>
            <a:off x="914400" y="3548062"/>
            <a:ext cx="49911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Sử dụng thư viện python-dotenv để bảo mật API Key, không hardcode vào mã nguồn.</a:t>
            </a:r>
            <a:endParaRPr/>
          </a:p>
        </p:txBody>
      </p:sp>
      <p:sp>
        <p:nvSpPr>
          <p:cNvPr id="267" name="Google Shape;267;p23"/>
          <p:cNvSpPr txBox="1"/>
          <p:nvPr/>
        </p:nvSpPr>
        <p:spPr>
          <a:xfrm>
            <a:off x="914400" y="4287142"/>
            <a:ext cx="49911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Khởi tạo Client và cấu hình các tham số temperature, max_output_tokens.</a:t>
            </a:r>
            <a:endParaRPr/>
          </a:p>
        </p:txBody>
      </p:sp>
      <p:sp>
        <p:nvSpPr>
          <p:cNvPr id="268" name="Google Shape;268;p23"/>
          <p:cNvSpPr txBox="1"/>
          <p:nvPr/>
        </p:nvSpPr>
        <p:spPr>
          <a:xfrm>
            <a:off x="581025" y="485775"/>
            <a:ext cx="11581447" cy="502890"/>
          </a:xfrm>
          <a:prstGeom prst="rect">
            <a:avLst/>
          </a:prstGeom>
          <a:noFill/>
          <a:ln>
            <a:noFill/>
          </a:ln>
        </p:spPr>
        <p:txBody>
          <a:bodyPr anchorCtr="0" anchor="ctr" bIns="0" lIns="0" spcFirstLastPara="1" rIns="0" wrap="square" tIns="0">
            <a:spAutoFit/>
          </a:bodyPr>
          <a:lstStyle/>
          <a:p>
            <a:pPr indent="0" lvl="0" marL="0" marR="0" rtl="0" algn="l">
              <a:lnSpc>
                <a:spcPct val="119969"/>
              </a:lnSpc>
              <a:spcBef>
                <a:spcPts val="0"/>
              </a:spcBef>
              <a:spcAft>
                <a:spcPts val="0"/>
              </a:spcAft>
              <a:buNone/>
            </a:pPr>
            <a:r>
              <a:rPr b="0" i="0" lang="en-US" sz="3300" u="none" cap="none" strike="noStrike">
                <a:solidFill>
                  <a:srgbClr val="F8FAFC"/>
                </a:solidFill>
                <a:latin typeface="Space Grotesk SemiBold"/>
                <a:ea typeface="Space Grotesk SemiBold"/>
                <a:cs typeface="Space Grotesk SemiBold"/>
                <a:sym typeface="Space Grotesk SemiBold"/>
              </a:rPr>
              <a:t>Lab 2: Giao Tiếp Cơ Bản Qua API (Python)</a:t>
            </a:r>
            <a:endParaRPr/>
          </a:p>
        </p:txBody>
      </p:sp>
      <p:sp>
        <p:nvSpPr>
          <p:cNvPr id="269" name="Google Shape;269;p23"/>
          <p:cNvSpPr/>
          <p:nvPr/>
        </p:nvSpPr>
        <p:spPr>
          <a:xfrm>
            <a:off x="581025" y="988665"/>
            <a:ext cx="57150" cy="381000"/>
          </a:xfrm>
          <a:prstGeom prst="roundRect">
            <a:avLst>
              <a:gd fmla="val 50000" name="adj"/>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73" name="Shape 273"/>
        <p:cNvGrpSpPr/>
        <p:nvPr/>
      </p:nvGrpSpPr>
      <p:grpSpPr>
        <a:xfrm>
          <a:off x="0" y="0"/>
          <a:ext cx="0" cy="0"/>
          <a:chOff x="0" y="0"/>
          <a:chExt cx="0" cy="0"/>
        </a:xfrm>
      </p:grpSpPr>
      <p:pic>
        <p:nvPicPr>
          <p:cNvPr descr="image.png" id="274" name="Google Shape;274;p2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75" name="Google Shape;275;p24"/>
          <p:cNvPicPr preferRelativeResize="0"/>
          <p:nvPr/>
        </p:nvPicPr>
        <p:blipFill rotWithShape="1">
          <a:blip r:embed="rId4">
            <a:alphaModFix/>
          </a:blip>
          <a:srcRect b="0" l="0" r="0" t="0"/>
          <a:stretch/>
        </p:blipFill>
        <p:spPr>
          <a:xfrm>
            <a:off x="6286500" y="2483197"/>
            <a:ext cx="5324475" cy="1600200"/>
          </a:xfrm>
          <a:prstGeom prst="rect">
            <a:avLst/>
          </a:prstGeom>
          <a:noFill/>
          <a:ln>
            <a:noFill/>
          </a:ln>
        </p:spPr>
      </p:pic>
      <p:sp>
        <p:nvSpPr>
          <p:cNvPr id="276" name="Google Shape;276;p24"/>
          <p:cNvSpPr txBox="1"/>
          <p:nvPr/>
        </p:nvSpPr>
        <p:spPr>
          <a:xfrm>
            <a:off x="581025" y="2483197"/>
            <a:ext cx="5590698" cy="3199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38BDF8"/>
                </a:solidFill>
                <a:latin typeface="Space Grotesk SemiBold"/>
                <a:ea typeface="Space Grotesk SemiBold"/>
                <a:cs typeface="Space Grotesk SemiBold"/>
                <a:sym typeface="Space Grotesk SemiBold"/>
              </a:rPr>
              <a:t>Yêu cầu Prompt phức hợp</a:t>
            </a:r>
            <a:endParaRPr/>
          </a:p>
        </p:txBody>
      </p:sp>
      <p:sp>
        <p:nvSpPr>
          <p:cNvPr id="277" name="Google Shape;277;p24"/>
          <p:cNvSpPr/>
          <p:nvPr/>
        </p:nvSpPr>
        <p:spPr>
          <a:xfrm>
            <a:off x="581025" y="2946052"/>
            <a:ext cx="5324475" cy="1382910"/>
          </a:xfrm>
          <a:prstGeom prst="rect">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8" name="Google Shape;278;p24"/>
          <p:cNvSpPr txBox="1"/>
          <p:nvPr/>
        </p:nvSpPr>
        <p:spPr>
          <a:xfrm>
            <a:off x="723900" y="3088927"/>
            <a:ext cx="5038725" cy="1097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1" lang="en-US" sz="1350" u="none" cap="none" strike="noStrike">
                <a:solidFill>
                  <a:srgbClr val="CBD5E1"/>
                </a:solidFill>
                <a:latin typeface="Inter"/>
                <a:ea typeface="Inter"/>
                <a:cs typeface="Inter"/>
                <a:sym typeface="Inter"/>
              </a:rPr>
              <a:t>"Write a robust Python function to calculate the geometric mean of a sequence of numbers. The function should accept variable arguments, raise error if empty, handle invalid inputs, and use reduce function."</a:t>
            </a:r>
            <a:endParaRPr/>
          </a:p>
        </p:txBody>
      </p:sp>
      <p:sp>
        <p:nvSpPr>
          <p:cNvPr id="279" name="Google Shape;279;p24"/>
          <p:cNvSpPr/>
          <p:nvPr/>
        </p:nvSpPr>
        <p:spPr>
          <a:xfrm>
            <a:off x="581025" y="2946052"/>
            <a:ext cx="38100" cy="138291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0" name="Google Shape;280;p24"/>
          <p:cNvSpPr txBox="1"/>
          <p:nvPr/>
        </p:nvSpPr>
        <p:spPr>
          <a:xfrm>
            <a:off x="581025" y="4471838"/>
            <a:ext cx="532447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Kết quả AI sinh ra đáp ứng toàn bộ các ràng buộc về logic (Toán học) và cú pháp Python (Reduce, Args, Error Handling).</a:t>
            </a:r>
            <a:endParaRPr/>
          </a:p>
        </p:txBody>
      </p:sp>
      <p:sp>
        <p:nvSpPr>
          <p:cNvPr id="281" name="Google Shape;281;p24"/>
          <p:cNvSpPr txBox="1"/>
          <p:nvPr/>
        </p:nvSpPr>
        <p:spPr>
          <a:xfrm>
            <a:off x="6486525" y="2683222"/>
            <a:ext cx="342900" cy="190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125" u="none" cap="none" strike="noStrike">
                <a:solidFill>
                  <a:srgbClr val="FF7B72"/>
                </a:solidFill>
                <a:latin typeface="Fira Code"/>
                <a:ea typeface="Fira Code"/>
                <a:cs typeface="Fira Code"/>
                <a:sym typeface="Fira Code"/>
              </a:rPr>
              <a:t>from</a:t>
            </a:r>
            <a:endParaRPr/>
          </a:p>
        </p:txBody>
      </p:sp>
      <p:sp>
        <p:nvSpPr>
          <p:cNvPr id="282" name="Google Shape;282;p24"/>
          <p:cNvSpPr txBox="1"/>
          <p:nvPr/>
        </p:nvSpPr>
        <p:spPr>
          <a:xfrm>
            <a:off x="7772400" y="2683222"/>
            <a:ext cx="514350" cy="190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125" u="none" cap="none" strike="noStrike">
                <a:solidFill>
                  <a:srgbClr val="FF7B72"/>
                </a:solidFill>
                <a:latin typeface="Fira Code"/>
                <a:ea typeface="Fira Code"/>
                <a:cs typeface="Fira Code"/>
                <a:sym typeface="Fira Code"/>
              </a:rPr>
              <a:t>import</a:t>
            </a:r>
            <a:endParaRPr/>
          </a:p>
        </p:txBody>
      </p:sp>
      <p:sp>
        <p:nvSpPr>
          <p:cNvPr id="283" name="Google Shape;283;p24"/>
          <p:cNvSpPr txBox="1"/>
          <p:nvPr/>
        </p:nvSpPr>
        <p:spPr>
          <a:xfrm>
            <a:off x="8972550" y="2683222"/>
            <a:ext cx="257175" cy="190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125" u="none" cap="none" strike="noStrike">
                <a:solidFill>
                  <a:srgbClr val="FF7B72"/>
                </a:solidFill>
                <a:latin typeface="Fira Code"/>
                <a:ea typeface="Fira Code"/>
                <a:cs typeface="Fira Code"/>
                <a:sym typeface="Fira Code"/>
              </a:rPr>
              <a:t>def</a:t>
            </a:r>
            <a:endParaRPr/>
          </a:p>
        </p:txBody>
      </p:sp>
      <p:sp>
        <p:nvSpPr>
          <p:cNvPr id="284" name="Google Shape;284;p24"/>
          <p:cNvSpPr txBox="1"/>
          <p:nvPr/>
        </p:nvSpPr>
        <p:spPr>
          <a:xfrm>
            <a:off x="6486525" y="2883247"/>
            <a:ext cx="1543050" cy="190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125" u="none" cap="none" strike="noStrike">
                <a:solidFill>
                  <a:srgbClr val="D2A8FF"/>
                </a:solidFill>
                <a:latin typeface="Fira Code"/>
                <a:ea typeface="Fira Code"/>
                <a:cs typeface="Fira Code"/>
                <a:sym typeface="Fira Code"/>
              </a:rPr>
              <a:t>get_geometric_mean</a:t>
            </a:r>
            <a:endParaRPr/>
          </a:p>
        </p:txBody>
      </p:sp>
      <p:sp>
        <p:nvSpPr>
          <p:cNvPr id="285" name="Google Shape;285;p24"/>
          <p:cNvSpPr txBox="1"/>
          <p:nvPr/>
        </p:nvSpPr>
        <p:spPr>
          <a:xfrm>
            <a:off x="8715375" y="2883247"/>
            <a:ext cx="428625" cy="190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125" u="none" cap="none" strike="noStrike">
                <a:solidFill>
                  <a:srgbClr val="D2A8FF"/>
                </a:solidFill>
                <a:latin typeface="Fira Code"/>
                <a:ea typeface="Fira Code"/>
                <a:cs typeface="Fira Code"/>
                <a:sym typeface="Fira Code"/>
              </a:rPr>
              <a:t>float</a:t>
            </a:r>
            <a:endParaRPr/>
          </a:p>
        </p:txBody>
      </p:sp>
      <p:sp>
        <p:nvSpPr>
          <p:cNvPr id="286" name="Google Shape;286;p24"/>
          <p:cNvSpPr txBox="1"/>
          <p:nvPr/>
        </p:nvSpPr>
        <p:spPr>
          <a:xfrm>
            <a:off x="9572625" y="2883247"/>
            <a:ext cx="428625" cy="190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125" u="none" cap="none" strike="noStrike">
                <a:solidFill>
                  <a:srgbClr val="D2A8FF"/>
                </a:solidFill>
                <a:latin typeface="Fira Code"/>
                <a:ea typeface="Fira Code"/>
                <a:cs typeface="Fira Code"/>
                <a:sym typeface="Fira Code"/>
              </a:rPr>
              <a:t>float</a:t>
            </a:r>
            <a:endParaRPr/>
          </a:p>
        </p:txBody>
      </p:sp>
      <p:sp>
        <p:nvSpPr>
          <p:cNvPr id="287" name="Google Shape;287;p24"/>
          <p:cNvSpPr txBox="1"/>
          <p:nvPr/>
        </p:nvSpPr>
        <p:spPr>
          <a:xfrm>
            <a:off x="10172700" y="2883247"/>
            <a:ext cx="514350" cy="190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125" u="none" cap="none" strike="noStrike">
                <a:solidFill>
                  <a:srgbClr val="FF7B72"/>
                </a:solidFill>
                <a:latin typeface="Fira Code"/>
                <a:ea typeface="Fira Code"/>
                <a:cs typeface="Fira Code"/>
                <a:sym typeface="Fira Code"/>
              </a:rPr>
              <a:t>if not</a:t>
            </a:r>
            <a:endParaRPr/>
          </a:p>
        </p:txBody>
      </p:sp>
      <p:sp>
        <p:nvSpPr>
          <p:cNvPr id="288" name="Google Shape;288;p24"/>
          <p:cNvSpPr txBox="1"/>
          <p:nvPr/>
        </p:nvSpPr>
        <p:spPr>
          <a:xfrm>
            <a:off x="6486525" y="3083272"/>
            <a:ext cx="257175" cy="190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125" u="none" cap="none" strike="noStrike">
                <a:solidFill>
                  <a:srgbClr val="D2A8FF"/>
                </a:solidFill>
                <a:latin typeface="Fira Code"/>
                <a:ea typeface="Fira Code"/>
                <a:cs typeface="Fira Code"/>
                <a:sym typeface="Fira Code"/>
              </a:rPr>
              <a:t>len</a:t>
            </a:r>
            <a:endParaRPr/>
          </a:p>
        </p:txBody>
      </p:sp>
      <p:sp>
        <p:nvSpPr>
          <p:cNvPr id="289" name="Google Shape;289;p24"/>
          <p:cNvSpPr txBox="1"/>
          <p:nvPr/>
        </p:nvSpPr>
        <p:spPr>
          <a:xfrm>
            <a:off x="7429500" y="3083272"/>
            <a:ext cx="428625" cy="190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125" u="none" cap="none" strike="noStrike">
                <a:solidFill>
                  <a:srgbClr val="FF7B72"/>
                </a:solidFill>
                <a:latin typeface="Fira Code"/>
                <a:ea typeface="Fira Code"/>
                <a:cs typeface="Fira Code"/>
                <a:sym typeface="Fira Code"/>
              </a:rPr>
              <a:t>raise</a:t>
            </a:r>
            <a:endParaRPr/>
          </a:p>
        </p:txBody>
      </p:sp>
      <p:sp>
        <p:nvSpPr>
          <p:cNvPr id="290" name="Google Shape;290;p24"/>
          <p:cNvSpPr txBox="1"/>
          <p:nvPr/>
        </p:nvSpPr>
        <p:spPr>
          <a:xfrm>
            <a:off x="8886825" y="3083272"/>
            <a:ext cx="1371600" cy="190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125" u="none" cap="none" strike="noStrike">
                <a:solidFill>
                  <a:srgbClr val="A5D6FF"/>
                </a:solidFill>
                <a:latin typeface="Fira Code"/>
                <a:ea typeface="Fira Code"/>
                <a:cs typeface="Fira Code"/>
                <a:sym typeface="Fira Code"/>
              </a:rPr>
              <a:t>"Empty sequence"</a:t>
            </a:r>
            <a:endParaRPr/>
          </a:p>
        </p:txBody>
      </p:sp>
      <p:sp>
        <p:nvSpPr>
          <p:cNvPr id="291" name="Google Shape;291;p24"/>
          <p:cNvSpPr txBox="1"/>
          <p:nvPr/>
        </p:nvSpPr>
        <p:spPr>
          <a:xfrm>
            <a:off x="7086600" y="3283297"/>
            <a:ext cx="514350" cy="190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125" u="none" cap="none" strike="noStrike">
                <a:solidFill>
                  <a:srgbClr val="FF7B72"/>
                </a:solidFill>
                <a:latin typeface="Fira Code"/>
                <a:ea typeface="Fira Code"/>
                <a:cs typeface="Fira Code"/>
                <a:sym typeface="Fira Code"/>
              </a:rPr>
              <a:t>lambda</a:t>
            </a:r>
            <a:endParaRPr/>
          </a:p>
        </p:txBody>
      </p:sp>
      <p:sp>
        <p:nvSpPr>
          <p:cNvPr id="292" name="Google Shape;292;p24"/>
          <p:cNvSpPr txBox="1"/>
          <p:nvPr/>
        </p:nvSpPr>
        <p:spPr>
          <a:xfrm>
            <a:off x="9315450" y="3283297"/>
            <a:ext cx="171450" cy="190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125" u="none" cap="none" strike="noStrike">
                <a:solidFill>
                  <a:srgbClr val="FF7B72"/>
                </a:solidFill>
                <a:latin typeface="Fira Code"/>
                <a:ea typeface="Fira Code"/>
                <a:cs typeface="Fira Code"/>
                <a:sym typeface="Fira Code"/>
              </a:rPr>
              <a:t>if</a:t>
            </a:r>
            <a:endParaRPr/>
          </a:p>
        </p:txBody>
      </p:sp>
      <p:sp>
        <p:nvSpPr>
          <p:cNvPr id="293" name="Google Shape;293;p24"/>
          <p:cNvSpPr txBox="1"/>
          <p:nvPr/>
        </p:nvSpPr>
        <p:spPr>
          <a:xfrm>
            <a:off x="10601325" y="3283297"/>
            <a:ext cx="257175" cy="190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125" u="none" cap="none" strike="noStrike">
                <a:solidFill>
                  <a:srgbClr val="FF7B72"/>
                </a:solidFill>
                <a:latin typeface="Fira Code"/>
                <a:ea typeface="Fira Code"/>
                <a:cs typeface="Fira Code"/>
                <a:sym typeface="Fira Code"/>
              </a:rPr>
              <a:t>and</a:t>
            </a:r>
            <a:endParaRPr/>
          </a:p>
        </p:txBody>
      </p:sp>
      <p:sp>
        <p:nvSpPr>
          <p:cNvPr id="294" name="Google Shape;294;p24"/>
          <p:cNvSpPr txBox="1"/>
          <p:nvPr/>
        </p:nvSpPr>
        <p:spPr>
          <a:xfrm>
            <a:off x="6486525" y="3483322"/>
            <a:ext cx="257175" cy="190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125" u="none" cap="none" strike="noStrike">
                <a:solidFill>
                  <a:srgbClr val="D2A8FF"/>
                </a:solidFill>
                <a:latin typeface="Fira Code"/>
                <a:ea typeface="Fira Code"/>
                <a:cs typeface="Fira Code"/>
                <a:sym typeface="Fira Code"/>
              </a:rPr>
              <a:t>len</a:t>
            </a:r>
            <a:endParaRPr/>
          </a:p>
        </p:txBody>
      </p:sp>
      <p:sp>
        <p:nvSpPr>
          <p:cNvPr id="295" name="Google Shape;295;p24"/>
          <p:cNvSpPr txBox="1"/>
          <p:nvPr/>
        </p:nvSpPr>
        <p:spPr>
          <a:xfrm>
            <a:off x="8201025" y="3483322"/>
            <a:ext cx="428625" cy="190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125" u="none" cap="none" strike="noStrike">
                <a:solidFill>
                  <a:srgbClr val="FF7B72"/>
                </a:solidFill>
                <a:latin typeface="Fira Code"/>
                <a:ea typeface="Fira Code"/>
                <a:cs typeface="Fira Code"/>
                <a:sym typeface="Fira Code"/>
              </a:rPr>
              <a:t>raise</a:t>
            </a:r>
            <a:endParaRPr/>
          </a:p>
        </p:txBody>
      </p:sp>
      <p:sp>
        <p:nvSpPr>
          <p:cNvPr id="296" name="Google Shape;296;p24"/>
          <p:cNvSpPr txBox="1"/>
          <p:nvPr/>
        </p:nvSpPr>
        <p:spPr>
          <a:xfrm>
            <a:off x="9658350" y="3483322"/>
            <a:ext cx="1543050" cy="190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125" u="none" cap="none" strike="noStrike">
                <a:solidFill>
                  <a:srgbClr val="A5D6FF"/>
                </a:solidFill>
                <a:latin typeface="Fira Code"/>
                <a:ea typeface="Fira Code"/>
                <a:cs typeface="Fira Code"/>
                <a:sym typeface="Fira Code"/>
              </a:rPr>
              <a:t>"Cannot calculate"</a:t>
            </a:r>
            <a:endParaRPr/>
          </a:p>
        </p:txBody>
      </p:sp>
      <p:sp>
        <p:nvSpPr>
          <p:cNvPr id="297" name="Google Shape;297;p24"/>
          <p:cNvSpPr txBox="1"/>
          <p:nvPr/>
        </p:nvSpPr>
        <p:spPr>
          <a:xfrm>
            <a:off x="6486525" y="3683347"/>
            <a:ext cx="514350" cy="190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125" u="none" cap="none" strike="noStrike">
                <a:solidFill>
                  <a:srgbClr val="FF7B72"/>
                </a:solidFill>
                <a:latin typeface="Fira Code"/>
                <a:ea typeface="Fira Code"/>
                <a:cs typeface="Fira Code"/>
                <a:sym typeface="Fira Code"/>
              </a:rPr>
              <a:t>return</a:t>
            </a:r>
            <a:endParaRPr/>
          </a:p>
        </p:txBody>
      </p:sp>
      <p:sp>
        <p:nvSpPr>
          <p:cNvPr id="298" name="Google Shape;298;p24"/>
          <p:cNvSpPr txBox="1"/>
          <p:nvPr/>
        </p:nvSpPr>
        <p:spPr>
          <a:xfrm>
            <a:off x="7086600" y="3683347"/>
            <a:ext cx="257175" cy="190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125" u="none" cap="none" strike="noStrike">
                <a:solidFill>
                  <a:srgbClr val="D2A8FF"/>
                </a:solidFill>
                <a:latin typeface="Fira Code"/>
                <a:ea typeface="Fira Code"/>
                <a:cs typeface="Fira Code"/>
                <a:sym typeface="Fira Code"/>
              </a:rPr>
              <a:t>pow</a:t>
            </a:r>
            <a:endParaRPr/>
          </a:p>
        </p:txBody>
      </p:sp>
      <p:sp>
        <p:nvSpPr>
          <p:cNvPr id="299" name="Google Shape;299;p24"/>
          <p:cNvSpPr txBox="1"/>
          <p:nvPr/>
        </p:nvSpPr>
        <p:spPr>
          <a:xfrm>
            <a:off x="8543925" y="3683347"/>
            <a:ext cx="257175" cy="190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125" u="none" cap="none" strike="noStrike">
                <a:solidFill>
                  <a:srgbClr val="D2A8FF"/>
                </a:solidFill>
                <a:latin typeface="Fira Code"/>
                <a:ea typeface="Fira Code"/>
                <a:cs typeface="Fira Code"/>
                <a:sym typeface="Fira Code"/>
              </a:rPr>
              <a:t>len</a:t>
            </a:r>
            <a:endParaRPr/>
          </a:p>
        </p:txBody>
      </p:sp>
      <p:sp>
        <p:nvSpPr>
          <p:cNvPr id="300" name="Google Shape;300;p24"/>
          <p:cNvSpPr txBox="1"/>
          <p:nvPr/>
        </p:nvSpPr>
        <p:spPr>
          <a:xfrm>
            <a:off x="581025" y="485775"/>
            <a:ext cx="11581447" cy="502890"/>
          </a:xfrm>
          <a:prstGeom prst="rect">
            <a:avLst/>
          </a:prstGeom>
          <a:noFill/>
          <a:ln>
            <a:noFill/>
          </a:ln>
        </p:spPr>
        <p:txBody>
          <a:bodyPr anchorCtr="0" anchor="ctr" bIns="0" lIns="0" spcFirstLastPara="1" rIns="0" wrap="square" tIns="0">
            <a:spAutoFit/>
          </a:bodyPr>
          <a:lstStyle/>
          <a:p>
            <a:pPr indent="0" lvl="0" marL="0" marR="0" rtl="0" algn="l">
              <a:lnSpc>
                <a:spcPct val="119969"/>
              </a:lnSpc>
              <a:spcBef>
                <a:spcPts val="0"/>
              </a:spcBef>
              <a:spcAft>
                <a:spcPts val="0"/>
              </a:spcAft>
              <a:buNone/>
            </a:pPr>
            <a:r>
              <a:rPr b="0" i="0" lang="en-US" sz="3300" u="none" cap="none" strike="noStrike">
                <a:solidFill>
                  <a:srgbClr val="F8FAFC"/>
                </a:solidFill>
                <a:latin typeface="Space Grotesk SemiBold"/>
                <a:ea typeface="Space Grotesk SemiBold"/>
                <a:cs typeface="Space Grotesk SemiBold"/>
                <a:sym typeface="Space Grotesk SemiBold"/>
              </a:rPr>
              <a:t>Lab 3: Yêu Cầu AI Sinh Hàm Python Phức Tạp</a:t>
            </a:r>
            <a:endParaRPr/>
          </a:p>
        </p:txBody>
      </p:sp>
      <p:sp>
        <p:nvSpPr>
          <p:cNvPr id="301" name="Google Shape;301;p24"/>
          <p:cNvSpPr/>
          <p:nvPr/>
        </p:nvSpPr>
        <p:spPr>
          <a:xfrm>
            <a:off x="581025" y="988665"/>
            <a:ext cx="57150" cy="381000"/>
          </a:xfrm>
          <a:prstGeom prst="roundRect">
            <a:avLst>
              <a:gd fmla="val 50000" name="adj"/>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305" name="Shape 305"/>
        <p:cNvGrpSpPr/>
        <p:nvPr/>
      </p:nvGrpSpPr>
      <p:grpSpPr>
        <a:xfrm>
          <a:off x="0" y="0"/>
          <a:ext cx="0" cy="0"/>
          <a:chOff x="0" y="0"/>
          <a:chExt cx="0" cy="0"/>
        </a:xfrm>
      </p:grpSpPr>
      <p:pic>
        <p:nvPicPr>
          <p:cNvPr descr="image.png" id="306" name="Google Shape;306;p2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07" name="Google Shape;307;p25"/>
          <p:cNvSpPr/>
          <p:nvPr/>
        </p:nvSpPr>
        <p:spPr>
          <a:xfrm>
            <a:off x="5619750" y="2031801"/>
            <a:ext cx="952500" cy="5715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8" name="Google Shape;308;p25"/>
          <p:cNvSpPr txBox="1"/>
          <p:nvPr/>
        </p:nvSpPr>
        <p:spPr>
          <a:xfrm>
            <a:off x="5455920" y="2374701"/>
            <a:ext cx="1280160" cy="31998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2100" u="none" cap="none" strike="noStrike">
                <a:solidFill>
                  <a:srgbClr val="94A3B8"/>
                </a:solidFill>
                <a:latin typeface="Space Grotesk SemiBold"/>
                <a:ea typeface="Space Grotesk SemiBold"/>
                <a:cs typeface="Space Grotesk SemiBold"/>
                <a:sym typeface="Space Grotesk SemiBold"/>
              </a:rPr>
              <a:t>PHẦN 03</a:t>
            </a:r>
            <a:endParaRPr/>
          </a:p>
        </p:txBody>
      </p:sp>
      <p:sp>
        <p:nvSpPr>
          <p:cNvPr id="309" name="Google Shape;309;p25"/>
          <p:cNvSpPr txBox="1"/>
          <p:nvPr/>
        </p:nvSpPr>
        <p:spPr>
          <a:xfrm>
            <a:off x="2470546" y="2837557"/>
            <a:ext cx="7250906" cy="1462980"/>
          </a:xfrm>
          <a:prstGeom prst="rect">
            <a:avLst/>
          </a:prstGeom>
          <a:noFill/>
          <a:ln>
            <a:noFill/>
          </a:ln>
        </p:spPr>
        <p:txBody>
          <a:bodyPr anchorCtr="0" anchor="t" bIns="0" lIns="0" spcFirstLastPara="1" rIns="0" wrap="square" tIns="0">
            <a:spAutoFit/>
          </a:bodyPr>
          <a:lstStyle/>
          <a:p>
            <a:pPr indent="0" lvl="0" marL="0" marR="0" rtl="0" algn="ctr">
              <a:lnSpc>
                <a:spcPct val="119979"/>
              </a:lnSpc>
              <a:spcBef>
                <a:spcPts val="0"/>
              </a:spcBef>
              <a:spcAft>
                <a:spcPts val="0"/>
              </a:spcAft>
              <a:buNone/>
            </a:pPr>
            <a:r>
              <a:rPr b="1" i="0" lang="en-US" sz="4800" u="none" cap="none" strike="noStrike">
                <a:solidFill>
                  <a:srgbClr val="F8FAFC"/>
                </a:solidFill>
                <a:latin typeface="Space Grotesk"/>
                <a:ea typeface="Space Grotesk"/>
                <a:cs typeface="Space Grotesk"/>
                <a:sym typeface="Space Grotesk"/>
              </a:rPr>
              <a:t>Sử Dụng GitHub Copilot</a:t>
            </a:r>
            <a:br>
              <a:rPr b="0" i="0" lang="en-US" sz="1800" u="none" cap="none" strike="noStrike">
                <a:solidFill>
                  <a:schemeClr val="dk1"/>
                </a:solidFill>
                <a:latin typeface="Calibri"/>
                <a:ea typeface="Calibri"/>
                <a:cs typeface="Calibri"/>
                <a:sym typeface="Calibri"/>
              </a:rPr>
            </a:br>
            <a:r>
              <a:rPr b="1" i="0" lang="en-US" sz="4800" u="none" cap="none" strike="noStrike">
                <a:solidFill>
                  <a:srgbClr val="F8FAFC"/>
                </a:solidFill>
                <a:latin typeface="Space Grotesk"/>
                <a:ea typeface="Space Grotesk"/>
                <a:cs typeface="Space Grotesk"/>
                <a:sym typeface="Space Grotesk"/>
              </a:rPr>
              <a:t> Với Các IDE Hiện Đại</a:t>
            </a:r>
            <a:endParaRPr/>
          </a:p>
        </p:txBody>
      </p:sp>
      <p:sp>
        <p:nvSpPr>
          <p:cNvPr id="310" name="Google Shape;310;p25"/>
          <p:cNvSpPr txBox="1"/>
          <p:nvPr/>
        </p:nvSpPr>
        <p:spPr>
          <a:xfrm>
            <a:off x="2576512" y="4491037"/>
            <a:ext cx="7038975" cy="3351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650" u="none" cap="none" strike="noStrike">
                <a:solidFill>
                  <a:srgbClr val="94A3B8"/>
                </a:solidFill>
                <a:latin typeface="Inter"/>
                <a:ea typeface="Inter"/>
                <a:cs typeface="Inter"/>
                <a:sym typeface="Inter"/>
              </a:rPr>
              <a:t>PyCharm, VS Code, Jupyter Notebook và khái niệm AI Pair Programmer.</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314" name="Shape 314"/>
        <p:cNvGrpSpPr/>
        <p:nvPr/>
      </p:nvGrpSpPr>
      <p:grpSpPr>
        <a:xfrm>
          <a:off x="0" y="0"/>
          <a:ext cx="0" cy="0"/>
          <a:chOff x="0" y="0"/>
          <a:chExt cx="0" cy="0"/>
        </a:xfrm>
      </p:grpSpPr>
      <p:pic>
        <p:nvPicPr>
          <p:cNvPr descr="image.png" id="315" name="Google Shape;315;p2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16" name="Google Shape;316;p26"/>
          <p:cNvPicPr preferRelativeResize="0"/>
          <p:nvPr/>
        </p:nvPicPr>
        <p:blipFill rotWithShape="1">
          <a:blip r:embed="rId4">
            <a:alphaModFix/>
          </a:blip>
          <a:srcRect b="0" l="0" r="0" t="0"/>
          <a:stretch/>
        </p:blipFill>
        <p:spPr>
          <a:xfrm>
            <a:off x="581025" y="2394495"/>
            <a:ext cx="5324475" cy="2857500"/>
          </a:xfrm>
          <a:prstGeom prst="rect">
            <a:avLst/>
          </a:prstGeom>
          <a:noFill/>
          <a:ln>
            <a:noFill/>
          </a:ln>
        </p:spPr>
      </p:pic>
      <p:pic>
        <p:nvPicPr>
          <p:cNvPr descr="image.png" id="317" name="Google Shape;317;p26"/>
          <p:cNvPicPr preferRelativeResize="0"/>
          <p:nvPr/>
        </p:nvPicPr>
        <p:blipFill rotWithShape="1">
          <a:blip r:embed="rId5">
            <a:alphaModFix/>
          </a:blip>
          <a:srcRect b="0" l="0" r="0" t="0"/>
          <a:stretch/>
        </p:blipFill>
        <p:spPr>
          <a:xfrm>
            <a:off x="590550" y="2404020"/>
            <a:ext cx="5305425" cy="2838450"/>
          </a:xfrm>
          <a:prstGeom prst="rect">
            <a:avLst/>
          </a:prstGeom>
          <a:noFill/>
          <a:ln>
            <a:noFill/>
          </a:ln>
        </p:spPr>
      </p:pic>
      <p:sp>
        <p:nvSpPr>
          <p:cNvPr id="318" name="Google Shape;318;p26"/>
          <p:cNvSpPr txBox="1"/>
          <p:nvPr/>
        </p:nvSpPr>
        <p:spPr>
          <a:xfrm>
            <a:off x="6286500" y="2000398"/>
            <a:ext cx="5590698" cy="3199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38BDF8"/>
                </a:solidFill>
                <a:latin typeface="Space Grotesk SemiBold"/>
                <a:ea typeface="Space Grotesk SemiBold"/>
                <a:cs typeface="Space Grotesk SemiBold"/>
                <a:sym typeface="Space Grotesk SemiBold"/>
              </a:rPr>
              <a:t>Lập Trình Viên Đồng Hành</a:t>
            </a:r>
            <a:endParaRPr/>
          </a:p>
        </p:txBody>
      </p:sp>
      <p:sp>
        <p:nvSpPr>
          <p:cNvPr id="319" name="Google Shape;319;p26"/>
          <p:cNvSpPr txBox="1"/>
          <p:nvPr/>
        </p:nvSpPr>
        <p:spPr>
          <a:xfrm>
            <a:off x="6286500" y="2463254"/>
            <a:ext cx="532447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GitHub Copilot đóng vai trò như một người "lập trình cặp" (Pair Programmer) bằng trí tuệ nhân tạo.</a:t>
            </a:r>
            <a:endParaRPr/>
          </a:p>
        </p:txBody>
      </p:sp>
      <p:sp>
        <p:nvSpPr>
          <p:cNvPr id="320" name="Google Shape;320;p26"/>
          <p:cNvSpPr txBox="1"/>
          <p:nvPr/>
        </p:nvSpPr>
        <p:spPr>
          <a:xfrm>
            <a:off x="6619875" y="3154709"/>
            <a:ext cx="49911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CBD5E1"/>
                </a:solidFill>
                <a:latin typeface="Inter"/>
                <a:ea typeface="Inter"/>
                <a:cs typeface="Inter"/>
                <a:sym typeface="Inter"/>
              </a:rPr>
              <a:t>Nhận thức ngữ cảnh:</a:t>
            </a:r>
            <a:r>
              <a:rPr b="0" i="0" lang="en-US" sz="1350" u="none" cap="none" strike="noStrike">
                <a:solidFill>
                  <a:srgbClr val="CBD5E1"/>
                </a:solidFill>
                <a:latin typeface="Inter"/>
                <a:ea typeface="Inter"/>
                <a:cs typeface="Inter"/>
                <a:sym typeface="Inter"/>
              </a:rPr>
              <a:t> Đọc hiểu toàn bộ file code hiện hành để đưa ra gợi ý liên quan nhất.</a:t>
            </a:r>
            <a:endParaRPr/>
          </a:p>
        </p:txBody>
      </p:sp>
      <p:sp>
        <p:nvSpPr>
          <p:cNvPr id="321" name="Google Shape;321;p26"/>
          <p:cNvSpPr txBox="1"/>
          <p:nvPr/>
        </p:nvSpPr>
        <p:spPr>
          <a:xfrm>
            <a:off x="6619875" y="3893790"/>
            <a:ext cx="49911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CBD5E1"/>
                </a:solidFill>
                <a:latin typeface="Inter"/>
                <a:ea typeface="Inter"/>
                <a:cs typeface="Inter"/>
                <a:sym typeface="Inter"/>
              </a:rPr>
              <a:t>Tự động hoàn thành (Code Completion):</a:t>
            </a:r>
            <a:r>
              <a:rPr b="0" i="0" lang="en-US" sz="1350" u="none" cap="none" strike="noStrike">
                <a:solidFill>
                  <a:srgbClr val="CBD5E1"/>
                </a:solidFill>
                <a:latin typeface="Inter"/>
                <a:ea typeface="Inter"/>
                <a:cs typeface="Inter"/>
                <a:sym typeface="Inter"/>
              </a:rPr>
              <a:t> Đề xuất từ một dòng code đến toàn bộ function logic.</a:t>
            </a:r>
            <a:endParaRPr/>
          </a:p>
        </p:txBody>
      </p:sp>
      <p:sp>
        <p:nvSpPr>
          <p:cNvPr id="322" name="Google Shape;322;p26"/>
          <p:cNvSpPr txBox="1"/>
          <p:nvPr/>
        </p:nvSpPr>
        <p:spPr>
          <a:xfrm>
            <a:off x="6619875" y="4632870"/>
            <a:ext cx="4991100"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CBD5E1"/>
                </a:solidFill>
                <a:latin typeface="Inter"/>
                <a:ea typeface="Inter"/>
                <a:cs typeface="Inter"/>
                <a:sym typeface="Inter"/>
              </a:rPr>
              <a:t>Tích hợp mượt mà:</a:t>
            </a:r>
            <a:r>
              <a:rPr b="0" i="0" lang="en-US" sz="1350" u="none" cap="none" strike="noStrike">
                <a:solidFill>
                  <a:srgbClr val="CBD5E1"/>
                </a:solidFill>
                <a:latin typeface="Inter"/>
                <a:ea typeface="Inter"/>
                <a:cs typeface="Inter"/>
                <a:sym typeface="Inter"/>
              </a:rPr>
              <a:t> Hoạt động trực tiếp dưới dạng Plugin/Extension trong VS Code, PyCharm, Jupyter. Người dùng chỉ cần ấn Tab để chấp nhận.</a:t>
            </a:r>
            <a:endParaRPr/>
          </a:p>
        </p:txBody>
      </p:sp>
      <p:sp>
        <p:nvSpPr>
          <p:cNvPr id="323" name="Google Shape;323;p26"/>
          <p:cNvSpPr txBox="1"/>
          <p:nvPr/>
        </p:nvSpPr>
        <p:spPr>
          <a:xfrm>
            <a:off x="581025" y="485775"/>
            <a:ext cx="11581447" cy="502890"/>
          </a:xfrm>
          <a:prstGeom prst="rect">
            <a:avLst/>
          </a:prstGeom>
          <a:noFill/>
          <a:ln>
            <a:noFill/>
          </a:ln>
        </p:spPr>
        <p:txBody>
          <a:bodyPr anchorCtr="0" anchor="ctr" bIns="0" lIns="0" spcFirstLastPara="1" rIns="0" wrap="square" tIns="0">
            <a:spAutoFit/>
          </a:bodyPr>
          <a:lstStyle/>
          <a:p>
            <a:pPr indent="0" lvl="0" marL="0" marR="0" rtl="0" algn="l">
              <a:lnSpc>
                <a:spcPct val="119969"/>
              </a:lnSpc>
              <a:spcBef>
                <a:spcPts val="0"/>
              </a:spcBef>
              <a:spcAft>
                <a:spcPts val="0"/>
              </a:spcAft>
              <a:buNone/>
            </a:pPr>
            <a:r>
              <a:rPr b="0" i="0" lang="en-US" sz="3300" u="none" cap="none" strike="noStrike">
                <a:solidFill>
                  <a:srgbClr val="F8FAFC"/>
                </a:solidFill>
                <a:latin typeface="Space Grotesk SemiBold"/>
                <a:ea typeface="Space Grotesk SemiBold"/>
                <a:cs typeface="Space Grotesk SemiBold"/>
                <a:sym typeface="Space Grotesk SemiBold"/>
              </a:rPr>
              <a:t>Khái Niệm AI Pair Programmer</a:t>
            </a:r>
            <a:endParaRPr/>
          </a:p>
        </p:txBody>
      </p:sp>
      <p:sp>
        <p:nvSpPr>
          <p:cNvPr id="324" name="Google Shape;324;p26"/>
          <p:cNvSpPr/>
          <p:nvPr/>
        </p:nvSpPr>
        <p:spPr>
          <a:xfrm>
            <a:off x="581025" y="988665"/>
            <a:ext cx="57150" cy="381000"/>
          </a:xfrm>
          <a:prstGeom prst="roundRect">
            <a:avLst>
              <a:gd fmla="val 50000" name="adj"/>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328" name="Shape 328"/>
        <p:cNvGrpSpPr/>
        <p:nvPr/>
      </p:nvGrpSpPr>
      <p:grpSpPr>
        <a:xfrm>
          <a:off x="0" y="0"/>
          <a:ext cx="0" cy="0"/>
          <a:chOff x="0" y="0"/>
          <a:chExt cx="0" cy="0"/>
        </a:xfrm>
      </p:grpSpPr>
      <p:pic>
        <p:nvPicPr>
          <p:cNvPr descr="image.png" id="329" name="Google Shape;329;p2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30" name="Google Shape;330;p27"/>
          <p:cNvPicPr preferRelativeResize="0"/>
          <p:nvPr/>
        </p:nvPicPr>
        <p:blipFill rotWithShape="1">
          <a:blip r:embed="rId4">
            <a:alphaModFix/>
          </a:blip>
          <a:srcRect b="0" l="0" r="0" t="0"/>
          <a:stretch/>
        </p:blipFill>
        <p:spPr>
          <a:xfrm>
            <a:off x="581025" y="2742455"/>
            <a:ext cx="5372100" cy="2161728"/>
          </a:xfrm>
          <a:prstGeom prst="rect">
            <a:avLst/>
          </a:prstGeom>
          <a:noFill/>
          <a:ln>
            <a:noFill/>
          </a:ln>
        </p:spPr>
      </p:pic>
      <p:pic>
        <p:nvPicPr>
          <p:cNvPr descr="image.png" id="331" name="Google Shape;331;p27"/>
          <p:cNvPicPr preferRelativeResize="0"/>
          <p:nvPr/>
        </p:nvPicPr>
        <p:blipFill rotWithShape="1">
          <a:blip r:embed="rId5">
            <a:alphaModFix/>
          </a:blip>
          <a:srcRect b="0" l="0" r="0" t="0"/>
          <a:stretch/>
        </p:blipFill>
        <p:spPr>
          <a:xfrm>
            <a:off x="6238875" y="2742455"/>
            <a:ext cx="5372100" cy="2161728"/>
          </a:xfrm>
          <a:prstGeom prst="rect">
            <a:avLst/>
          </a:prstGeom>
          <a:noFill/>
          <a:ln>
            <a:noFill/>
          </a:ln>
        </p:spPr>
      </p:pic>
      <p:pic>
        <p:nvPicPr>
          <p:cNvPr descr="image.png" id="332" name="Google Shape;332;p27"/>
          <p:cNvPicPr preferRelativeResize="0"/>
          <p:nvPr/>
        </p:nvPicPr>
        <p:blipFill rotWithShape="1">
          <a:blip r:embed="rId6">
            <a:alphaModFix/>
          </a:blip>
          <a:srcRect b="0" l="0" r="0" t="0"/>
          <a:stretch/>
        </p:blipFill>
        <p:spPr>
          <a:xfrm>
            <a:off x="781050" y="3670101"/>
            <a:ext cx="4972050" cy="729257"/>
          </a:xfrm>
          <a:prstGeom prst="rect">
            <a:avLst/>
          </a:prstGeom>
          <a:noFill/>
          <a:ln>
            <a:noFill/>
          </a:ln>
        </p:spPr>
      </p:pic>
      <p:pic>
        <p:nvPicPr>
          <p:cNvPr descr="image.png" id="333" name="Google Shape;333;p27"/>
          <p:cNvPicPr preferRelativeResize="0"/>
          <p:nvPr/>
        </p:nvPicPr>
        <p:blipFill rotWithShape="1">
          <a:blip r:embed="rId7">
            <a:alphaModFix/>
          </a:blip>
          <a:srcRect b="0" l="0" r="0" t="0"/>
          <a:stretch/>
        </p:blipFill>
        <p:spPr>
          <a:xfrm>
            <a:off x="6438900" y="3670101"/>
            <a:ext cx="4972050" cy="556021"/>
          </a:xfrm>
          <a:prstGeom prst="rect">
            <a:avLst/>
          </a:prstGeom>
          <a:noFill/>
          <a:ln>
            <a:noFill/>
          </a:ln>
        </p:spPr>
      </p:pic>
      <p:pic>
        <p:nvPicPr>
          <p:cNvPr descr="image.png" id="334" name="Google Shape;334;p27"/>
          <p:cNvPicPr preferRelativeResize="0"/>
          <p:nvPr/>
        </p:nvPicPr>
        <p:blipFill rotWithShape="1">
          <a:blip r:embed="rId8">
            <a:alphaModFix/>
          </a:blip>
          <a:srcRect b="0" l="0" r="0" t="0"/>
          <a:stretch/>
        </p:blipFill>
        <p:spPr>
          <a:xfrm>
            <a:off x="6438900" y="4321373"/>
            <a:ext cx="4972050" cy="382785"/>
          </a:xfrm>
          <a:prstGeom prst="rect">
            <a:avLst/>
          </a:prstGeom>
          <a:noFill/>
          <a:ln>
            <a:noFill/>
          </a:ln>
        </p:spPr>
      </p:pic>
      <p:sp>
        <p:nvSpPr>
          <p:cNvPr id="335" name="Google Shape;335;p27"/>
          <p:cNvSpPr txBox="1"/>
          <p:nvPr/>
        </p:nvSpPr>
        <p:spPr>
          <a:xfrm>
            <a:off x="781050" y="2942480"/>
            <a:ext cx="3040380" cy="228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500" u="none" cap="none" strike="noStrike">
                <a:solidFill>
                  <a:srgbClr val="38BDF8"/>
                </a:solidFill>
                <a:latin typeface="Space Grotesk SemiBold"/>
                <a:ea typeface="Space Grotesk SemiBold"/>
                <a:cs typeface="Space Grotesk SemiBold"/>
                <a:sym typeface="Space Grotesk SemiBold"/>
              </a:rPr>
              <a:t>1. Sinh thuật toán (Bubble Sort)</a:t>
            </a:r>
            <a:endParaRPr/>
          </a:p>
        </p:txBody>
      </p:sp>
      <p:sp>
        <p:nvSpPr>
          <p:cNvPr id="336" name="Google Shape;336;p27"/>
          <p:cNvSpPr txBox="1"/>
          <p:nvPr/>
        </p:nvSpPr>
        <p:spPr>
          <a:xfrm>
            <a:off x="781050" y="3313955"/>
            <a:ext cx="3095625" cy="21327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CBD5E1"/>
                </a:solidFill>
                <a:latin typeface="Inter"/>
                <a:ea typeface="Inter"/>
                <a:cs typeface="Inter"/>
                <a:sym typeface="Inter"/>
              </a:rPr>
              <a:t>Chỉ cần viết comment mô tả, Copilot tự gen body.</a:t>
            </a:r>
            <a:endParaRPr/>
          </a:p>
        </p:txBody>
      </p:sp>
      <p:sp>
        <p:nvSpPr>
          <p:cNvPr id="337" name="Google Shape;337;p27"/>
          <p:cNvSpPr txBox="1"/>
          <p:nvPr/>
        </p:nvSpPr>
        <p:spPr>
          <a:xfrm>
            <a:off x="6438900" y="2942480"/>
            <a:ext cx="1770221" cy="228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500" u="none" cap="none" strike="noStrike">
                <a:solidFill>
                  <a:srgbClr val="38BDF8"/>
                </a:solidFill>
                <a:latin typeface="Space Grotesk SemiBold"/>
                <a:ea typeface="Space Grotesk SemiBold"/>
                <a:cs typeface="Space Grotesk SemiBold"/>
                <a:sym typeface="Space Grotesk SemiBold"/>
              </a:rPr>
              <a:t>2. Tối ưu hóa Code</a:t>
            </a:r>
            <a:endParaRPr/>
          </a:p>
        </p:txBody>
      </p:sp>
      <p:sp>
        <p:nvSpPr>
          <p:cNvPr id="338" name="Google Shape;338;p27"/>
          <p:cNvSpPr txBox="1"/>
          <p:nvPr/>
        </p:nvSpPr>
        <p:spPr>
          <a:xfrm>
            <a:off x="6438900" y="3313955"/>
            <a:ext cx="3067050" cy="21327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CBD5E1"/>
                </a:solidFill>
                <a:latin typeface="Inter"/>
                <a:ea typeface="Inter"/>
                <a:cs typeface="Inter"/>
                <a:sym typeface="Inter"/>
              </a:rPr>
              <a:t>Thay vì dùng vòng lặp, Copilot gợi ý hàm built-in.</a:t>
            </a:r>
            <a:endParaRPr/>
          </a:p>
        </p:txBody>
      </p:sp>
      <p:sp>
        <p:nvSpPr>
          <p:cNvPr id="339" name="Google Shape;339;p27"/>
          <p:cNvSpPr txBox="1"/>
          <p:nvPr/>
        </p:nvSpPr>
        <p:spPr>
          <a:xfrm>
            <a:off x="885825" y="3774876"/>
            <a:ext cx="17526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1" lang="en-US" sz="975" u="none" cap="none" strike="noStrike">
                <a:solidFill>
                  <a:srgbClr val="8B949E"/>
                </a:solidFill>
                <a:latin typeface="Fira Code"/>
                <a:ea typeface="Fira Code"/>
                <a:cs typeface="Fira Code"/>
                <a:sym typeface="Fira Code"/>
              </a:rPr>
              <a:t># bubble sort algorithm</a:t>
            </a:r>
            <a:endParaRPr/>
          </a:p>
        </p:txBody>
      </p:sp>
      <p:sp>
        <p:nvSpPr>
          <p:cNvPr id="340" name="Google Shape;340;p27"/>
          <p:cNvSpPr txBox="1"/>
          <p:nvPr/>
        </p:nvSpPr>
        <p:spPr>
          <a:xfrm>
            <a:off x="2714625" y="3774876"/>
            <a:ext cx="2286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FF7B72"/>
                </a:solidFill>
                <a:latin typeface="Fira Code"/>
                <a:ea typeface="Fira Code"/>
                <a:cs typeface="Fira Code"/>
                <a:sym typeface="Fira Code"/>
              </a:rPr>
              <a:t>def</a:t>
            </a:r>
            <a:endParaRPr/>
          </a:p>
        </p:txBody>
      </p:sp>
      <p:sp>
        <p:nvSpPr>
          <p:cNvPr id="341" name="Google Shape;341;p27"/>
          <p:cNvSpPr txBox="1"/>
          <p:nvPr/>
        </p:nvSpPr>
        <p:spPr>
          <a:xfrm>
            <a:off x="3019425" y="3774876"/>
            <a:ext cx="8382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D2A8FF"/>
                </a:solidFill>
                <a:latin typeface="Fira Code"/>
                <a:ea typeface="Fira Code"/>
                <a:cs typeface="Fira Code"/>
                <a:sym typeface="Fira Code"/>
              </a:rPr>
              <a:t>bubble_sort</a:t>
            </a:r>
            <a:endParaRPr/>
          </a:p>
        </p:txBody>
      </p:sp>
      <p:sp>
        <p:nvSpPr>
          <p:cNvPr id="342" name="Google Shape;342;p27"/>
          <p:cNvSpPr txBox="1"/>
          <p:nvPr/>
        </p:nvSpPr>
        <p:spPr>
          <a:xfrm>
            <a:off x="4695825" y="3774876"/>
            <a:ext cx="2286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D2A8FF"/>
                </a:solidFill>
                <a:latin typeface="Fira Code"/>
                <a:ea typeface="Fira Code"/>
                <a:cs typeface="Fira Code"/>
                <a:sym typeface="Fira Code"/>
              </a:rPr>
              <a:t>len</a:t>
            </a:r>
            <a:endParaRPr/>
          </a:p>
        </p:txBody>
      </p:sp>
      <p:sp>
        <p:nvSpPr>
          <p:cNvPr id="343" name="Google Shape;343;p27"/>
          <p:cNvSpPr txBox="1"/>
          <p:nvPr/>
        </p:nvSpPr>
        <p:spPr>
          <a:xfrm>
            <a:off x="5381625" y="3774876"/>
            <a:ext cx="2286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FF7B72"/>
                </a:solidFill>
                <a:latin typeface="Fira Code"/>
                <a:ea typeface="Fira Code"/>
                <a:cs typeface="Fira Code"/>
                <a:sym typeface="Fira Code"/>
              </a:rPr>
              <a:t>for</a:t>
            </a:r>
            <a:endParaRPr/>
          </a:p>
        </p:txBody>
      </p:sp>
      <p:sp>
        <p:nvSpPr>
          <p:cNvPr id="344" name="Google Shape;344;p27"/>
          <p:cNvSpPr txBox="1"/>
          <p:nvPr/>
        </p:nvSpPr>
        <p:spPr>
          <a:xfrm>
            <a:off x="1038225" y="3948112"/>
            <a:ext cx="1524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FF7B72"/>
                </a:solidFill>
                <a:latin typeface="Fira Code"/>
                <a:ea typeface="Fira Code"/>
                <a:cs typeface="Fira Code"/>
                <a:sym typeface="Fira Code"/>
              </a:rPr>
              <a:t>in</a:t>
            </a:r>
            <a:endParaRPr/>
          </a:p>
        </p:txBody>
      </p:sp>
      <p:sp>
        <p:nvSpPr>
          <p:cNvPr id="345" name="Google Shape;345;p27"/>
          <p:cNvSpPr txBox="1"/>
          <p:nvPr/>
        </p:nvSpPr>
        <p:spPr>
          <a:xfrm>
            <a:off x="1266825" y="3948112"/>
            <a:ext cx="3810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D2A8FF"/>
                </a:solidFill>
                <a:latin typeface="Fira Code"/>
                <a:ea typeface="Fira Code"/>
                <a:cs typeface="Fira Code"/>
                <a:sym typeface="Fira Code"/>
              </a:rPr>
              <a:t>range</a:t>
            </a:r>
            <a:endParaRPr/>
          </a:p>
        </p:txBody>
      </p:sp>
      <p:sp>
        <p:nvSpPr>
          <p:cNvPr id="346" name="Google Shape;346;p27"/>
          <p:cNvSpPr txBox="1"/>
          <p:nvPr/>
        </p:nvSpPr>
        <p:spPr>
          <a:xfrm>
            <a:off x="2028825" y="3948112"/>
            <a:ext cx="2286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FF7B72"/>
                </a:solidFill>
                <a:latin typeface="Fira Code"/>
                <a:ea typeface="Fira Code"/>
                <a:cs typeface="Fira Code"/>
                <a:sym typeface="Fira Code"/>
              </a:rPr>
              <a:t>for</a:t>
            </a:r>
            <a:endParaRPr/>
          </a:p>
        </p:txBody>
      </p:sp>
      <p:sp>
        <p:nvSpPr>
          <p:cNvPr id="347" name="Google Shape;347;p27"/>
          <p:cNvSpPr txBox="1"/>
          <p:nvPr/>
        </p:nvSpPr>
        <p:spPr>
          <a:xfrm>
            <a:off x="2486025" y="3948112"/>
            <a:ext cx="1524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FF7B72"/>
                </a:solidFill>
                <a:latin typeface="Fira Code"/>
                <a:ea typeface="Fira Code"/>
                <a:cs typeface="Fira Code"/>
                <a:sym typeface="Fira Code"/>
              </a:rPr>
              <a:t>in</a:t>
            </a:r>
            <a:endParaRPr/>
          </a:p>
        </p:txBody>
      </p:sp>
      <p:sp>
        <p:nvSpPr>
          <p:cNvPr id="348" name="Google Shape;348;p27"/>
          <p:cNvSpPr txBox="1"/>
          <p:nvPr/>
        </p:nvSpPr>
        <p:spPr>
          <a:xfrm>
            <a:off x="2714625" y="3948112"/>
            <a:ext cx="3810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D2A8FF"/>
                </a:solidFill>
                <a:latin typeface="Fira Code"/>
                <a:ea typeface="Fira Code"/>
                <a:cs typeface="Fira Code"/>
                <a:sym typeface="Fira Code"/>
              </a:rPr>
              <a:t>range</a:t>
            </a:r>
            <a:endParaRPr/>
          </a:p>
        </p:txBody>
      </p:sp>
      <p:sp>
        <p:nvSpPr>
          <p:cNvPr id="349" name="Google Shape;349;p27"/>
          <p:cNvSpPr txBox="1"/>
          <p:nvPr/>
        </p:nvSpPr>
        <p:spPr>
          <a:xfrm>
            <a:off x="4010025" y="3948112"/>
            <a:ext cx="1524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FF7B72"/>
                </a:solidFill>
                <a:latin typeface="Fira Code"/>
                <a:ea typeface="Fira Code"/>
                <a:cs typeface="Fira Code"/>
                <a:sym typeface="Fira Code"/>
              </a:rPr>
              <a:t>if</a:t>
            </a:r>
            <a:endParaRPr/>
          </a:p>
        </p:txBody>
      </p:sp>
      <p:sp>
        <p:nvSpPr>
          <p:cNvPr id="350" name="Google Shape;350;p27"/>
          <p:cNvSpPr txBox="1"/>
          <p:nvPr/>
        </p:nvSpPr>
        <p:spPr>
          <a:xfrm>
            <a:off x="3629025" y="4121348"/>
            <a:ext cx="4572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FF7B72"/>
                </a:solidFill>
                <a:latin typeface="Fira Code"/>
                <a:ea typeface="Fira Code"/>
                <a:cs typeface="Fira Code"/>
                <a:sym typeface="Fira Code"/>
              </a:rPr>
              <a:t>return</a:t>
            </a:r>
            <a:endParaRPr/>
          </a:p>
        </p:txBody>
      </p:sp>
      <p:sp>
        <p:nvSpPr>
          <p:cNvPr id="351" name="Google Shape;351;p27"/>
          <p:cNvSpPr txBox="1"/>
          <p:nvPr/>
        </p:nvSpPr>
        <p:spPr>
          <a:xfrm>
            <a:off x="6543675" y="3774876"/>
            <a:ext cx="12954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1" lang="en-US" sz="975" u="none" cap="none" strike="noStrike">
                <a:solidFill>
                  <a:srgbClr val="8B949E"/>
                </a:solidFill>
                <a:latin typeface="Fira Code"/>
                <a:ea typeface="Fira Code"/>
                <a:cs typeface="Fira Code"/>
                <a:sym typeface="Fira Code"/>
              </a:rPr>
              <a:t># Before (Manual)</a:t>
            </a:r>
            <a:endParaRPr/>
          </a:p>
        </p:txBody>
      </p:sp>
      <p:sp>
        <p:nvSpPr>
          <p:cNvPr id="352" name="Google Shape;352;p27"/>
          <p:cNvSpPr txBox="1"/>
          <p:nvPr/>
        </p:nvSpPr>
        <p:spPr>
          <a:xfrm>
            <a:off x="7915275" y="3774876"/>
            <a:ext cx="2286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FF7B72"/>
                </a:solidFill>
                <a:latin typeface="Fira Code"/>
                <a:ea typeface="Fira Code"/>
                <a:cs typeface="Fira Code"/>
                <a:sym typeface="Fira Code"/>
              </a:rPr>
              <a:t>def</a:t>
            </a:r>
            <a:endParaRPr/>
          </a:p>
        </p:txBody>
      </p:sp>
      <p:sp>
        <p:nvSpPr>
          <p:cNvPr id="353" name="Google Shape;353;p27"/>
          <p:cNvSpPr txBox="1"/>
          <p:nvPr/>
        </p:nvSpPr>
        <p:spPr>
          <a:xfrm>
            <a:off x="8220075" y="3774876"/>
            <a:ext cx="6096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D2A8FF"/>
                </a:solidFill>
                <a:latin typeface="Fira Code"/>
                <a:ea typeface="Fira Code"/>
                <a:cs typeface="Fira Code"/>
                <a:sym typeface="Fira Code"/>
              </a:rPr>
              <a:t>find_max</a:t>
            </a:r>
            <a:endParaRPr/>
          </a:p>
        </p:txBody>
      </p:sp>
      <p:sp>
        <p:nvSpPr>
          <p:cNvPr id="354" name="Google Shape;354;p27"/>
          <p:cNvSpPr txBox="1"/>
          <p:nvPr/>
        </p:nvSpPr>
        <p:spPr>
          <a:xfrm>
            <a:off x="10658475" y="3774876"/>
            <a:ext cx="2286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FF7B72"/>
                </a:solidFill>
                <a:latin typeface="Fira Code"/>
                <a:ea typeface="Fira Code"/>
                <a:cs typeface="Fira Code"/>
                <a:sym typeface="Fira Code"/>
              </a:rPr>
              <a:t>for</a:t>
            </a:r>
            <a:endParaRPr/>
          </a:p>
        </p:txBody>
      </p:sp>
      <p:sp>
        <p:nvSpPr>
          <p:cNvPr id="355" name="Google Shape;355;p27"/>
          <p:cNvSpPr txBox="1"/>
          <p:nvPr/>
        </p:nvSpPr>
        <p:spPr>
          <a:xfrm>
            <a:off x="11115675" y="3774876"/>
            <a:ext cx="1524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FF7B72"/>
                </a:solidFill>
                <a:latin typeface="Fira Code"/>
                <a:ea typeface="Fira Code"/>
                <a:cs typeface="Fira Code"/>
                <a:sym typeface="Fira Code"/>
              </a:rPr>
              <a:t>in</a:t>
            </a:r>
            <a:endParaRPr/>
          </a:p>
        </p:txBody>
      </p:sp>
      <p:sp>
        <p:nvSpPr>
          <p:cNvPr id="356" name="Google Shape;356;p27"/>
          <p:cNvSpPr txBox="1"/>
          <p:nvPr/>
        </p:nvSpPr>
        <p:spPr>
          <a:xfrm>
            <a:off x="6924675" y="3948112"/>
            <a:ext cx="1524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FF7B72"/>
                </a:solidFill>
                <a:latin typeface="Fira Code"/>
                <a:ea typeface="Fira Code"/>
                <a:cs typeface="Fira Code"/>
                <a:sym typeface="Fira Code"/>
              </a:rPr>
              <a:t>if</a:t>
            </a:r>
            <a:endParaRPr/>
          </a:p>
        </p:txBody>
      </p:sp>
      <p:sp>
        <p:nvSpPr>
          <p:cNvPr id="357" name="Google Shape;357;p27"/>
          <p:cNvSpPr txBox="1"/>
          <p:nvPr/>
        </p:nvSpPr>
        <p:spPr>
          <a:xfrm>
            <a:off x="9058275" y="3948112"/>
            <a:ext cx="4572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FF7B72"/>
                </a:solidFill>
                <a:latin typeface="Fira Code"/>
                <a:ea typeface="Fira Code"/>
                <a:cs typeface="Fira Code"/>
                <a:sym typeface="Fira Code"/>
              </a:rPr>
              <a:t>return</a:t>
            </a:r>
            <a:endParaRPr/>
          </a:p>
        </p:txBody>
      </p:sp>
      <p:sp>
        <p:nvSpPr>
          <p:cNvPr id="358" name="Google Shape;358;p27"/>
          <p:cNvSpPr txBox="1"/>
          <p:nvPr/>
        </p:nvSpPr>
        <p:spPr>
          <a:xfrm>
            <a:off x="6543675" y="4426148"/>
            <a:ext cx="20574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1" lang="en-US" sz="975" u="none" cap="none" strike="noStrike">
                <a:solidFill>
                  <a:srgbClr val="8B949E"/>
                </a:solidFill>
                <a:latin typeface="Fira Code"/>
                <a:ea typeface="Fira Code"/>
                <a:cs typeface="Fira Code"/>
                <a:sym typeface="Fira Code"/>
              </a:rPr>
              <a:t># After (Copilot Optimized)</a:t>
            </a:r>
            <a:endParaRPr/>
          </a:p>
        </p:txBody>
      </p:sp>
      <p:sp>
        <p:nvSpPr>
          <p:cNvPr id="359" name="Google Shape;359;p27"/>
          <p:cNvSpPr txBox="1"/>
          <p:nvPr/>
        </p:nvSpPr>
        <p:spPr>
          <a:xfrm>
            <a:off x="8677275" y="4426148"/>
            <a:ext cx="2286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FF7B72"/>
                </a:solidFill>
                <a:latin typeface="Fira Code"/>
                <a:ea typeface="Fira Code"/>
                <a:cs typeface="Fira Code"/>
                <a:sym typeface="Fira Code"/>
              </a:rPr>
              <a:t>def</a:t>
            </a:r>
            <a:endParaRPr/>
          </a:p>
        </p:txBody>
      </p:sp>
      <p:sp>
        <p:nvSpPr>
          <p:cNvPr id="360" name="Google Shape;360;p27"/>
          <p:cNvSpPr txBox="1"/>
          <p:nvPr/>
        </p:nvSpPr>
        <p:spPr>
          <a:xfrm>
            <a:off x="8982075" y="4426148"/>
            <a:ext cx="6096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D2A8FF"/>
                </a:solidFill>
                <a:latin typeface="Fira Code"/>
                <a:ea typeface="Fira Code"/>
                <a:cs typeface="Fira Code"/>
                <a:sym typeface="Fira Code"/>
              </a:rPr>
              <a:t>find_max</a:t>
            </a:r>
            <a:endParaRPr/>
          </a:p>
        </p:txBody>
      </p:sp>
      <p:sp>
        <p:nvSpPr>
          <p:cNvPr id="361" name="Google Shape;361;p27"/>
          <p:cNvSpPr txBox="1"/>
          <p:nvPr/>
        </p:nvSpPr>
        <p:spPr>
          <a:xfrm>
            <a:off x="10125075" y="4426148"/>
            <a:ext cx="4572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FF7B72"/>
                </a:solidFill>
                <a:latin typeface="Fira Code"/>
                <a:ea typeface="Fira Code"/>
                <a:cs typeface="Fira Code"/>
                <a:sym typeface="Fira Code"/>
              </a:rPr>
              <a:t>return</a:t>
            </a:r>
            <a:endParaRPr/>
          </a:p>
        </p:txBody>
      </p:sp>
      <p:sp>
        <p:nvSpPr>
          <p:cNvPr id="362" name="Google Shape;362;p27"/>
          <p:cNvSpPr txBox="1"/>
          <p:nvPr/>
        </p:nvSpPr>
        <p:spPr>
          <a:xfrm>
            <a:off x="10658475" y="4426148"/>
            <a:ext cx="2286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D2A8FF"/>
                </a:solidFill>
                <a:latin typeface="Fira Code"/>
                <a:ea typeface="Fira Code"/>
                <a:cs typeface="Fira Code"/>
                <a:sym typeface="Fira Code"/>
              </a:rPr>
              <a:t>max</a:t>
            </a:r>
            <a:endParaRPr/>
          </a:p>
        </p:txBody>
      </p:sp>
      <p:sp>
        <p:nvSpPr>
          <p:cNvPr id="363" name="Google Shape;363;p27"/>
          <p:cNvSpPr txBox="1"/>
          <p:nvPr/>
        </p:nvSpPr>
        <p:spPr>
          <a:xfrm>
            <a:off x="581025" y="485775"/>
            <a:ext cx="11581447" cy="502890"/>
          </a:xfrm>
          <a:prstGeom prst="rect">
            <a:avLst/>
          </a:prstGeom>
          <a:noFill/>
          <a:ln>
            <a:noFill/>
          </a:ln>
        </p:spPr>
        <p:txBody>
          <a:bodyPr anchorCtr="0" anchor="ctr" bIns="0" lIns="0" spcFirstLastPara="1" rIns="0" wrap="square" tIns="0">
            <a:spAutoFit/>
          </a:bodyPr>
          <a:lstStyle/>
          <a:p>
            <a:pPr indent="0" lvl="0" marL="0" marR="0" rtl="0" algn="l">
              <a:lnSpc>
                <a:spcPct val="119969"/>
              </a:lnSpc>
              <a:spcBef>
                <a:spcPts val="0"/>
              </a:spcBef>
              <a:spcAft>
                <a:spcPts val="0"/>
              </a:spcAft>
              <a:buNone/>
            </a:pPr>
            <a:r>
              <a:rPr b="0" i="0" lang="en-US" sz="3300" u="none" cap="none" strike="noStrike">
                <a:solidFill>
                  <a:srgbClr val="F8FAFC"/>
                </a:solidFill>
                <a:latin typeface="Space Grotesk SemiBold"/>
                <a:ea typeface="Space Grotesk SemiBold"/>
                <a:cs typeface="Space Grotesk SemiBold"/>
                <a:sym typeface="Space Grotesk SemiBold"/>
              </a:rPr>
              <a:t>Lab: Khai Thác Sức Mạnh GitHub Copilot</a:t>
            </a:r>
            <a:endParaRPr/>
          </a:p>
        </p:txBody>
      </p:sp>
      <p:sp>
        <p:nvSpPr>
          <p:cNvPr id="364" name="Google Shape;364;p27"/>
          <p:cNvSpPr/>
          <p:nvPr/>
        </p:nvSpPr>
        <p:spPr>
          <a:xfrm>
            <a:off x="581025" y="988665"/>
            <a:ext cx="57150" cy="381000"/>
          </a:xfrm>
          <a:prstGeom prst="roundRect">
            <a:avLst>
              <a:gd fmla="val 50000" name="adj"/>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368" name="Shape 368"/>
        <p:cNvGrpSpPr/>
        <p:nvPr/>
      </p:nvGrpSpPr>
      <p:grpSpPr>
        <a:xfrm>
          <a:off x="0" y="0"/>
          <a:ext cx="0" cy="0"/>
          <a:chOff x="0" y="0"/>
          <a:chExt cx="0" cy="0"/>
        </a:xfrm>
      </p:grpSpPr>
      <p:pic>
        <p:nvPicPr>
          <p:cNvPr descr="image.png" id="369" name="Google Shape;369;p2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70" name="Google Shape;370;p28"/>
          <p:cNvSpPr/>
          <p:nvPr/>
        </p:nvSpPr>
        <p:spPr>
          <a:xfrm>
            <a:off x="5619750" y="2031801"/>
            <a:ext cx="952500" cy="5715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1" name="Google Shape;371;p28"/>
          <p:cNvSpPr txBox="1"/>
          <p:nvPr/>
        </p:nvSpPr>
        <p:spPr>
          <a:xfrm>
            <a:off x="5450919" y="2374701"/>
            <a:ext cx="1290161" cy="31998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2100" u="none" cap="none" strike="noStrike">
                <a:solidFill>
                  <a:srgbClr val="94A3B8"/>
                </a:solidFill>
                <a:latin typeface="Space Grotesk SemiBold"/>
                <a:ea typeface="Space Grotesk SemiBold"/>
                <a:cs typeface="Space Grotesk SemiBold"/>
                <a:sym typeface="Space Grotesk SemiBold"/>
              </a:rPr>
              <a:t>PHẦN 04</a:t>
            </a:r>
            <a:endParaRPr/>
          </a:p>
        </p:txBody>
      </p:sp>
      <p:sp>
        <p:nvSpPr>
          <p:cNvPr id="372" name="Google Shape;372;p28"/>
          <p:cNvSpPr txBox="1"/>
          <p:nvPr/>
        </p:nvSpPr>
        <p:spPr>
          <a:xfrm>
            <a:off x="1475422" y="2837557"/>
            <a:ext cx="9241155" cy="1462980"/>
          </a:xfrm>
          <a:prstGeom prst="rect">
            <a:avLst/>
          </a:prstGeom>
          <a:noFill/>
          <a:ln>
            <a:noFill/>
          </a:ln>
        </p:spPr>
        <p:txBody>
          <a:bodyPr anchorCtr="0" anchor="t" bIns="0" lIns="0" spcFirstLastPara="1" rIns="0" wrap="square" tIns="0">
            <a:spAutoFit/>
          </a:bodyPr>
          <a:lstStyle/>
          <a:p>
            <a:pPr indent="0" lvl="0" marL="0" marR="0" rtl="0" algn="ctr">
              <a:lnSpc>
                <a:spcPct val="119979"/>
              </a:lnSpc>
              <a:spcBef>
                <a:spcPts val="0"/>
              </a:spcBef>
              <a:spcAft>
                <a:spcPts val="0"/>
              </a:spcAft>
              <a:buNone/>
            </a:pPr>
            <a:r>
              <a:rPr b="1" i="0" lang="en-US" sz="4800" u="none" cap="none" strike="noStrike">
                <a:solidFill>
                  <a:srgbClr val="F8FAFC"/>
                </a:solidFill>
                <a:latin typeface="Space Grotesk"/>
                <a:ea typeface="Space Grotesk"/>
                <a:cs typeface="Space Grotesk"/>
                <a:sym typeface="Space Grotesk"/>
              </a:rPr>
              <a:t>Các Phương Pháp Tốt Nhất Để</a:t>
            </a:r>
            <a:br>
              <a:rPr b="0" i="0" lang="en-US" sz="1800" u="none" cap="none" strike="noStrike">
                <a:solidFill>
                  <a:schemeClr val="dk1"/>
                </a:solidFill>
                <a:latin typeface="Calibri"/>
                <a:ea typeface="Calibri"/>
                <a:cs typeface="Calibri"/>
                <a:sym typeface="Calibri"/>
              </a:rPr>
            </a:br>
            <a:r>
              <a:rPr b="1" i="0" lang="en-US" sz="4800" u="none" cap="none" strike="noStrike">
                <a:solidFill>
                  <a:srgbClr val="F8FAFC"/>
                </a:solidFill>
                <a:latin typeface="Space Grotesk"/>
                <a:ea typeface="Space Grotesk"/>
                <a:cs typeface="Space Grotesk"/>
                <a:sym typeface="Space Grotesk"/>
              </a:rPr>
              <a:t>Hỏi Đáp Với ChatGPT</a:t>
            </a:r>
            <a:endParaRPr/>
          </a:p>
        </p:txBody>
      </p:sp>
      <p:sp>
        <p:nvSpPr>
          <p:cNvPr id="373" name="Google Shape;373;p28"/>
          <p:cNvSpPr txBox="1"/>
          <p:nvPr/>
        </p:nvSpPr>
        <p:spPr>
          <a:xfrm>
            <a:off x="2943225" y="4491037"/>
            <a:ext cx="6305550" cy="3351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650" u="none" cap="none" strike="noStrike">
                <a:solidFill>
                  <a:srgbClr val="94A3B8"/>
                </a:solidFill>
                <a:latin typeface="Inter"/>
                <a:ea typeface="Inter"/>
                <a:cs typeface="Inter"/>
                <a:sym typeface="Inter"/>
              </a:rPr>
              <a:t>Nghệ thuật Prompt Engineering để khai thác tối đa mô hình LLM.</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377" name="Shape 377"/>
        <p:cNvGrpSpPr/>
        <p:nvPr/>
      </p:nvGrpSpPr>
      <p:grpSpPr>
        <a:xfrm>
          <a:off x="0" y="0"/>
          <a:ext cx="0" cy="0"/>
          <a:chOff x="0" y="0"/>
          <a:chExt cx="0" cy="0"/>
        </a:xfrm>
      </p:grpSpPr>
      <p:pic>
        <p:nvPicPr>
          <p:cNvPr descr="image.png" id="378" name="Google Shape;378;p2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79" name="Google Shape;379;p29"/>
          <p:cNvSpPr txBox="1"/>
          <p:nvPr/>
        </p:nvSpPr>
        <p:spPr>
          <a:xfrm>
            <a:off x="581025" y="2387947"/>
            <a:ext cx="5324475" cy="114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9000" u="none" cap="none" strike="noStrike">
                <a:solidFill>
                  <a:srgbClr val="38BDF8"/>
                </a:solidFill>
                <a:latin typeface="Space Grotesk"/>
                <a:ea typeface="Space Grotesk"/>
                <a:cs typeface="Space Grotesk"/>
                <a:sym typeface="Space Grotesk"/>
              </a:rPr>
              <a:t>AI</a:t>
            </a:r>
            <a:endParaRPr/>
          </a:p>
        </p:txBody>
      </p:sp>
      <p:sp>
        <p:nvSpPr>
          <p:cNvPr id="380" name="Google Shape;380;p29"/>
          <p:cNvSpPr txBox="1"/>
          <p:nvPr/>
        </p:nvSpPr>
        <p:spPr>
          <a:xfrm>
            <a:off x="581025" y="3626197"/>
            <a:ext cx="5324475"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800" u="none" cap="none" strike="noStrike">
                <a:solidFill>
                  <a:srgbClr val="CBD5E1"/>
                </a:solidFill>
                <a:latin typeface="Inter"/>
                <a:ea typeface="Inter"/>
                <a:cs typeface="Inter"/>
                <a:sym typeface="Inter"/>
              </a:rPr>
              <a:t>Cần sự rõ ràng</a:t>
            </a:r>
            <a:endParaRPr/>
          </a:p>
        </p:txBody>
      </p:sp>
      <p:sp>
        <p:nvSpPr>
          <p:cNvPr id="381" name="Google Shape;381;p29"/>
          <p:cNvSpPr txBox="1"/>
          <p:nvPr/>
        </p:nvSpPr>
        <p:spPr>
          <a:xfrm>
            <a:off x="6286500" y="2387947"/>
            <a:ext cx="5590698" cy="3199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38BDF8"/>
                </a:solidFill>
                <a:latin typeface="Space Grotesk SemiBold"/>
                <a:ea typeface="Space Grotesk SemiBold"/>
                <a:cs typeface="Space Grotesk SemiBold"/>
                <a:sym typeface="Space Grotesk SemiBold"/>
              </a:rPr>
              <a:t>Tầm quan trọng của Prompt</a:t>
            </a:r>
            <a:endParaRPr/>
          </a:p>
        </p:txBody>
      </p:sp>
      <p:sp>
        <p:nvSpPr>
          <p:cNvPr id="382" name="Google Shape;382;p29"/>
          <p:cNvSpPr txBox="1"/>
          <p:nvPr/>
        </p:nvSpPr>
        <p:spPr>
          <a:xfrm>
            <a:off x="6286500" y="2850802"/>
            <a:ext cx="5324475"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Prompt Engineering là quá trình thiết kế và tối ưu hóa các câu lệnh đầu vào để mô hình AI hiểu đúng yêu cầu và trả về kết quả chính xác, giảm thiểu sai sót (hallucinations).</a:t>
            </a:r>
            <a:endParaRPr/>
          </a:p>
        </p:txBody>
      </p:sp>
      <p:sp>
        <p:nvSpPr>
          <p:cNvPr id="383" name="Google Shape;383;p29"/>
          <p:cNvSpPr txBox="1"/>
          <p:nvPr/>
        </p:nvSpPr>
        <p:spPr>
          <a:xfrm>
            <a:off x="6619875" y="3864173"/>
            <a:ext cx="49911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Kiểm soát được định dạng và phong cách Output.</a:t>
            </a:r>
            <a:endParaRPr/>
          </a:p>
        </p:txBody>
      </p:sp>
      <p:sp>
        <p:nvSpPr>
          <p:cNvPr id="384" name="Google Shape;384;p29"/>
          <p:cNvSpPr txBox="1"/>
          <p:nvPr/>
        </p:nvSpPr>
        <p:spPr>
          <a:xfrm>
            <a:off x="6619875" y="4328963"/>
            <a:ext cx="49911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Tăng tỷ lệ code chạy đúng ngay từ lần sinh đầu tiên.</a:t>
            </a:r>
            <a:endParaRPr/>
          </a:p>
        </p:txBody>
      </p:sp>
      <p:sp>
        <p:nvSpPr>
          <p:cNvPr id="385" name="Google Shape;385;p29"/>
          <p:cNvSpPr txBox="1"/>
          <p:nvPr/>
        </p:nvSpPr>
        <p:spPr>
          <a:xfrm>
            <a:off x="6619875" y="4793753"/>
            <a:ext cx="49911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Tránh việc AI trả lời chung chung, thiếu trọng tâm.</a:t>
            </a:r>
            <a:endParaRPr/>
          </a:p>
        </p:txBody>
      </p:sp>
      <p:sp>
        <p:nvSpPr>
          <p:cNvPr id="386" name="Google Shape;386;p29"/>
          <p:cNvSpPr txBox="1"/>
          <p:nvPr/>
        </p:nvSpPr>
        <p:spPr>
          <a:xfrm>
            <a:off x="581025" y="485775"/>
            <a:ext cx="11581447" cy="502890"/>
          </a:xfrm>
          <a:prstGeom prst="rect">
            <a:avLst/>
          </a:prstGeom>
          <a:noFill/>
          <a:ln>
            <a:noFill/>
          </a:ln>
        </p:spPr>
        <p:txBody>
          <a:bodyPr anchorCtr="0" anchor="ctr" bIns="0" lIns="0" spcFirstLastPara="1" rIns="0" wrap="square" tIns="0">
            <a:spAutoFit/>
          </a:bodyPr>
          <a:lstStyle/>
          <a:p>
            <a:pPr indent="0" lvl="0" marL="0" marR="0" rtl="0" algn="l">
              <a:lnSpc>
                <a:spcPct val="119969"/>
              </a:lnSpc>
              <a:spcBef>
                <a:spcPts val="0"/>
              </a:spcBef>
              <a:spcAft>
                <a:spcPts val="0"/>
              </a:spcAft>
              <a:buNone/>
            </a:pPr>
            <a:r>
              <a:rPr b="0" i="0" lang="en-US" sz="3300" u="none" cap="none" strike="noStrike">
                <a:solidFill>
                  <a:srgbClr val="F8FAFC"/>
                </a:solidFill>
                <a:latin typeface="Space Grotesk SemiBold"/>
                <a:ea typeface="Space Grotesk SemiBold"/>
                <a:cs typeface="Space Grotesk SemiBold"/>
                <a:sym typeface="Space Grotesk SemiBold"/>
              </a:rPr>
              <a:t>Kỹ Thuật Prompt Engineering</a:t>
            </a:r>
            <a:endParaRPr/>
          </a:p>
        </p:txBody>
      </p:sp>
      <p:sp>
        <p:nvSpPr>
          <p:cNvPr id="387" name="Google Shape;387;p29"/>
          <p:cNvSpPr/>
          <p:nvPr/>
        </p:nvSpPr>
        <p:spPr>
          <a:xfrm>
            <a:off x="581025" y="988665"/>
            <a:ext cx="57150" cy="381000"/>
          </a:xfrm>
          <a:prstGeom prst="roundRect">
            <a:avLst>
              <a:gd fmla="val 50000" name="adj"/>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391" name="Shape 391"/>
        <p:cNvGrpSpPr/>
        <p:nvPr/>
      </p:nvGrpSpPr>
      <p:grpSpPr>
        <a:xfrm>
          <a:off x="0" y="0"/>
          <a:ext cx="0" cy="0"/>
          <a:chOff x="0" y="0"/>
          <a:chExt cx="0" cy="0"/>
        </a:xfrm>
      </p:grpSpPr>
      <p:pic>
        <p:nvPicPr>
          <p:cNvPr descr="image.png" id="392" name="Google Shape;392;p3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93" name="Google Shape;393;p30"/>
          <p:cNvPicPr preferRelativeResize="0"/>
          <p:nvPr/>
        </p:nvPicPr>
        <p:blipFill rotWithShape="1">
          <a:blip r:embed="rId4">
            <a:alphaModFix/>
          </a:blip>
          <a:srcRect b="0" l="0" r="0" t="0"/>
          <a:stretch/>
        </p:blipFill>
        <p:spPr>
          <a:xfrm>
            <a:off x="581025" y="2232719"/>
            <a:ext cx="3486150" cy="3181201"/>
          </a:xfrm>
          <a:prstGeom prst="rect">
            <a:avLst/>
          </a:prstGeom>
          <a:noFill/>
          <a:ln>
            <a:noFill/>
          </a:ln>
        </p:spPr>
      </p:pic>
      <p:pic>
        <p:nvPicPr>
          <p:cNvPr descr="image.png" id="394" name="Google Shape;394;p30"/>
          <p:cNvPicPr preferRelativeResize="0"/>
          <p:nvPr/>
        </p:nvPicPr>
        <p:blipFill rotWithShape="1">
          <a:blip r:embed="rId5">
            <a:alphaModFix/>
          </a:blip>
          <a:srcRect b="0" l="0" r="0" t="0"/>
          <a:stretch/>
        </p:blipFill>
        <p:spPr>
          <a:xfrm>
            <a:off x="4352925" y="2232719"/>
            <a:ext cx="3486150" cy="3181201"/>
          </a:xfrm>
          <a:prstGeom prst="rect">
            <a:avLst/>
          </a:prstGeom>
          <a:noFill/>
          <a:ln>
            <a:noFill/>
          </a:ln>
        </p:spPr>
      </p:pic>
      <p:pic>
        <p:nvPicPr>
          <p:cNvPr descr="image.png" id="395" name="Google Shape;395;p30"/>
          <p:cNvPicPr preferRelativeResize="0"/>
          <p:nvPr/>
        </p:nvPicPr>
        <p:blipFill rotWithShape="1">
          <a:blip r:embed="rId6">
            <a:alphaModFix/>
          </a:blip>
          <a:srcRect b="0" l="0" r="0" t="0"/>
          <a:stretch/>
        </p:blipFill>
        <p:spPr>
          <a:xfrm>
            <a:off x="8124825" y="2232719"/>
            <a:ext cx="3486150" cy="3181201"/>
          </a:xfrm>
          <a:prstGeom prst="rect">
            <a:avLst/>
          </a:prstGeom>
          <a:noFill/>
          <a:ln>
            <a:noFill/>
          </a:ln>
        </p:spPr>
      </p:pic>
      <p:pic>
        <p:nvPicPr>
          <p:cNvPr descr="image.png" id="396" name="Google Shape;396;p30"/>
          <p:cNvPicPr preferRelativeResize="0"/>
          <p:nvPr/>
        </p:nvPicPr>
        <p:blipFill rotWithShape="1">
          <a:blip r:embed="rId7">
            <a:alphaModFix/>
          </a:blip>
          <a:srcRect b="0" l="0" r="0" t="0"/>
          <a:stretch/>
        </p:blipFill>
        <p:spPr>
          <a:xfrm>
            <a:off x="876300" y="2527994"/>
            <a:ext cx="590550" cy="704850"/>
          </a:xfrm>
          <a:prstGeom prst="rect">
            <a:avLst/>
          </a:prstGeom>
          <a:noFill/>
          <a:ln>
            <a:noFill/>
          </a:ln>
        </p:spPr>
      </p:pic>
      <p:sp>
        <p:nvSpPr>
          <p:cNvPr id="397" name="Google Shape;397;p30"/>
          <p:cNvSpPr txBox="1"/>
          <p:nvPr/>
        </p:nvSpPr>
        <p:spPr>
          <a:xfrm>
            <a:off x="876300" y="3423344"/>
            <a:ext cx="1330166" cy="3199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38BDF8"/>
                </a:solidFill>
                <a:latin typeface="Space Grotesk SemiBold"/>
                <a:ea typeface="Space Grotesk SemiBold"/>
                <a:cs typeface="Space Grotesk SemiBold"/>
                <a:sym typeface="Space Grotesk SemiBold"/>
              </a:rPr>
              <a:t>Zero-shot</a:t>
            </a:r>
            <a:endParaRPr/>
          </a:p>
        </p:txBody>
      </p:sp>
      <p:sp>
        <p:nvSpPr>
          <p:cNvPr id="398" name="Google Shape;398;p30"/>
          <p:cNvSpPr txBox="1"/>
          <p:nvPr/>
        </p:nvSpPr>
        <p:spPr>
          <a:xfrm>
            <a:off x="876300" y="3886200"/>
            <a:ext cx="28956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Hỏi trực tiếp không kèm ví dụ. Dùng cho các bài toán cơ bản.</a:t>
            </a:r>
            <a:endParaRPr/>
          </a:p>
        </p:txBody>
      </p:sp>
      <p:pic>
        <p:nvPicPr>
          <p:cNvPr descr="image.png" id="399" name="Google Shape;399;p30"/>
          <p:cNvPicPr preferRelativeResize="0"/>
          <p:nvPr/>
        </p:nvPicPr>
        <p:blipFill rotWithShape="1">
          <a:blip r:embed="rId8">
            <a:alphaModFix/>
          </a:blip>
          <a:srcRect b="0" l="0" r="0" t="0"/>
          <a:stretch/>
        </p:blipFill>
        <p:spPr>
          <a:xfrm>
            <a:off x="4648200" y="2527994"/>
            <a:ext cx="590550" cy="704850"/>
          </a:xfrm>
          <a:prstGeom prst="rect">
            <a:avLst/>
          </a:prstGeom>
          <a:noFill/>
          <a:ln>
            <a:noFill/>
          </a:ln>
        </p:spPr>
      </p:pic>
      <p:sp>
        <p:nvSpPr>
          <p:cNvPr id="400" name="Google Shape;400;p30"/>
          <p:cNvSpPr txBox="1"/>
          <p:nvPr/>
        </p:nvSpPr>
        <p:spPr>
          <a:xfrm>
            <a:off x="4648200" y="3423344"/>
            <a:ext cx="1270158" cy="3199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38BDF8"/>
                </a:solidFill>
                <a:latin typeface="Space Grotesk SemiBold"/>
                <a:ea typeface="Space Grotesk SemiBold"/>
                <a:cs typeface="Space Grotesk SemiBold"/>
                <a:sym typeface="Space Grotesk SemiBold"/>
              </a:rPr>
              <a:t>Few-shot</a:t>
            </a:r>
            <a:endParaRPr/>
          </a:p>
        </p:txBody>
      </p:sp>
      <p:sp>
        <p:nvSpPr>
          <p:cNvPr id="401" name="Google Shape;401;p30"/>
          <p:cNvSpPr txBox="1"/>
          <p:nvPr/>
        </p:nvSpPr>
        <p:spPr>
          <a:xfrm>
            <a:off x="4648200" y="3886200"/>
            <a:ext cx="2895600"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Cung cấp một vài mẫu (Input/Output) để AI bắt chước định dạng.</a:t>
            </a:r>
            <a:endParaRPr/>
          </a:p>
        </p:txBody>
      </p:sp>
      <p:pic>
        <p:nvPicPr>
          <p:cNvPr descr="image.png" id="402" name="Google Shape;402;p30"/>
          <p:cNvPicPr preferRelativeResize="0"/>
          <p:nvPr/>
        </p:nvPicPr>
        <p:blipFill rotWithShape="1">
          <a:blip r:embed="rId9">
            <a:alphaModFix/>
          </a:blip>
          <a:srcRect b="0" l="0" r="0" t="0"/>
          <a:stretch/>
        </p:blipFill>
        <p:spPr>
          <a:xfrm>
            <a:off x="8420100" y="2527994"/>
            <a:ext cx="714375" cy="704850"/>
          </a:xfrm>
          <a:prstGeom prst="rect">
            <a:avLst/>
          </a:prstGeom>
          <a:noFill/>
          <a:ln>
            <a:noFill/>
          </a:ln>
        </p:spPr>
      </p:pic>
      <p:sp>
        <p:nvSpPr>
          <p:cNvPr id="403" name="Google Shape;403;p30"/>
          <p:cNvSpPr txBox="1"/>
          <p:nvPr/>
        </p:nvSpPr>
        <p:spPr>
          <a:xfrm>
            <a:off x="8420100" y="3423344"/>
            <a:ext cx="2390298" cy="3199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38BDF8"/>
                </a:solidFill>
                <a:latin typeface="Space Grotesk SemiBold"/>
                <a:ea typeface="Space Grotesk SemiBold"/>
                <a:cs typeface="Space Grotesk SemiBold"/>
                <a:sym typeface="Space Grotesk SemiBold"/>
              </a:rPr>
              <a:t>Chain-of-thought</a:t>
            </a:r>
            <a:endParaRPr/>
          </a:p>
        </p:txBody>
      </p:sp>
      <p:sp>
        <p:nvSpPr>
          <p:cNvPr id="404" name="Google Shape;404;p30"/>
          <p:cNvSpPr txBox="1"/>
          <p:nvPr/>
        </p:nvSpPr>
        <p:spPr>
          <a:xfrm>
            <a:off x="8420100" y="3886200"/>
            <a:ext cx="28956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Ép AI suy luận từng bước. Tốt cho logic thuật toán phức tạp.</a:t>
            </a:r>
            <a:endParaRPr/>
          </a:p>
        </p:txBody>
      </p:sp>
      <p:pic>
        <p:nvPicPr>
          <p:cNvPr descr="image.png" id="405" name="Google Shape;405;p30"/>
          <p:cNvPicPr preferRelativeResize="0"/>
          <p:nvPr/>
        </p:nvPicPr>
        <p:blipFill rotWithShape="1">
          <a:blip r:embed="rId10">
            <a:alphaModFix/>
          </a:blip>
          <a:srcRect b="0" l="0" r="0" t="0"/>
          <a:stretch/>
        </p:blipFill>
        <p:spPr>
          <a:xfrm>
            <a:off x="1019175" y="2708969"/>
            <a:ext cx="304800" cy="342900"/>
          </a:xfrm>
          <a:prstGeom prst="rect">
            <a:avLst/>
          </a:prstGeom>
          <a:noFill/>
          <a:ln>
            <a:noFill/>
          </a:ln>
        </p:spPr>
      </p:pic>
      <p:pic>
        <p:nvPicPr>
          <p:cNvPr descr="image.png" id="406" name="Google Shape;406;p30"/>
          <p:cNvPicPr preferRelativeResize="0"/>
          <p:nvPr/>
        </p:nvPicPr>
        <p:blipFill rotWithShape="1">
          <a:blip r:embed="rId11">
            <a:alphaModFix/>
          </a:blip>
          <a:srcRect b="0" l="0" r="0" t="0"/>
          <a:stretch/>
        </p:blipFill>
        <p:spPr>
          <a:xfrm>
            <a:off x="4791075" y="2708969"/>
            <a:ext cx="304800" cy="342900"/>
          </a:xfrm>
          <a:prstGeom prst="rect">
            <a:avLst/>
          </a:prstGeom>
          <a:noFill/>
          <a:ln>
            <a:noFill/>
          </a:ln>
        </p:spPr>
      </p:pic>
      <p:pic>
        <p:nvPicPr>
          <p:cNvPr descr="image.png" id="407" name="Google Shape;407;p30"/>
          <p:cNvPicPr preferRelativeResize="0"/>
          <p:nvPr/>
        </p:nvPicPr>
        <p:blipFill rotWithShape="1">
          <a:blip r:embed="rId12">
            <a:alphaModFix/>
          </a:blip>
          <a:srcRect b="0" l="0" r="0" t="0"/>
          <a:stretch/>
        </p:blipFill>
        <p:spPr>
          <a:xfrm>
            <a:off x="8562975" y="2708969"/>
            <a:ext cx="428625" cy="342900"/>
          </a:xfrm>
          <a:prstGeom prst="rect">
            <a:avLst/>
          </a:prstGeom>
          <a:noFill/>
          <a:ln>
            <a:noFill/>
          </a:ln>
        </p:spPr>
      </p:pic>
      <p:sp>
        <p:nvSpPr>
          <p:cNvPr id="408" name="Google Shape;408;p30"/>
          <p:cNvSpPr txBox="1"/>
          <p:nvPr/>
        </p:nvSpPr>
        <p:spPr>
          <a:xfrm>
            <a:off x="581025" y="485775"/>
            <a:ext cx="11581447" cy="502890"/>
          </a:xfrm>
          <a:prstGeom prst="rect">
            <a:avLst/>
          </a:prstGeom>
          <a:noFill/>
          <a:ln>
            <a:noFill/>
          </a:ln>
        </p:spPr>
        <p:txBody>
          <a:bodyPr anchorCtr="0" anchor="ctr" bIns="0" lIns="0" spcFirstLastPara="1" rIns="0" wrap="square" tIns="0">
            <a:spAutoFit/>
          </a:bodyPr>
          <a:lstStyle/>
          <a:p>
            <a:pPr indent="0" lvl="0" marL="0" marR="0" rtl="0" algn="l">
              <a:lnSpc>
                <a:spcPct val="119969"/>
              </a:lnSpc>
              <a:spcBef>
                <a:spcPts val="0"/>
              </a:spcBef>
              <a:spcAft>
                <a:spcPts val="0"/>
              </a:spcAft>
              <a:buNone/>
            </a:pPr>
            <a:r>
              <a:rPr b="0" i="0" lang="en-US" sz="3300" u="none" cap="none" strike="noStrike">
                <a:solidFill>
                  <a:srgbClr val="F8FAFC"/>
                </a:solidFill>
                <a:latin typeface="Space Grotesk SemiBold"/>
                <a:ea typeface="Space Grotesk SemiBold"/>
                <a:cs typeface="Space Grotesk SemiBold"/>
                <a:sym typeface="Space Grotesk SemiBold"/>
              </a:rPr>
              <a:t>Các Chiến Lược Prompt Phổ Biến</a:t>
            </a:r>
            <a:endParaRPr/>
          </a:p>
        </p:txBody>
      </p:sp>
      <p:sp>
        <p:nvSpPr>
          <p:cNvPr id="409" name="Google Shape;409;p30"/>
          <p:cNvSpPr/>
          <p:nvPr/>
        </p:nvSpPr>
        <p:spPr>
          <a:xfrm>
            <a:off x="581025" y="988665"/>
            <a:ext cx="57150" cy="381000"/>
          </a:xfrm>
          <a:prstGeom prst="roundRect">
            <a:avLst>
              <a:gd fmla="val 50000" name="adj"/>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413" name="Shape 413"/>
        <p:cNvGrpSpPr/>
        <p:nvPr/>
      </p:nvGrpSpPr>
      <p:grpSpPr>
        <a:xfrm>
          <a:off x="0" y="0"/>
          <a:ext cx="0" cy="0"/>
          <a:chOff x="0" y="0"/>
          <a:chExt cx="0" cy="0"/>
        </a:xfrm>
      </p:grpSpPr>
      <p:pic>
        <p:nvPicPr>
          <p:cNvPr descr="image.png" id="414" name="Google Shape;414;p3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15" name="Google Shape;415;p31"/>
          <p:cNvPicPr preferRelativeResize="0"/>
          <p:nvPr/>
        </p:nvPicPr>
        <p:blipFill rotWithShape="1">
          <a:blip r:embed="rId4">
            <a:alphaModFix/>
          </a:blip>
          <a:srcRect b="0" l="0" r="0" t="0"/>
          <a:stretch/>
        </p:blipFill>
        <p:spPr>
          <a:xfrm>
            <a:off x="6286500" y="2156370"/>
            <a:ext cx="5324475" cy="3333750"/>
          </a:xfrm>
          <a:prstGeom prst="rect">
            <a:avLst/>
          </a:prstGeom>
          <a:noFill/>
          <a:ln>
            <a:noFill/>
          </a:ln>
        </p:spPr>
      </p:pic>
      <p:sp>
        <p:nvSpPr>
          <p:cNvPr id="416" name="Google Shape;416;p31"/>
          <p:cNvSpPr txBox="1"/>
          <p:nvPr/>
        </p:nvSpPr>
        <p:spPr>
          <a:xfrm>
            <a:off x="914400" y="2156370"/>
            <a:ext cx="49911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CBD5E1"/>
                </a:solidFill>
                <a:latin typeface="Inter"/>
                <a:ea typeface="Inter"/>
                <a:cs typeface="Inter"/>
                <a:sym typeface="Inter"/>
              </a:rPr>
              <a:t>Structured Prompts:</a:t>
            </a:r>
            <a:r>
              <a:rPr b="0" i="0" lang="en-US" sz="1350" u="none" cap="none" strike="noStrike">
                <a:solidFill>
                  <a:srgbClr val="CBD5E1"/>
                </a:solidFill>
                <a:latin typeface="Inter"/>
                <a:ea typeface="Inter"/>
                <a:cs typeface="Inter"/>
                <a:sym typeface="Inter"/>
              </a:rPr>
              <a:t> Bố cục rõ ràng (CONTEXT, TASK, STEPS).</a:t>
            </a:r>
            <a:endParaRPr/>
          </a:p>
        </p:txBody>
      </p:sp>
      <p:sp>
        <p:nvSpPr>
          <p:cNvPr id="417" name="Google Shape;417;p31"/>
          <p:cNvSpPr txBox="1"/>
          <p:nvPr/>
        </p:nvSpPr>
        <p:spPr>
          <a:xfrm>
            <a:off x="914400" y="2895451"/>
            <a:ext cx="49911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CBD5E1"/>
                </a:solidFill>
                <a:latin typeface="Inter"/>
                <a:ea typeface="Inter"/>
                <a:cs typeface="Inter"/>
                <a:sym typeface="Inter"/>
              </a:rPr>
              <a:t>Surrounding Information:</a:t>
            </a:r>
            <a:r>
              <a:rPr b="0" i="0" lang="en-US" sz="1350" u="none" cap="none" strike="noStrike">
                <a:solidFill>
                  <a:srgbClr val="CBD5E1"/>
                </a:solidFill>
                <a:latin typeface="Inter"/>
                <a:ea typeface="Inter"/>
                <a:cs typeface="Inter"/>
                <a:sym typeface="Inter"/>
              </a:rPr>
              <a:t> Cấp ngữ cảnh (VD: "Bạn là chuyên gia Python...").</a:t>
            </a:r>
            <a:endParaRPr/>
          </a:p>
        </p:txBody>
      </p:sp>
      <p:sp>
        <p:nvSpPr>
          <p:cNvPr id="418" name="Google Shape;418;p31"/>
          <p:cNvSpPr txBox="1"/>
          <p:nvPr/>
        </p:nvSpPr>
        <p:spPr>
          <a:xfrm>
            <a:off x="914400" y="3634531"/>
            <a:ext cx="49911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CBD5E1"/>
                </a:solidFill>
                <a:latin typeface="Inter"/>
                <a:ea typeface="Inter"/>
                <a:cs typeface="Inter"/>
                <a:sym typeface="Inter"/>
              </a:rPr>
              <a:t>Single Task:</a:t>
            </a:r>
            <a:r>
              <a:rPr b="0" i="0" lang="en-US" sz="1350" u="none" cap="none" strike="noStrike">
                <a:solidFill>
                  <a:srgbClr val="CBD5E1"/>
                </a:solidFill>
                <a:latin typeface="Inter"/>
                <a:ea typeface="Inter"/>
                <a:cs typeface="Inter"/>
                <a:sym typeface="Inter"/>
              </a:rPr>
              <a:t> Yêu cầu xử lý duy nhất 1 tác vụ mỗi lần.</a:t>
            </a:r>
            <a:endParaRPr/>
          </a:p>
        </p:txBody>
      </p:sp>
      <p:sp>
        <p:nvSpPr>
          <p:cNvPr id="419" name="Google Shape;419;p31"/>
          <p:cNvSpPr txBox="1"/>
          <p:nvPr/>
        </p:nvSpPr>
        <p:spPr>
          <a:xfrm>
            <a:off x="914400" y="4099321"/>
            <a:ext cx="49911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CBD5E1"/>
                </a:solidFill>
                <a:latin typeface="Inter"/>
                <a:ea typeface="Inter"/>
                <a:cs typeface="Inter"/>
                <a:sym typeface="Inter"/>
              </a:rPr>
              <a:t>Specific Instructions:</a:t>
            </a:r>
            <a:r>
              <a:rPr b="0" i="0" lang="en-US" sz="1350" u="none" cap="none" strike="noStrike">
                <a:solidFill>
                  <a:srgbClr val="CBD5E1"/>
                </a:solidFill>
                <a:latin typeface="Inter"/>
                <a:ea typeface="Inter"/>
                <a:cs typeface="Inter"/>
                <a:sym typeface="Inter"/>
              </a:rPr>
              <a:t> Hướng dẫn cụ thể, không mập mờ.</a:t>
            </a:r>
            <a:endParaRPr/>
          </a:p>
        </p:txBody>
      </p:sp>
      <p:sp>
        <p:nvSpPr>
          <p:cNvPr id="420" name="Google Shape;420;p31"/>
          <p:cNvSpPr txBox="1"/>
          <p:nvPr/>
        </p:nvSpPr>
        <p:spPr>
          <a:xfrm>
            <a:off x="914400" y="4564112"/>
            <a:ext cx="49911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CBD5E1"/>
                </a:solidFill>
                <a:latin typeface="Inter"/>
                <a:ea typeface="Inter"/>
                <a:cs typeface="Inter"/>
                <a:sym typeface="Inter"/>
              </a:rPr>
              <a:t>Short Prompts:</a:t>
            </a:r>
            <a:r>
              <a:rPr b="0" i="0" lang="en-US" sz="1350" u="none" cap="none" strike="noStrike">
                <a:solidFill>
                  <a:srgbClr val="CBD5E1"/>
                </a:solidFill>
                <a:latin typeface="Inter"/>
                <a:ea typeface="Inter"/>
                <a:cs typeface="Inter"/>
                <a:sym typeface="Inter"/>
              </a:rPr>
              <a:t> Giữ câu lệnh ngắn gọn, loại bỏ từ thừa.</a:t>
            </a:r>
            <a:endParaRPr/>
          </a:p>
        </p:txBody>
      </p:sp>
      <p:pic>
        <p:nvPicPr>
          <p:cNvPr descr="image.png" id="421" name="Google Shape;421;p31"/>
          <p:cNvPicPr preferRelativeResize="0"/>
          <p:nvPr/>
        </p:nvPicPr>
        <p:blipFill rotWithShape="1">
          <a:blip r:embed="rId5">
            <a:alphaModFix/>
          </a:blip>
          <a:srcRect b="0" l="0" r="0" t="0"/>
          <a:stretch/>
        </p:blipFill>
        <p:spPr>
          <a:xfrm>
            <a:off x="6296025" y="2165895"/>
            <a:ext cx="5305425" cy="3314700"/>
          </a:xfrm>
          <a:prstGeom prst="rect">
            <a:avLst/>
          </a:prstGeom>
          <a:noFill/>
          <a:ln>
            <a:noFill/>
          </a:ln>
        </p:spPr>
      </p:pic>
      <p:pic>
        <p:nvPicPr>
          <p:cNvPr descr="image.png" id="422" name="Google Shape;422;p31"/>
          <p:cNvPicPr preferRelativeResize="0"/>
          <p:nvPr/>
        </p:nvPicPr>
        <p:blipFill rotWithShape="1">
          <a:blip r:embed="rId6">
            <a:alphaModFix/>
          </a:blip>
          <a:srcRect b="0" l="0" r="0" t="0"/>
          <a:stretch/>
        </p:blipFill>
        <p:spPr>
          <a:xfrm>
            <a:off x="581025" y="2189708"/>
            <a:ext cx="219075" cy="200025"/>
          </a:xfrm>
          <a:prstGeom prst="rect">
            <a:avLst/>
          </a:prstGeom>
          <a:noFill/>
          <a:ln>
            <a:noFill/>
          </a:ln>
        </p:spPr>
      </p:pic>
      <p:pic>
        <p:nvPicPr>
          <p:cNvPr descr="image.png" id="423" name="Google Shape;423;p31"/>
          <p:cNvPicPr preferRelativeResize="0"/>
          <p:nvPr/>
        </p:nvPicPr>
        <p:blipFill rotWithShape="1">
          <a:blip r:embed="rId7">
            <a:alphaModFix/>
          </a:blip>
          <a:srcRect b="0" l="0" r="0" t="0"/>
          <a:stretch/>
        </p:blipFill>
        <p:spPr>
          <a:xfrm>
            <a:off x="581025" y="2928788"/>
            <a:ext cx="190500" cy="200025"/>
          </a:xfrm>
          <a:prstGeom prst="rect">
            <a:avLst/>
          </a:prstGeom>
          <a:noFill/>
          <a:ln>
            <a:noFill/>
          </a:ln>
        </p:spPr>
      </p:pic>
      <p:pic>
        <p:nvPicPr>
          <p:cNvPr descr="image.png" id="424" name="Google Shape;424;p31"/>
          <p:cNvPicPr preferRelativeResize="0"/>
          <p:nvPr/>
        </p:nvPicPr>
        <p:blipFill rotWithShape="1">
          <a:blip r:embed="rId8">
            <a:alphaModFix/>
          </a:blip>
          <a:srcRect b="0" l="0" r="0" t="0"/>
          <a:stretch/>
        </p:blipFill>
        <p:spPr>
          <a:xfrm>
            <a:off x="581025" y="3667869"/>
            <a:ext cx="190500" cy="200025"/>
          </a:xfrm>
          <a:prstGeom prst="rect">
            <a:avLst/>
          </a:prstGeom>
          <a:noFill/>
          <a:ln>
            <a:noFill/>
          </a:ln>
        </p:spPr>
      </p:pic>
      <p:pic>
        <p:nvPicPr>
          <p:cNvPr descr="image.png" id="425" name="Google Shape;425;p31"/>
          <p:cNvPicPr preferRelativeResize="0"/>
          <p:nvPr/>
        </p:nvPicPr>
        <p:blipFill rotWithShape="1">
          <a:blip r:embed="rId9">
            <a:alphaModFix/>
          </a:blip>
          <a:srcRect b="0" l="0" r="0" t="0"/>
          <a:stretch/>
        </p:blipFill>
        <p:spPr>
          <a:xfrm>
            <a:off x="581025" y="4132659"/>
            <a:ext cx="190500" cy="200025"/>
          </a:xfrm>
          <a:prstGeom prst="rect">
            <a:avLst/>
          </a:prstGeom>
          <a:noFill/>
          <a:ln>
            <a:noFill/>
          </a:ln>
        </p:spPr>
      </p:pic>
      <p:pic>
        <p:nvPicPr>
          <p:cNvPr descr="image.png" id="426" name="Google Shape;426;p31"/>
          <p:cNvPicPr preferRelativeResize="0"/>
          <p:nvPr/>
        </p:nvPicPr>
        <p:blipFill rotWithShape="1">
          <a:blip r:embed="rId10">
            <a:alphaModFix/>
          </a:blip>
          <a:srcRect b="0" l="0" r="0" t="0"/>
          <a:stretch/>
        </p:blipFill>
        <p:spPr>
          <a:xfrm>
            <a:off x="581025" y="4597449"/>
            <a:ext cx="171450" cy="200025"/>
          </a:xfrm>
          <a:prstGeom prst="rect">
            <a:avLst/>
          </a:prstGeom>
          <a:noFill/>
          <a:ln>
            <a:noFill/>
          </a:ln>
        </p:spPr>
      </p:pic>
      <p:sp>
        <p:nvSpPr>
          <p:cNvPr id="427" name="Google Shape;427;p31"/>
          <p:cNvSpPr txBox="1"/>
          <p:nvPr/>
        </p:nvSpPr>
        <p:spPr>
          <a:xfrm>
            <a:off x="581025" y="485775"/>
            <a:ext cx="11581447" cy="502890"/>
          </a:xfrm>
          <a:prstGeom prst="rect">
            <a:avLst/>
          </a:prstGeom>
          <a:noFill/>
          <a:ln>
            <a:noFill/>
          </a:ln>
        </p:spPr>
        <p:txBody>
          <a:bodyPr anchorCtr="0" anchor="ctr" bIns="0" lIns="0" spcFirstLastPara="1" rIns="0" wrap="square" tIns="0">
            <a:spAutoFit/>
          </a:bodyPr>
          <a:lstStyle/>
          <a:p>
            <a:pPr indent="0" lvl="0" marL="0" marR="0" rtl="0" algn="l">
              <a:lnSpc>
                <a:spcPct val="119969"/>
              </a:lnSpc>
              <a:spcBef>
                <a:spcPts val="0"/>
              </a:spcBef>
              <a:spcAft>
                <a:spcPts val="0"/>
              </a:spcAft>
              <a:buNone/>
            </a:pPr>
            <a:r>
              <a:rPr b="0" i="0" lang="en-US" sz="3300" u="none" cap="none" strike="noStrike">
                <a:solidFill>
                  <a:srgbClr val="F8FAFC"/>
                </a:solidFill>
                <a:latin typeface="Space Grotesk SemiBold"/>
                <a:ea typeface="Space Grotesk SemiBold"/>
                <a:cs typeface="Space Grotesk SemiBold"/>
                <a:sym typeface="Space Grotesk SemiBold"/>
              </a:rPr>
              <a:t>Chiến Lược "The Five S's"</a:t>
            </a:r>
            <a:endParaRPr/>
          </a:p>
        </p:txBody>
      </p:sp>
      <p:sp>
        <p:nvSpPr>
          <p:cNvPr id="428" name="Google Shape;428;p31"/>
          <p:cNvSpPr/>
          <p:nvPr/>
        </p:nvSpPr>
        <p:spPr>
          <a:xfrm>
            <a:off x="581025" y="988665"/>
            <a:ext cx="57150" cy="381000"/>
          </a:xfrm>
          <a:prstGeom prst="roundRect">
            <a:avLst>
              <a:gd fmla="val 50000" name="adj"/>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432" name="Shape 432"/>
        <p:cNvGrpSpPr/>
        <p:nvPr/>
      </p:nvGrpSpPr>
      <p:grpSpPr>
        <a:xfrm>
          <a:off x="0" y="0"/>
          <a:ext cx="0" cy="0"/>
          <a:chOff x="0" y="0"/>
          <a:chExt cx="0" cy="0"/>
        </a:xfrm>
      </p:grpSpPr>
      <p:pic>
        <p:nvPicPr>
          <p:cNvPr descr="image.png" id="433" name="Google Shape;433;p3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34" name="Google Shape;434;p32"/>
          <p:cNvPicPr preferRelativeResize="0"/>
          <p:nvPr/>
        </p:nvPicPr>
        <p:blipFill rotWithShape="1">
          <a:blip r:embed="rId4">
            <a:alphaModFix/>
          </a:blip>
          <a:srcRect b="0" l="0" r="0" t="0"/>
          <a:stretch/>
        </p:blipFill>
        <p:spPr>
          <a:xfrm>
            <a:off x="581025" y="3521571"/>
            <a:ext cx="5324475" cy="997743"/>
          </a:xfrm>
          <a:prstGeom prst="rect">
            <a:avLst/>
          </a:prstGeom>
          <a:noFill/>
          <a:ln>
            <a:noFill/>
          </a:ln>
        </p:spPr>
      </p:pic>
      <p:pic>
        <p:nvPicPr>
          <p:cNvPr descr="image.png" id="435" name="Google Shape;435;p32"/>
          <p:cNvPicPr preferRelativeResize="0"/>
          <p:nvPr/>
        </p:nvPicPr>
        <p:blipFill rotWithShape="1">
          <a:blip r:embed="rId5">
            <a:alphaModFix/>
          </a:blip>
          <a:srcRect b="0" l="0" r="0" t="0"/>
          <a:stretch/>
        </p:blipFill>
        <p:spPr>
          <a:xfrm>
            <a:off x="6286500" y="3521571"/>
            <a:ext cx="5324475" cy="824507"/>
          </a:xfrm>
          <a:prstGeom prst="rect">
            <a:avLst/>
          </a:prstGeom>
          <a:noFill/>
          <a:ln>
            <a:noFill/>
          </a:ln>
        </p:spPr>
      </p:pic>
      <p:sp>
        <p:nvSpPr>
          <p:cNvPr id="436" name="Google Shape;436;p32"/>
          <p:cNvSpPr txBox="1"/>
          <p:nvPr/>
        </p:nvSpPr>
        <p:spPr>
          <a:xfrm>
            <a:off x="581025" y="3127325"/>
            <a:ext cx="5590698" cy="251370"/>
          </a:xfrm>
          <a:prstGeom prst="rect">
            <a:avLst/>
          </a:prstGeom>
          <a:noFill/>
          <a:ln>
            <a:noFill/>
          </a:ln>
        </p:spPr>
        <p:txBody>
          <a:bodyPr anchorCtr="0" anchor="t" bIns="0" lIns="0" spcFirstLastPara="1" rIns="0" wrap="square" tIns="0">
            <a:spAutoFit/>
          </a:bodyPr>
          <a:lstStyle/>
          <a:p>
            <a:pPr indent="0" lvl="0" marL="0" marR="0" rtl="0" algn="l">
              <a:lnSpc>
                <a:spcPct val="119939"/>
              </a:lnSpc>
              <a:spcBef>
                <a:spcPts val="0"/>
              </a:spcBef>
              <a:spcAft>
                <a:spcPts val="0"/>
              </a:spcAft>
              <a:buNone/>
            </a:pPr>
            <a:r>
              <a:rPr b="0" i="0" lang="en-US" sz="1650" u="none" cap="none" strike="noStrike">
                <a:solidFill>
                  <a:srgbClr val="38BDF8"/>
                </a:solidFill>
                <a:latin typeface="Space Grotesk SemiBold"/>
                <a:ea typeface="Space Grotesk SemiBold"/>
                <a:cs typeface="Space Grotesk SemiBold"/>
                <a:sym typeface="Space Grotesk SemiBold"/>
              </a:rPr>
              <a:t>Cấu trúc Prompt chuẩn mực</a:t>
            </a:r>
            <a:endParaRPr/>
          </a:p>
        </p:txBody>
      </p:sp>
      <p:sp>
        <p:nvSpPr>
          <p:cNvPr id="437" name="Google Shape;437;p32"/>
          <p:cNvSpPr txBox="1"/>
          <p:nvPr/>
        </p:nvSpPr>
        <p:spPr>
          <a:xfrm>
            <a:off x="6286500" y="3127325"/>
            <a:ext cx="5590698" cy="251370"/>
          </a:xfrm>
          <a:prstGeom prst="rect">
            <a:avLst/>
          </a:prstGeom>
          <a:noFill/>
          <a:ln>
            <a:noFill/>
          </a:ln>
        </p:spPr>
        <p:txBody>
          <a:bodyPr anchorCtr="0" anchor="t" bIns="0" lIns="0" spcFirstLastPara="1" rIns="0" wrap="square" tIns="0">
            <a:spAutoFit/>
          </a:bodyPr>
          <a:lstStyle/>
          <a:p>
            <a:pPr indent="0" lvl="0" marL="0" marR="0" rtl="0" algn="l">
              <a:lnSpc>
                <a:spcPct val="119939"/>
              </a:lnSpc>
              <a:spcBef>
                <a:spcPts val="0"/>
              </a:spcBef>
              <a:spcAft>
                <a:spcPts val="0"/>
              </a:spcAft>
              <a:buNone/>
            </a:pPr>
            <a:r>
              <a:rPr b="0" i="0" lang="en-US" sz="1650" u="none" cap="none" strike="noStrike">
                <a:solidFill>
                  <a:srgbClr val="38BDF8"/>
                </a:solidFill>
                <a:latin typeface="Space Grotesk SemiBold"/>
                <a:ea typeface="Space Grotesk SemiBold"/>
                <a:cs typeface="Space Grotesk SemiBold"/>
                <a:sym typeface="Space Grotesk SemiBold"/>
              </a:rPr>
              <a:t>Kết quả trả về chính xác</a:t>
            </a:r>
            <a:endParaRPr/>
          </a:p>
        </p:txBody>
      </p:sp>
      <p:sp>
        <p:nvSpPr>
          <p:cNvPr id="438" name="Google Shape;438;p32"/>
          <p:cNvSpPr txBox="1"/>
          <p:nvPr/>
        </p:nvSpPr>
        <p:spPr>
          <a:xfrm>
            <a:off x="733425" y="3673971"/>
            <a:ext cx="6096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A5D6FF"/>
                </a:solidFill>
                <a:latin typeface="Fira Code"/>
                <a:ea typeface="Fira Code"/>
                <a:cs typeface="Fira Code"/>
                <a:sym typeface="Fira Code"/>
              </a:rPr>
              <a:t>CONTEXT:</a:t>
            </a:r>
            <a:endParaRPr/>
          </a:p>
        </p:txBody>
      </p:sp>
      <p:sp>
        <p:nvSpPr>
          <p:cNvPr id="439" name="Google Shape;439;p32"/>
          <p:cNvSpPr txBox="1"/>
          <p:nvPr/>
        </p:nvSpPr>
        <p:spPr>
          <a:xfrm>
            <a:off x="5000625" y="3673971"/>
            <a:ext cx="3810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A5D6FF"/>
                </a:solidFill>
                <a:latin typeface="Fira Code"/>
                <a:ea typeface="Fira Code"/>
                <a:cs typeface="Fira Code"/>
                <a:sym typeface="Fira Code"/>
              </a:rPr>
              <a:t>TASK:</a:t>
            </a:r>
            <a:endParaRPr/>
          </a:p>
        </p:txBody>
      </p:sp>
      <p:sp>
        <p:nvSpPr>
          <p:cNvPr id="440" name="Google Shape;440;p32"/>
          <p:cNvSpPr txBox="1"/>
          <p:nvPr/>
        </p:nvSpPr>
        <p:spPr>
          <a:xfrm>
            <a:off x="3400425" y="3847207"/>
            <a:ext cx="6096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A5D6FF"/>
                </a:solidFill>
                <a:latin typeface="Fira Code"/>
                <a:ea typeface="Fira Code"/>
                <a:cs typeface="Fira Code"/>
                <a:sym typeface="Fira Code"/>
              </a:rPr>
              <a:t>PROCESS:</a:t>
            </a:r>
            <a:endParaRPr/>
          </a:p>
        </p:txBody>
      </p:sp>
      <p:sp>
        <p:nvSpPr>
          <p:cNvPr id="441" name="Google Shape;441;p32"/>
          <p:cNvSpPr txBox="1"/>
          <p:nvPr/>
        </p:nvSpPr>
        <p:spPr>
          <a:xfrm>
            <a:off x="1800225" y="4020442"/>
            <a:ext cx="4572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A5D6FF"/>
                </a:solidFill>
                <a:latin typeface="Fira Code"/>
                <a:ea typeface="Fira Code"/>
                <a:cs typeface="Fira Code"/>
                <a:sym typeface="Fira Code"/>
              </a:rPr>
              <a:t>STEPS:</a:t>
            </a:r>
            <a:endParaRPr/>
          </a:p>
        </p:txBody>
      </p:sp>
      <p:sp>
        <p:nvSpPr>
          <p:cNvPr id="442" name="Google Shape;442;p32"/>
          <p:cNvSpPr txBox="1"/>
          <p:nvPr/>
        </p:nvSpPr>
        <p:spPr>
          <a:xfrm>
            <a:off x="3629025" y="4193678"/>
            <a:ext cx="9906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A5D6FF"/>
                </a:solidFill>
                <a:latin typeface="Fira Code"/>
                <a:ea typeface="Fira Code"/>
                <a:cs typeface="Fira Code"/>
                <a:sym typeface="Fira Code"/>
              </a:rPr>
              <a:t>CLI COMMANDS:</a:t>
            </a:r>
            <a:endParaRPr/>
          </a:p>
        </p:txBody>
      </p:sp>
      <p:sp>
        <p:nvSpPr>
          <p:cNvPr id="443" name="Google Shape;443;p32"/>
          <p:cNvSpPr txBox="1"/>
          <p:nvPr/>
        </p:nvSpPr>
        <p:spPr>
          <a:xfrm>
            <a:off x="6438900" y="3673971"/>
            <a:ext cx="19050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1" lang="en-US" sz="975" u="none" cap="none" strike="noStrike">
                <a:solidFill>
                  <a:srgbClr val="8B949E"/>
                </a:solidFill>
                <a:latin typeface="Fira Code"/>
                <a:ea typeface="Fira Code"/>
                <a:cs typeface="Fira Code"/>
                <a:sym typeface="Fira Code"/>
              </a:rPr>
              <a:t># 1. Review changed files</a:t>
            </a:r>
            <a:endParaRPr/>
          </a:p>
        </p:txBody>
      </p:sp>
      <p:sp>
        <p:nvSpPr>
          <p:cNvPr id="444" name="Google Shape;444;p32"/>
          <p:cNvSpPr txBox="1"/>
          <p:nvPr/>
        </p:nvSpPr>
        <p:spPr>
          <a:xfrm>
            <a:off x="8420100" y="3673971"/>
            <a:ext cx="2286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FF7B72"/>
                </a:solidFill>
                <a:latin typeface="Fira Code"/>
                <a:ea typeface="Fira Code"/>
                <a:cs typeface="Fira Code"/>
                <a:sym typeface="Fira Code"/>
              </a:rPr>
              <a:t>git</a:t>
            </a:r>
            <a:endParaRPr/>
          </a:p>
        </p:txBody>
      </p:sp>
      <p:sp>
        <p:nvSpPr>
          <p:cNvPr id="445" name="Google Shape;445;p32"/>
          <p:cNvSpPr txBox="1"/>
          <p:nvPr/>
        </p:nvSpPr>
        <p:spPr>
          <a:xfrm>
            <a:off x="9258300" y="3673971"/>
            <a:ext cx="21336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1" lang="en-US" sz="975" u="none" cap="none" strike="noStrike">
                <a:solidFill>
                  <a:srgbClr val="8B949E"/>
                </a:solidFill>
                <a:latin typeface="Fira Code"/>
                <a:ea typeface="Fira Code"/>
                <a:cs typeface="Fira Code"/>
                <a:sym typeface="Fira Code"/>
              </a:rPr>
              <a:t># 2. Stage the desired files</a:t>
            </a:r>
            <a:endParaRPr/>
          </a:p>
        </p:txBody>
      </p:sp>
      <p:sp>
        <p:nvSpPr>
          <p:cNvPr id="446" name="Google Shape;446;p32"/>
          <p:cNvSpPr txBox="1"/>
          <p:nvPr/>
        </p:nvSpPr>
        <p:spPr>
          <a:xfrm>
            <a:off x="6438900" y="3847207"/>
            <a:ext cx="2286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FF7B72"/>
                </a:solidFill>
                <a:latin typeface="Fira Code"/>
                <a:ea typeface="Fira Code"/>
                <a:cs typeface="Fira Code"/>
                <a:sym typeface="Fira Code"/>
              </a:rPr>
              <a:t>git</a:t>
            </a:r>
            <a:endParaRPr/>
          </a:p>
        </p:txBody>
      </p:sp>
      <p:sp>
        <p:nvSpPr>
          <p:cNvPr id="447" name="Google Shape;447;p32"/>
          <p:cNvSpPr txBox="1"/>
          <p:nvPr/>
        </p:nvSpPr>
        <p:spPr>
          <a:xfrm>
            <a:off x="7048500" y="3847207"/>
            <a:ext cx="11430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1" lang="en-US" sz="975" u="none" cap="none" strike="noStrike">
                <a:solidFill>
                  <a:srgbClr val="8B949E"/>
                </a:solidFill>
                <a:latin typeface="Fira Code"/>
                <a:ea typeface="Fira Code"/>
                <a:cs typeface="Fira Code"/>
                <a:sym typeface="Fira Code"/>
              </a:rPr>
              <a:t># 3 &amp; 4. Commit</a:t>
            </a:r>
            <a:endParaRPr/>
          </a:p>
        </p:txBody>
      </p:sp>
      <p:sp>
        <p:nvSpPr>
          <p:cNvPr id="448" name="Google Shape;448;p32"/>
          <p:cNvSpPr txBox="1"/>
          <p:nvPr/>
        </p:nvSpPr>
        <p:spPr>
          <a:xfrm>
            <a:off x="8267700" y="3847207"/>
            <a:ext cx="2286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FF7B72"/>
                </a:solidFill>
                <a:latin typeface="Fira Code"/>
                <a:ea typeface="Fira Code"/>
                <a:cs typeface="Fira Code"/>
                <a:sym typeface="Fira Code"/>
              </a:rPr>
              <a:t>git</a:t>
            </a:r>
            <a:endParaRPr/>
          </a:p>
        </p:txBody>
      </p:sp>
      <p:sp>
        <p:nvSpPr>
          <p:cNvPr id="449" name="Google Shape;449;p32"/>
          <p:cNvSpPr txBox="1"/>
          <p:nvPr/>
        </p:nvSpPr>
        <p:spPr>
          <a:xfrm>
            <a:off x="9334500" y="3847207"/>
            <a:ext cx="6858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A5D6FF"/>
                </a:solidFill>
                <a:latin typeface="Fira Code"/>
                <a:ea typeface="Fira Code"/>
                <a:cs typeface="Fira Code"/>
                <a:sym typeface="Fira Code"/>
              </a:rPr>
              <a:t>"Message"</a:t>
            </a:r>
            <a:endParaRPr/>
          </a:p>
        </p:txBody>
      </p:sp>
      <p:sp>
        <p:nvSpPr>
          <p:cNvPr id="450" name="Google Shape;450;p32"/>
          <p:cNvSpPr txBox="1"/>
          <p:nvPr/>
        </p:nvSpPr>
        <p:spPr>
          <a:xfrm>
            <a:off x="10096500" y="3847207"/>
            <a:ext cx="6858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1" lang="en-US" sz="975" u="none" cap="none" strike="noStrike">
                <a:solidFill>
                  <a:srgbClr val="8B949E"/>
                </a:solidFill>
                <a:latin typeface="Fira Code"/>
                <a:ea typeface="Fira Code"/>
                <a:cs typeface="Fira Code"/>
                <a:sym typeface="Fira Code"/>
              </a:rPr>
              <a:t># 6. Push</a:t>
            </a:r>
            <a:endParaRPr/>
          </a:p>
        </p:txBody>
      </p:sp>
      <p:sp>
        <p:nvSpPr>
          <p:cNvPr id="451" name="Google Shape;451;p32"/>
          <p:cNvSpPr txBox="1"/>
          <p:nvPr/>
        </p:nvSpPr>
        <p:spPr>
          <a:xfrm>
            <a:off x="10858500" y="3847207"/>
            <a:ext cx="2286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FF7B72"/>
                </a:solidFill>
                <a:latin typeface="Fira Code"/>
                <a:ea typeface="Fira Code"/>
                <a:cs typeface="Fira Code"/>
                <a:sym typeface="Fira Code"/>
              </a:rPr>
              <a:t>git</a:t>
            </a:r>
            <a:endParaRPr/>
          </a:p>
        </p:txBody>
      </p:sp>
      <p:sp>
        <p:nvSpPr>
          <p:cNvPr id="452" name="Google Shape;452;p32"/>
          <p:cNvSpPr txBox="1"/>
          <p:nvPr/>
        </p:nvSpPr>
        <p:spPr>
          <a:xfrm>
            <a:off x="581025" y="485775"/>
            <a:ext cx="11581447" cy="502890"/>
          </a:xfrm>
          <a:prstGeom prst="rect">
            <a:avLst/>
          </a:prstGeom>
          <a:noFill/>
          <a:ln>
            <a:noFill/>
          </a:ln>
        </p:spPr>
        <p:txBody>
          <a:bodyPr anchorCtr="0" anchor="ctr" bIns="0" lIns="0" spcFirstLastPara="1" rIns="0" wrap="square" tIns="0">
            <a:spAutoFit/>
          </a:bodyPr>
          <a:lstStyle/>
          <a:p>
            <a:pPr indent="0" lvl="0" marL="0" marR="0" rtl="0" algn="l">
              <a:lnSpc>
                <a:spcPct val="119969"/>
              </a:lnSpc>
              <a:spcBef>
                <a:spcPts val="0"/>
              </a:spcBef>
              <a:spcAft>
                <a:spcPts val="0"/>
              </a:spcAft>
              <a:buNone/>
            </a:pPr>
            <a:r>
              <a:rPr b="0" i="0" lang="en-US" sz="3300" u="none" cap="none" strike="noStrike">
                <a:solidFill>
                  <a:srgbClr val="F8FAFC"/>
                </a:solidFill>
                <a:latin typeface="Space Grotesk SemiBold"/>
                <a:ea typeface="Space Grotesk SemiBold"/>
                <a:cs typeface="Space Grotesk SemiBold"/>
                <a:sym typeface="Space Grotesk SemiBold"/>
              </a:rPr>
              <a:t>Lab 4: Áp Dụng Five S's Chuyển GUI Sang CLI</a:t>
            </a:r>
            <a:endParaRPr/>
          </a:p>
        </p:txBody>
      </p:sp>
      <p:sp>
        <p:nvSpPr>
          <p:cNvPr id="453" name="Google Shape;453;p32"/>
          <p:cNvSpPr/>
          <p:nvPr/>
        </p:nvSpPr>
        <p:spPr>
          <a:xfrm>
            <a:off x="581025" y="988665"/>
            <a:ext cx="57150" cy="381000"/>
          </a:xfrm>
          <a:prstGeom prst="roundRect">
            <a:avLst>
              <a:gd fmla="val 50000" name="adj"/>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457" name="Shape 457"/>
        <p:cNvGrpSpPr/>
        <p:nvPr/>
      </p:nvGrpSpPr>
      <p:grpSpPr>
        <a:xfrm>
          <a:off x="0" y="0"/>
          <a:ext cx="0" cy="0"/>
          <a:chOff x="0" y="0"/>
          <a:chExt cx="0" cy="0"/>
        </a:xfrm>
      </p:grpSpPr>
      <p:pic>
        <p:nvPicPr>
          <p:cNvPr descr="image.png" id="458" name="Google Shape;458;p3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59" name="Google Shape;459;p33"/>
          <p:cNvSpPr/>
          <p:nvPr/>
        </p:nvSpPr>
        <p:spPr>
          <a:xfrm>
            <a:off x="5619750" y="2031801"/>
            <a:ext cx="952500" cy="5715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0" name="Google Shape;460;p33"/>
          <p:cNvSpPr txBox="1"/>
          <p:nvPr/>
        </p:nvSpPr>
        <p:spPr>
          <a:xfrm>
            <a:off x="5455920" y="2374701"/>
            <a:ext cx="1280160" cy="31998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2100" u="none" cap="none" strike="noStrike">
                <a:solidFill>
                  <a:srgbClr val="94A3B8"/>
                </a:solidFill>
                <a:latin typeface="Space Grotesk SemiBold"/>
                <a:ea typeface="Space Grotesk SemiBold"/>
                <a:cs typeface="Space Grotesk SemiBold"/>
                <a:sym typeface="Space Grotesk SemiBold"/>
              </a:rPr>
              <a:t>PHẦN 05</a:t>
            </a:r>
            <a:endParaRPr/>
          </a:p>
        </p:txBody>
      </p:sp>
      <p:sp>
        <p:nvSpPr>
          <p:cNvPr id="461" name="Google Shape;461;p33"/>
          <p:cNvSpPr txBox="1"/>
          <p:nvPr/>
        </p:nvSpPr>
        <p:spPr>
          <a:xfrm>
            <a:off x="1165383" y="2837557"/>
            <a:ext cx="9861232" cy="1462980"/>
          </a:xfrm>
          <a:prstGeom prst="rect">
            <a:avLst/>
          </a:prstGeom>
          <a:noFill/>
          <a:ln>
            <a:noFill/>
          </a:ln>
        </p:spPr>
        <p:txBody>
          <a:bodyPr anchorCtr="0" anchor="t" bIns="0" lIns="0" spcFirstLastPara="1" rIns="0" wrap="square" tIns="0">
            <a:spAutoFit/>
          </a:bodyPr>
          <a:lstStyle/>
          <a:p>
            <a:pPr indent="0" lvl="0" marL="0" marR="0" rtl="0" algn="ctr">
              <a:lnSpc>
                <a:spcPct val="119979"/>
              </a:lnSpc>
              <a:spcBef>
                <a:spcPts val="0"/>
              </a:spcBef>
              <a:spcAft>
                <a:spcPts val="0"/>
              </a:spcAft>
              <a:buNone/>
            </a:pPr>
            <a:r>
              <a:rPr b="1" i="0" lang="en-US" sz="4800" u="none" cap="none" strike="noStrike">
                <a:solidFill>
                  <a:srgbClr val="F8FAFC"/>
                </a:solidFill>
                <a:latin typeface="Space Grotesk"/>
                <a:ea typeface="Space Grotesk"/>
                <a:cs typeface="Space Grotesk"/>
                <a:sym typeface="Space Grotesk"/>
              </a:rPr>
              <a:t>Các Phương Pháp Tốt Nhất Để</a:t>
            </a:r>
            <a:br>
              <a:rPr b="0" i="0" lang="en-US" sz="1800" u="none" cap="none" strike="noStrike">
                <a:solidFill>
                  <a:schemeClr val="dk1"/>
                </a:solidFill>
                <a:latin typeface="Calibri"/>
                <a:ea typeface="Calibri"/>
                <a:cs typeface="Calibri"/>
                <a:sym typeface="Calibri"/>
              </a:rPr>
            </a:br>
            <a:r>
              <a:rPr b="1" i="0" lang="en-US" sz="4800" u="none" cap="none" strike="noStrike">
                <a:solidFill>
                  <a:srgbClr val="F8FAFC"/>
                </a:solidFill>
                <a:latin typeface="Space Grotesk"/>
                <a:ea typeface="Space Grotesk"/>
                <a:cs typeface="Space Grotesk"/>
                <a:sym typeface="Space Grotesk"/>
              </a:rPr>
              <a:t>Hỏi Đáp Với API OpenAI &amp; Copilot</a:t>
            </a:r>
            <a:endParaRPr/>
          </a:p>
        </p:txBody>
      </p:sp>
      <p:sp>
        <p:nvSpPr>
          <p:cNvPr id="462" name="Google Shape;462;p33"/>
          <p:cNvSpPr txBox="1"/>
          <p:nvPr/>
        </p:nvSpPr>
        <p:spPr>
          <a:xfrm>
            <a:off x="3381375" y="4491037"/>
            <a:ext cx="5429250" cy="3351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650" u="none" cap="none" strike="noStrike">
                <a:solidFill>
                  <a:srgbClr val="94A3B8"/>
                </a:solidFill>
                <a:latin typeface="Inter"/>
                <a:ea typeface="Inter"/>
                <a:cs typeface="Inter"/>
                <a:sym typeface="Inter"/>
              </a:rPr>
              <a:t>Hệ sinh thái kết hợp và kiểm soát chất lượng mã nguồn.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466" name="Shape 466"/>
        <p:cNvGrpSpPr/>
        <p:nvPr/>
      </p:nvGrpSpPr>
      <p:grpSpPr>
        <a:xfrm>
          <a:off x="0" y="0"/>
          <a:ext cx="0" cy="0"/>
          <a:chOff x="0" y="0"/>
          <a:chExt cx="0" cy="0"/>
        </a:xfrm>
      </p:grpSpPr>
      <p:pic>
        <p:nvPicPr>
          <p:cNvPr descr="image.png" id="467" name="Google Shape;467;p3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68" name="Google Shape;468;p34"/>
          <p:cNvPicPr preferRelativeResize="0"/>
          <p:nvPr/>
        </p:nvPicPr>
        <p:blipFill rotWithShape="1">
          <a:blip r:embed="rId4">
            <a:alphaModFix/>
          </a:blip>
          <a:srcRect b="0" l="0" r="0" t="0"/>
          <a:stretch/>
        </p:blipFill>
        <p:spPr>
          <a:xfrm>
            <a:off x="581025" y="1893689"/>
            <a:ext cx="5324475" cy="2019151"/>
          </a:xfrm>
          <a:prstGeom prst="rect">
            <a:avLst/>
          </a:prstGeom>
          <a:noFill/>
          <a:ln>
            <a:noFill/>
          </a:ln>
        </p:spPr>
      </p:pic>
      <p:pic>
        <p:nvPicPr>
          <p:cNvPr descr="image.png" id="469" name="Google Shape;469;p34"/>
          <p:cNvPicPr preferRelativeResize="0"/>
          <p:nvPr/>
        </p:nvPicPr>
        <p:blipFill rotWithShape="1">
          <a:blip r:embed="rId5">
            <a:alphaModFix/>
          </a:blip>
          <a:srcRect b="0" l="0" r="0" t="0"/>
          <a:stretch/>
        </p:blipFill>
        <p:spPr>
          <a:xfrm>
            <a:off x="6286500" y="1893689"/>
            <a:ext cx="5324475" cy="2019151"/>
          </a:xfrm>
          <a:prstGeom prst="rect">
            <a:avLst/>
          </a:prstGeom>
          <a:noFill/>
          <a:ln>
            <a:noFill/>
          </a:ln>
        </p:spPr>
      </p:pic>
      <p:pic>
        <p:nvPicPr>
          <p:cNvPr descr="image.png" id="470" name="Google Shape;470;p34"/>
          <p:cNvPicPr preferRelativeResize="0"/>
          <p:nvPr/>
        </p:nvPicPr>
        <p:blipFill rotWithShape="1">
          <a:blip r:embed="rId6">
            <a:alphaModFix/>
          </a:blip>
          <a:srcRect b="0" l="0" r="0" t="0"/>
          <a:stretch/>
        </p:blipFill>
        <p:spPr>
          <a:xfrm>
            <a:off x="581025" y="4293840"/>
            <a:ext cx="11029950" cy="1459110"/>
          </a:xfrm>
          <a:prstGeom prst="rect">
            <a:avLst/>
          </a:prstGeom>
          <a:noFill/>
          <a:ln>
            <a:noFill/>
          </a:ln>
        </p:spPr>
      </p:pic>
      <p:sp>
        <p:nvSpPr>
          <p:cNvPr id="471" name="Google Shape;471;p34"/>
          <p:cNvSpPr txBox="1"/>
          <p:nvPr/>
        </p:nvSpPr>
        <p:spPr>
          <a:xfrm>
            <a:off x="876300" y="2188964"/>
            <a:ext cx="4970621" cy="319980"/>
          </a:xfrm>
          <a:prstGeom prst="rect">
            <a:avLst/>
          </a:prstGeom>
          <a:noFill/>
          <a:ln>
            <a:noFill/>
          </a:ln>
        </p:spPr>
        <p:txBody>
          <a:bodyPr anchorCtr="0" anchor="t" bIns="0" lIns="333375"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38BDF8"/>
                </a:solidFill>
                <a:latin typeface="Space Grotesk SemiBold"/>
                <a:ea typeface="Space Grotesk SemiBold"/>
                <a:cs typeface="Space Grotesk SemiBold"/>
                <a:sym typeface="Space Grotesk SemiBold"/>
              </a:rPr>
              <a:t>ChatGPT</a:t>
            </a:r>
            <a:endParaRPr/>
          </a:p>
        </p:txBody>
      </p:sp>
      <p:sp>
        <p:nvSpPr>
          <p:cNvPr id="472" name="Google Shape;472;p34"/>
          <p:cNvSpPr txBox="1"/>
          <p:nvPr/>
        </p:nvSpPr>
        <p:spPr>
          <a:xfrm>
            <a:off x="876300" y="2651819"/>
            <a:ext cx="4733925"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Đóng vai trò "Kiến trúc sư". Dùng để trao đổi ý tưởng, thiết kế System Architecture, giải thích thuật toán logic phức tạp ở mức độ trừu tượng.</a:t>
            </a:r>
            <a:endParaRPr/>
          </a:p>
        </p:txBody>
      </p:sp>
      <p:sp>
        <p:nvSpPr>
          <p:cNvPr id="473" name="Google Shape;473;p34"/>
          <p:cNvSpPr txBox="1"/>
          <p:nvPr/>
        </p:nvSpPr>
        <p:spPr>
          <a:xfrm>
            <a:off x="6581775" y="2188964"/>
            <a:ext cx="4970621" cy="319980"/>
          </a:xfrm>
          <a:prstGeom prst="rect">
            <a:avLst/>
          </a:prstGeom>
          <a:noFill/>
          <a:ln>
            <a:noFill/>
          </a:ln>
        </p:spPr>
        <p:txBody>
          <a:bodyPr anchorCtr="0" anchor="t" bIns="0" lIns="257175"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38BDF8"/>
                </a:solidFill>
                <a:latin typeface="Space Grotesk SemiBold"/>
                <a:ea typeface="Space Grotesk SemiBold"/>
                <a:cs typeface="Space Grotesk SemiBold"/>
                <a:sym typeface="Space Grotesk SemiBold"/>
              </a:rPr>
              <a:t> GitHub Copilot</a:t>
            </a:r>
            <a:endParaRPr/>
          </a:p>
        </p:txBody>
      </p:sp>
      <p:sp>
        <p:nvSpPr>
          <p:cNvPr id="474" name="Google Shape;474;p34"/>
          <p:cNvSpPr txBox="1"/>
          <p:nvPr/>
        </p:nvSpPr>
        <p:spPr>
          <a:xfrm>
            <a:off x="6581775" y="2651819"/>
            <a:ext cx="4733925"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Đóng vai trò "Công nhân xây dựng". Tích hợp sâu vào IDE, nhận diện context và gõ code thay lập trình viên với tốc độ siêu tốc.</a:t>
            </a:r>
            <a:endParaRPr/>
          </a:p>
        </p:txBody>
      </p:sp>
      <p:pic>
        <p:nvPicPr>
          <p:cNvPr descr="image.png" id="475" name="Google Shape;475;p34"/>
          <p:cNvPicPr preferRelativeResize="0"/>
          <p:nvPr/>
        </p:nvPicPr>
        <p:blipFill rotWithShape="1">
          <a:blip r:embed="rId7">
            <a:alphaModFix/>
          </a:blip>
          <a:srcRect b="0" l="0" r="0" t="0"/>
          <a:stretch/>
        </p:blipFill>
        <p:spPr>
          <a:xfrm>
            <a:off x="876300" y="2208014"/>
            <a:ext cx="333375" cy="266700"/>
          </a:xfrm>
          <a:prstGeom prst="rect">
            <a:avLst/>
          </a:prstGeom>
          <a:noFill/>
          <a:ln>
            <a:noFill/>
          </a:ln>
        </p:spPr>
      </p:pic>
      <p:pic>
        <p:nvPicPr>
          <p:cNvPr descr="image.png" id="476" name="Google Shape;476;p34"/>
          <p:cNvPicPr preferRelativeResize="0"/>
          <p:nvPr/>
        </p:nvPicPr>
        <p:blipFill rotWithShape="1">
          <a:blip r:embed="rId8">
            <a:alphaModFix/>
          </a:blip>
          <a:srcRect b="0" l="0" r="0" t="0"/>
          <a:stretch/>
        </p:blipFill>
        <p:spPr>
          <a:xfrm>
            <a:off x="6581775" y="2208014"/>
            <a:ext cx="257175" cy="266700"/>
          </a:xfrm>
          <a:prstGeom prst="rect">
            <a:avLst/>
          </a:prstGeom>
          <a:noFill/>
          <a:ln>
            <a:noFill/>
          </a:ln>
        </p:spPr>
      </p:pic>
      <p:pic>
        <p:nvPicPr>
          <p:cNvPr descr="image.png" id="477" name="Google Shape;477;p34"/>
          <p:cNvPicPr preferRelativeResize="0"/>
          <p:nvPr/>
        </p:nvPicPr>
        <p:blipFill rotWithShape="1">
          <a:blip r:embed="rId9">
            <a:alphaModFix/>
          </a:blip>
          <a:srcRect b="0" l="0" r="0" t="0"/>
          <a:stretch/>
        </p:blipFill>
        <p:spPr>
          <a:xfrm>
            <a:off x="876300" y="4828133"/>
            <a:ext cx="333375" cy="381000"/>
          </a:xfrm>
          <a:prstGeom prst="rect">
            <a:avLst/>
          </a:prstGeom>
          <a:noFill/>
          <a:ln>
            <a:noFill/>
          </a:ln>
        </p:spPr>
      </p:pic>
      <p:sp>
        <p:nvSpPr>
          <p:cNvPr id="478" name="Google Shape;478;p34"/>
          <p:cNvSpPr txBox="1"/>
          <p:nvPr/>
        </p:nvSpPr>
        <p:spPr>
          <a:xfrm>
            <a:off x="1400175" y="4589115"/>
            <a:ext cx="10411301" cy="3199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38BDF8"/>
                </a:solidFill>
                <a:latin typeface="Space Grotesk SemiBold"/>
                <a:ea typeface="Space Grotesk SemiBold"/>
                <a:cs typeface="Space Grotesk SemiBold"/>
                <a:sym typeface="Space Grotesk SemiBold"/>
              </a:rPr>
              <a:t>OpenAI API</a:t>
            </a:r>
            <a:endParaRPr/>
          </a:p>
        </p:txBody>
      </p:sp>
      <p:sp>
        <p:nvSpPr>
          <p:cNvPr id="479" name="Google Shape;479;p34"/>
          <p:cNvSpPr txBox="1"/>
          <p:nvPr/>
        </p:nvSpPr>
        <p:spPr>
          <a:xfrm>
            <a:off x="1400175" y="4909095"/>
            <a:ext cx="991552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Triển khai sức mạnh AI vào sản phẩm cuối. Giúp sản phẩm có khả năng tự động xử lý ngôn ngữ, tự động tạo Docstring hoặc Chatbot cho End-user.</a:t>
            </a:r>
            <a:endParaRPr/>
          </a:p>
        </p:txBody>
      </p:sp>
      <p:sp>
        <p:nvSpPr>
          <p:cNvPr id="480" name="Google Shape;480;p34"/>
          <p:cNvSpPr txBox="1"/>
          <p:nvPr/>
        </p:nvSpPr>
        <p:spPr>
          <a:xfrm>
            <a:off x="581025" y="485775"/>
            <a:ext cx="11581447" cy="502890"/>
          </a:xfrm>
          <a:prstGeom prst="rect">
            <a:avLst/>
          </a:prstGeom>
          <a:noFill/>
          <a:ln>
            <a:noFill/>
          </a:ln>
        </p:spPr>
        <p:txBody>
          <a:bodyPr anchorCtr="0" anchor="ctr" bIns="0" lIns="0" spcFirstLastPara="1" rIns="0" wrap="square" tIns="0">
            <a:spAutoFit/>
          </a:bodyPr>
          <a:lstStyle/>
          <a:p>
            <a:pPr indent="0" lvl="0" marL="0" marR="0" rtl="0" algn="l">
              <a:lnSpc>
                <a:spcPct val="119969"/>
              </a:lnSpc>
              <a:spcBef>
                <a:spcPts val="0"/>
              </a:spcBef>
              <a:spcAft>
                <a:spcPts val="0"/>
              </a:spcAft>
              <a:buNone/>
            </a:pPr>
            <a:r>
              <a:rPr b="0" i="0" lang="en-US" sz="3300" u="none" cap="none" strike="noStrike">
                <a:solidFill>
                  <a:srgbClr val="F8FAFC"/>
                </a:solidFill>
                <a:latin typeface="Space Grotesk SemiBold"/>
                <a:ea typeface="Space Grotesk SemiBold"/>
                <a:cs typeface="Space Grotesk SemiBold"/>
                <a:sym typeface="Space Grotesk SemiBold"/>
              </a:rPr>
              <a:t>Sự Kết Hợp Hoàn Hảo</a:t>
            </a:r>
            <a:endParaRPr/>
          </a:p>
        </p:txBody>
      </p:sp>
      <p:sp>
        <p:nvSpPr>
          <p:cNvPr id="481" name="Google Shape;481;p34"/>
          <p:cNvSpPr/>
          <p:nvPr/>
        </p:nvSpPr>
        <p:spPr>
          <a:xfrm>
            <a:off x="581025" y="988665"/>
            <a:ext cx="57150" cy="381000"/>
          </a:xfrm>
          <a:prstGeom prst="roundRect">
            <a:avLst>
              <a:gd fmla="val 50000" name="adj"/>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485" name="Shape 485"/>
        <p:cNvGrpSpPr/>
        <p:nvPr/>
      </p:nvGrpSpPr>
      <p:grpSpPr>
        <a:xfrm>
          <a:off x="0" y="0"/>
          <a:ext cx="0" cy="0"/>
          <a:chOff x="0" y="0"/>
          <a:chExt cx="0" cy="0"/>
        </a:xfrm>
      </p:grpSpPr>
      <p:pic>
        <p:nvPicPr>
          <p:cNvPr descr="image.png" id="486" name="Google Shape;486;p3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87" name="Google Shape;487;p35"/>
          <p:cNvPicPr preferRelativeResize="0"/>
          <p:nvPr/>
        </p:nvPicPr>
        <p:blipFill rotWithShape="1">
          <a:blip r:embed="rId4">
            <a:alphaModFix/>
          </a:blip>
          <a:srcRect b="0" l="0" r="0" t="0"/>
          <a:stretch/>
        </p:blipFill>
        <p:spPr>
          <a:xfrm>
            <a:off x="581025" y="2228850"/>
            <a:ext cx="3486150" cy="3188791"/>
          </a:xfrm>
          <a:prstGeom prst="rect">
            <a:avLst/>
          </a:prstGeom>
          <a:noFill/>
          <a:ln>
            <a:noFill/>
          </a:ln>
        </p:spPr>
      </p:pic>
      <p:pic>
        <p:nvPicPr>
          <p:cNvPr descr="image.png" id="488" name="Google Shape;488;p35"/>
          <p:cNvPicPr preferRelativeResize="0"/>
          <p:nvPr/>
        </p:nvPicPr>
        <p:blipFill rotWithShape="1">
          <a:blip r:embed="rId5">
            <a:alphaModFix/>
          </a:blip>
          <a:srcRect b="0" l="0" r="0" t="0"/>
          <a:stretch/>
        </p:blipFill>
        <p:spPr>
          <a:xfrm>
            <a:off x="4352925" y="2228850"/>
            <a:ext cx="3486150" cy="3188791"/>
          </a:xfrm>
          <a:prstGeom prst="rect">
            <a:avLst/>
          </a:prstGeom>
          <a:noFill/>
          <a:ln>
            <a:noFill/>
          </a:ln>
        </p:spPr>
      </p:pic>
      <p:pic>
        <p:nvPicPr>
          <p:cNvPr descr="image.png" id="489" name="Google Shape;489;p35"/>
          <p:cNvPicPr preferRelativeResize="0"/>
          <p:nvPr/>
        </p:nvPicPr>
        <p:blipFill rotWithShape="1">
          <a:blip r:embed="rId6">
            <a:alphaModFix/>
          </a:blip>
          <a:srcRect b="0" l="0" r="0" t="0"/>
          <a:stretch/>
        </p:blipFill>
        <p:spPr>
          <a:xfrm>
            <a:off x="8124825" y="2228850"/>
            <a:ext cx="3486150" cy="3188791"/>
          </a:xfrm>
          <a:prstGeom prst="rect">
            <a:avLst/>
          </a:prstGeom>
          <a:noFill/>
          <a:ln>
            <a:noFill/>
          </a:ln>
        </p:spPr>
      </p:pic>
      <p:pic>
        <p:nvPicPr>
          <p:cNvPr descr="image.png" id="490" name="Google Shape;490;p35"/>
          <p:cNvPicPr preferRelativeResize="0"/>
          <p:nvPr/>
        </p:nvPicPr>
        <p:blipFill rotWithShape="1">
          <a:blip r:embed="rId7">
            <a:alphaModFix/>
          </a:blip>
          <a:srcRect b="0" l="0" r="0" t="0"/>
          <a:stretch/>
        </p:blipFill>
        <p:spPr>
          <a:xfrm>
            <a:off x="876300" y="2524125"/>
            <a:ext cx="628650" cy="704850"/>
          </a:xfrm>
          <a:prstGeom prst="rect">
            <a:avLst/>
          </a:prstGeom>
          <a:noFill/>
          <a:ln>
            <a:noFill/>
          </a:ln>
        </p:spPr>
      </p:pic>
      <p:sp>
        <p:nvSpPr>
          <p:cNvPr id="491" name="Google Shape;491;p35"/>
          <p:cNvSpPr txBox="1"/>
          <p:nvPr/>
        </p:nvSpPr>
        <p:spPr>
          <a:xfrm>
            <a:off x="876300" y="3419475"/>
            <a:ext cx="2050256" cy="3199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38BDF8"/>
                </a:solidFill>
                <a:latin typeface="Space Grotesk SemiBold"/>
                <a:ea typeface="Space Grotesk SemiBold"/>
                <a:cs typeface="Space Grotesk SemiBold"/>
                <a:sym typeface="Space Grotesk SemiBold"/>
              </a:rPr>
              <a:t>Driven by Tests</a:t>
            </a:r>
            <a:endParaRPr/>
          </a:p>
        </p:txBody>
      </p:sp>
      <p:sp>
        <p:nvSpPr>
          <p:cNvPr id="492" name="Google Shape;492;p35"/>
          <p:cNvSpPr txBox="1"/>
          <p:nvPr/>
        </p:nvSpPr>
        <p:spPr>
          <a:xfrm>
            <a:off x="876300" y="3882330"/>
            <a:ext cx="2895600" cy="1097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Luôn sử dụng Unit Test để ép AI sửa lỗi. Khi Test Fail, cung cấp Traceback cho AI để vá lỗ hổng thay vì mô tả bằng lời.</a:t>
            </a:r>
            <a:endParaRPr/>
          </a:p>
        </p:txBody>
      </p:sp>
      <p:pic>
        <p:nvPicPr>
          <p:cNvPr descr="image.png" id="493" name="Google Shape;493;p35"/>
          <p:cNvPicPr preferRelativeResize="0"/>
          <p:nvPr/>
        </p:nvPicPr>
        <p:blipFill rotWithShape="1">
          <a:blip r:embed="rId8">
            <a:alphaModFix/>
          </a:blip>
          <a:srcRect b="0" l="0" r="0" t="0"/>
          <a:stretch/>
        </p:blipFill>
        <p:spPr>
          <a:xfrm>
            <a:off x="4648200" y="2524125"/>
            <a:ext cx="628650" cy="704850"/>
          </a:xfrm>
          <a:prstGeom prst="rect">
            <a:avLst/>
          </a:prstGeom>
          <a:noFill/>
          <a:ln>
            <a:noFill/>
          </a:ln>
        </p:spPr>
      </p:pic>
      <p:sp>
        <p:nvSpPr>
          <p:cNvPr id="494" name="Google Shape;494;p35"/>
          <p:cNvSpPr txBox="1"/>
          <p:nvPr/>
        </p:nvSpPr>
        <p:spPr>
          <a:xfrm>
            <a:off x="4648200" y="3419475"/>
            <a:ext cx="2520315" cy="3199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38BDF8"/>
                </a:solidFill>
                <a:latin typeface="Space Grotesk SemiBold"/>
                <a:ea typeface="Space Grotesk SemiBold"/>
                <a:cs typeface="Space Grotesk SemiBold"/>
                <a:sym typeface="Space Grotesk SemiBold"/>
              </a:rPr>
              <a:t>Human In The Loop</a:t>
            </a:r>
            <a:endParaRPr/>
          </a:p>
        </p:txBody>
      </p:sp>
      <p:sp>
        <p:nvSpPr>
          <p:cNvPr id="495" name="Google Shape;495;p35"/>
          <p:cNvSpPr txBox="1"/>
          <p:nvPr/>
        </p:nvSpPr>
        <p:spPr>
          <a:xfrm>
            <a:off x="4648200" y="3882330"/>
            <a:ext cx="2895600" cy="1097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AI sinh code, con người review. Phải kiểm tra tính khả thi, bảo mật, và performance trước khi Push code lên Production.</a:t>
            </a:r>
            <a:endParaRPr/>
          </a:p>
        </p:txBody>
      </p:sp>
      <p:pic>
        <p:nvPicPr>
          <p:cNvPr descr="image.png" id="496" name="Google Shape;496;p35"/>
          <p:cNvPicPr preferRelativeResize="0"/>
          <p:nvPr/>
        </p:nvPicPr>
        <p:blipFill rotWithShape="1">
          <a:blip r:embed="rId9">
            <a:alphaModFix/>
          </a:blip>
          <a:srcRect b="0" l="0" r="0" t="0"/>
          <a:stretch/>
        </p:blipFill>
        <p:spPr>
          <a:xfrm>
            <a:off x="8420100" y="2524125"/>
            <a:ext cx="628650" cy="704850"/>
          </a:xfrm>
          <a:prstGeom prst="rect">
            <a:avLst/>
          </a:prstGeom>
          <a:noFill/>
          <a:ln>
            <a:noFill/>
          </a:ln>
        </p:spPr>
      </p:pic>
      <p:sp>
        <p:nvSpPr>
          <p:cNvPr id="497" name="Google Shape;497;p35"/>
          <p:cNvSpPr txBox="1"/>
          <p:nvPr/>
        </p:nvSpPr>
        <p:spPr>
          <a:xfrm>
            <a:off x="8420100" y="3419475"/>
            <a:ext cx="2750343" cy="31998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38BDF8"/>
                </a:solidFill>
                <a:latin typeface="Space Grotesk SemiBold"/>
                <a:ea typeface="Space Grotesk SemiBold"/>
                <a:cs typeface="Space Grotesk SemiBold"/>
                <a:sym typeface="Space Grotesk SemiBold"/>
              </a:rPr>
              <a:t>Iterative Refinement</a:t>
            </a:r>
            <a:endParaRPr/>
          </a:p>
        </p:txBody>
      </p:sp>
      <p:sp>
        <p:nvSpPr>
          <p:cNvPr id="498" name="Google Shape;498;p35"/>
          <p:cNvSpPr txBox="1"/>
          <p:nvPr/>
        </p:nvSpPr>
        <p:spPr>
          <a:xfrm>
            <a:off x="8420100" y="3882330"/>
            <a:ext cx="2895600" cy="1097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Không kỳ vọng prompt 1 lần đúng ngay. Tinh chỉnh prompt liên tục, cung cấp thêm context nếu AI bị lệch hướng.</a:t>
            </a:r>
            <a:endParaRPr/>
          </a:p>
        </p:txBody>
      </p:sp>
      <p:pic>
        <p:nvPicPr>
          <p:cNvPr descr="image.png" id="499" name="Google Shape;499;p35"/>
          <p:cNvPicPr preferRelativeResize="0"/>
          <p:nvPr/>
        </p:nvPicPr>
        <p:blipFill rotWithShape="1">
          <a:blip r:embed="rId10">
            <a:alphaModFix/>
          </a:blip>
          <a:srcRect b="0" l="0" r="0" t="0"/>
          <a:stretch/>
        </p:blipFill>
        <p:spPr>
          <a:xfrm>
            <a:off x="1019175" y="2705100"/>
            <a:ext cx="342900" cy="342900"/>
          </a:xfrm>
          <a:prstGeom prst="rect">
            <a:avLst/>
          </a:prstGeom>
          <a:noFill/>
          <a:ln>
            <a:noFill/>
          </a:ln>
        </p:spPr>
      </p:pic>
      <p:pic>
        <p:nvPicPr>
          <p:cNvPr descr="image.png" id="500" name="Google Shape;500;p35"/>
          <p:cNvPicPr preferRelativeResize="0"/>
          <p:nvPr/>
        </p:nvPicPr>
        <p:blipFill rotWithShape="1">
          <a:blip r:embed="rId11">
            <a:alphaModFix/>
          </a:blip>
          <a:srcRect b="0" l="0" r="0" t="0"/>
          <a:stretch/>
        </p:blipFill>
        <p:spPr>
          <a:xfrm>
            <a:off x="4791075" y="2705100"/>
            <a:ext cx="342900" cy="342900"/>
          </a:xfrm>
          <a:prstGeom prst="rect">
            <a:avLst/>
          </a:prstGeom>
          <a:noFill/>
          <a:ln>
            <a:noFill/>
          </a:ln>
        </p:spPr>
      </p:pic>
      <p:pic>
        <p:nvPicPr>
          <p:cNvPr descr="image.png" id="501" name="Google Shape;501;p35"/>
          <p:cNvPicPr preferRelativeResize="0"/>
          <p:nvPr/>
        </p:nvPicPr>
        <p:blipFill rotWithShape="1">
          <a:blip r:embed="rId12">
            <a:alphaModFix/>
          </a:blip>
          <a:srcRect b="0" l="0" r="0" t="0"/>
          <a:stretch/>
        </p:blipFill>
        <p:spPr>
          <a:xfrm>
            <a:off x="8562975" y="2705100"/>
            <a:ext cx="342900" cy="342900"/>
          </a:xfrm>
          <a:prstGeom prst="rect">
            <a:avLst/>
          </a:prstGeom>
          <a:noFill/>
          <a:ln>
            <a:noFill/>
          </a:ln>
        </p:spPr>
      </p:pic>
      <p:sp>
        <p:nvSpPr>
          <p:cNvPr id="502" name="Google Shape;502;p35"/>
          <p:cNvSpPr txBox="1"/>
          <p:nvPr/>
        </p:nvSpPr>
        <p:spPr>
          <a:xfrm>
            <a:off x="581025" y="485775"/>
            <a:ext cx="11581447" cy="502890"/>
          </a:xfrm>
          <a:prstGeom prst="rect">
            <a:avLst/>
          </a:prstGeom>
          <a:noFill/>
          <a:ln>
            <a:noFill/>
          </a:ln>
        </p:spPr>
        <p:txBody>
          <a:bodyPr anchorCtr="0" anchor="ctr" bIns="0" lIns="0" spcFirstLastPara="1" rIns="0" wrap="square" tIns="0">
            <a:spAutoFit/>
          </a:bodyPr>
          <a:lstStyle/>
          <a:p>
            <a:pPr indent="0" lvl="0" marL="0" marR="0" rtl="0" algn="l">
              <a:lnSpc>
                <a:spcPct val="119969"/>
              </a:lnSpc>
              <a:spcBef>
                <a:spcPts val="0"/>
              </a:spcBef>
              <a:spcAft>
                <a:spcPts val="0"/>
              </a:spcAft>
              <a:buNone/>
            </a:pPr>
            <a:r>
              <a:rPr b="0" i="0" lang="en-US" sz="3300" u="none" cap="none" strike="noStrike">
                <a:solidFill>
                  <a:srgbClr val="F8FAFC"/>
                </a:solidFill>
                <a:latin typeface="Space Grotesk SemiBold"/>
                <a:ea typeface="Space Grotesk SemiBold"/>
                <a:cs typeface="Space Grotesk SemiBold"/>
                <a:sym typeface="Space Grotesk SemiBold"/>
              </a:rPr>
              <a:t>Best Practices: Kiểm Soát Rủi Ro</a:t>
            </a:r>
            <a:endParaRPr/>
          </a:p>
        </p:txBody>
      </p:sp>
      <p:sp>
        <p:nvSpPr>
          <p:cNvPr id="503" name="Google Shape;503;p35"/>
          <p:cNvSpPr/>
          <p:nvPr/>
        </p:nvSpPr>
        <p:spPr>
          <a:xfrm>
            <a:off x="581025" y="988665"/>
            <a:ext cx="57150" cy="381000"/>
          </a:xfrm>
          <a:prstGeom prst="roundRect">
            <a:avLst>
              <a:gd fmla="val 50000" name="adj"/>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507" name="Shape 507"/>
        <p:cNvGrpSpPr/>
        <p:nvPr/>
      </p:nvGrpSpPr>
      <p:grpSpPr>
        <a:xfrm>
          <a:off x="0" y="0"/>
          <a:ext cx="0" cy="0"/>
          <a:chOff x="0" y="0"/>
          <a:chExt cx="0" cy="0"/>
        </a:xfrm>
      </p:grpSpPr>
      <p:pic>
        <p:nvPicPr>
          <p:cNvPr descr="image.png" id="508" name="Google Shape;508;p3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509" name="Google Shape;509;p36"/>
          <p:cNvPicPr preferRelativeResize="0"/>
          <p:nvPr/>
        </p:nvPicPr>
        <p:blipFill rotWithShape="1">
          <a:blip r:embed="rId4">
            <a:alphaModFix/>
          </a:blip>
          <a:srcRect b="0" l="0" r="0" t="0"/>
          <a:stretch/>
        </p:blipFill>
        <p:spPr>
          <a:xfrm>
            <a:off x="581025" y="3869233"/>
            <a:ext cx="5324475" cy="729257"/>
          </a:xfrm>
          <a:prstGeom prst="rect">
            <a:avLst/>
          </a:prstGeom>
          <a:noFill/>
          <a:ln>
            <a:noFill/>
          </a:ln>
        </p:spPr>
      </p:pic>
      <p:pic>
        <p:nvPicPr>
          <p:cNvPr descr="image.png" id="510" name="Google Shape;510;p36"/>
          <p:cNvPicPr preferRelativeResize="0"/>
          <p:nvPr/>
        </p:nvPicPr>
        <p:blipFill rotWithShape="1">
          <a:blip r:embed="rId5">
            <a:alphaModFix/>
          </a:blip>
          <a:srcRect b="0" l="0" r="0" t="0"/>
          <a:stretch/>
        </p:blipFill>
        <p:spPr>
          <a:xfrm>
            <a:off x="6286500" y="3869233"/>
            <a:ext cx="5324475" cy="902493"/>
          </a:xfrm>
          <a:prstGeom prst="rect">
            <a:avLst/>
          </a:prstGeom>
          <a:noFill/>
          <a:ln>
            <a:noFill/>
          </a:ln>
        </p:spPr>
      </p:pic>
      <p:sp>
        <p:nvSpPr>
          <p:cNvPr id="511" name="Google Shape;511;p36"/>
          <p:cNvSpPr txBox="1"/>
          <p:nvPr/>
        </p:nvSpPr>
        <p:spPr>
          <a:xfrm>
            <a:off x="581025" y="2874912"/>
            <a:ext cx="5590698" cy="251370"/>
          </a:xfrm>
          <a:prstGeom prst="rect">
            <a:avLst/>
          </a:prstGeom>
          <a:noFill/>
          <a:ln>
            <a:noFill/>
          </a:ln>
        </p:spPr>
        <p:txBody>
          <a:bodyPr anchorCtr="0" anchor="t" bIns="0" lIns="0" spcFirstLastPara="1" rIns="0" wrap="square" tIns="0">
            <a:spAutoFit/>
          </a:bodyPr>
          <a:lstStyle/>
          <a:p>
            <a:pPr indent="0" lvl="0" marL="0" marR="0" rtl="0" algn="l">
              <a:lnSpc>
                <a:spcPct val="119939"/>
              </a:lnSpc>
              <a:spcBef>
                <a:spcPts val="0"/>
              </a:spcBef>
              <a:spcAft>
                <a:spcPts val="0"/>
              </a:spcAft>
              <a:buNone/>
            </a:pPr>
            <a:r>
              <a:rPr b="0" i="0" lang="en-US" sz="1650" u="none" cap="none" strike="noStrike">
                <a:solidFill>
                  <a:srgbClr val="38BDF8"/>
                </a:solidFill>
                <a:latin typeface="Space Grotesk SemiBold"/>
                <a:ea typeface="Space Grotesk SemiBold"/>
                <a:cs typeface="Space Grotesk SemiBold"/>
                <a:sym typeface="Space Grotesk SemiBold"/>
              </a:rPr>
              <a:t>API: Tự tạo Docstring</a:t>
            </a:r>
            <a:endParaRPr/>
          </a:p>
        </p:txBody>
      </p:sp>
      <p:sp>
        <p:nvSpPr>
          <p:cNvPr id="512" name="Google Shape;512;p36"/>
          <p:cNvSpPr txBox="1"/>
          <p:nvPr/>
        </p:nvSpPr>
        <p:spPr>
          <a:xfrm>
            <a:off x="581025" y="3269158"/>
            <a:ext cx="5324475"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CBD5E1"/>
                </a:solidFill>
                <a:latin typeface="Inter"/>
                <a:ea typeface="Inter"/>
                <a:cs typeface="Inter"/>
                <a:sym typeface="Inter"/>
              </a:rPr>
              <a:t>Dùng inspect.getsource(func) lấy mã nguồn và gọi API để tự sinh Google-style docstring.</a:t>
            </a:r>
            <a:endParaRPr/>
          </a:p>
        </p:txBody>
      </p:sp>
      <p:sp>
        <p:nvSpPr>
          <p:cNvPr id="513" name="Google Shape;513;p36"/>
          <p:cNvSpPr txBox="1"/>
          <p:nvPr/>
        </p:nvSpPr>
        <p:spPr>
          <a:xfrm>
            <a:off x="6286500" y="2874912"/>
            <a:ext cx="5590698" cy="251370"/>
          </a:xfrm>
          <a:prstGeom prst="rect">
            <a:avLst/>
          </a:prstGeom>
          <a:noFill/>
          <a:ln>
            <a:noFill/>
          </a:ln>
        </p:spPr>
        <p:txBody>
          <a:bodyPr anchorCtr="0" anchor="t" bIns="0" lIns="0" spcFirstLastPara="1" rIns="0" wrap="square" tIns="0">
            <a:spAutoFit/>
          </a:bodyPr>
          <a:lstStyle/>
          <a:p>
            <a:pPr indent="0" lvl="0" marL="0" marR="0" rtl="0" algn="l">
              <a:lnSpc>
                <a:spcPct val="119939"/>
              </a:lnSpc>
              <a:spcBef>
                <a:spcPts val="0"/>
              </a:spcBef>
              <a:spcAft>
                <a:spcPts val="0"/>
              </a:spcAft>
              <a:buNone/>
            </a:pPr>
            <a:r>
              <a:rPr b="0" i="0" lang="en-US" sz="1650" u="none" cap="none" strike="noStrike">
                <a:solidFill>
                  <a:srgbClr val="38BDF8"/>
                </a:solidFill>
                <a:latin typeface="Space Grotesk SemiBold"/>
                <a:ea typeface="Space Grotesk SemiBold"/>
                <a:cs typeface="Space Grotesk SemiBold"/>
                <a:sym typeface="Space Grotesk SemiBold"/>
              </a:rPr>
              <a:t>Copilot: Sửa lỗi qua Unit Test</a:t>
            </a:r>
            <a:endParaRPr/>
          </a:p>
        </p:txBody>
      </p:sp>
      <p:sp>
        <p:nvSpPr>
          <p:cNvPr id="514" name="Google Shape;514;p36"/>
          <p:cNvSpPr txBox="1"/>
          <p:nvPr/>
        </p:nvSpPr>
        <p:spPr>
          <a:xfrm>
            <a:off x="6286500" y="3269158"/>
            <a:ext cx="5324475" cy="457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125" u="none" cap="none" strike="noStrike">
                <a:solidFill>
                  <a:srgbClr val="CBD5E1"/>
                </a:solidFill>
                <a:latin typeface="Inter"/>
                <a:ea typeface="Inter"/>
                <a:cs typeface="Inter"/>
                <a:sym typeface="Inter"/>
              </a:rPr>
              <a:t>Dùng @terminal /explain Unit test bị fail để Copilot tự chỉ ra lỗi logic (lưu sai tên biến).</a:t>
            </a:r>
            <a:endParaRPr/>
          </a:p>
        </p:txBody>
      </p:sp>
      <p:sp>
        <p:nvSpPr>
          <p:cNvPr id="515" name="Google Shape;515;p36"/>
          <p:cNvSpPr txBox="1"/>
          <p:nvPr/>
        </p:nvSpPr>
        <p:spPr>
          <a:xfrm>
            <a:off x="685800" y="3974008"/>
            <a:ext cx="5105400" cy="508396"/>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A5D6FF"/>
                </a:solidFill>
                <a:latin typeface="Fira Code"/>
                <a:ea typeface="Fira Code"/>
                <a:cs typeface="Fira Code"/>
                <a:sym typeface="Fira Code"/>
              </a:rPr>
              <a:t>""" Controls the instantiation of the Singleton class. Checks if an instance exists. If yes, returns it... Args: cls: The class being instantiated. Returns: The single, shared instance. """</a:t>
            </a:r>
            <a:endParaRPr/>
          </a:p>
        </p:txBody>
      </p:sp>
      <p:sp>
        <p:nvSpPr>
          <p:cNvPr id="516" name="Google Shape;516;p36"/>
          <p:cNvSpPr txBox="1"/>
          <p:nvPr/>
        </p:nvSpPr>
        <p:spPr>
          <a:xfrm>
            <a:off x="6391275" y="3974008"/>
            <a:ext cx="16002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1" lang="en-US" sz="975" u="none" cap="none" strike="noStrike">
                <a:solidFill>
                  <a:srgbClr val="8B949E"/>
                </a:solidFill>
                <a:latin typeface="Fira Code"/>
                <a:ea typeface="Fira Code"/>
                <a:cs typeface="Fira Code"/>
                <a:sym typeface="Fira Code"/>
              </a:rPr>
              <a:t># Copilot Fix applied</a:t>
            </a:r>
            <a:endParaRPr/>
          </a:p>
        </p:txBody>
      </p:sp>
      <p:sp>
        <p:nvSpPr>
          <p:cNvPr id="517" name="Google Shape;517;p36"/>
          <p:cNvSpPr txBox="1"/>
          <p:nvPr/>
        </p:nvSpPr>
        <p:spPr>
          <a:xfrm>
            <a:off x="8067675" y="3974008"/>
            <a:ext cx="3810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FF7B72"/>
                </a:solidFill>
                <a:latin typeface="Fira Code"/>
                <a:ea typeface="Fira Code"/>
                <a:cs typeface="Fira Code"/>
                <a:sym typeface="Fira Code"/>
              </a:rPr>
              <a:t>class</a:t>
            </a:r>
            <a:endParaRPr/>
          </a:p>
        </p:txBody>
      </p:sp>
      <p:sp>
        <p:nvSpPr>
          <p:cNvPr id="518" name="Google Shape;518;p36"/>
          <p:cNvSpPr txBox="1"/>
          <p:nvPr/>
        </p:nvSpPr>
        <p:spPr>
          <a:xfrm>
            <a:off x="8524875" y="3974008"/>
            <a:ext cx="6858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D2A8FF"/>
                </a:solidFill>
                <a:latin typeface="Fira Code"/>
                <a:ea typeface="Fira Code"/>
                <a:cs typeface="Fira Code"/>
                <a:sym typeface="Fira Code"/>
              </a:rPr>
              <a:t>Singleton</a:t>
            </a:r>
            <a:endParaRPr/>
          </a:p>
        </p:txBody>
      </p:sp>
      <p:sp>
        <p:nvSpPr>
          <p:cNvPr id="519" name="Google Shape;519;p36"/>
          <p:cNvSpPr txBox="1"/>
          <p:nvPr/>
        </p:nvSpPr>
        <p:spPr>
          <a:xfrm>
            <a:off x="9286875" y="3974008"/>
            <a:ext cx="3048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D2A8FF"/>
                </a:solidFill>
                <a:latin typeface="Fira Code"/>
                <a:ea typeface="Fira Code"/>
                <a:cs typeface="Fira Code"/>
                <a:sym typeface="Fira Code"/>
              </a:rPr>
              <a:t>type</a:t>
            </a:r>
            <a:endParaRPr/>
          </a:p>
        </p:txBody>
      </p:sp>
      <p:sp>
        <p:nvSpPr>
          <p:cNvPr id="520" name="Google Shape;520;p36"/>
          <p:cNvSpPr txBox="1"/>
          <p:nvPr/>
        </p:nvSpPr>
        <p:spPr>
          <a:xfrm>
            <a:off x="11039475" y="3974008"/>
            <a:ext cx="2286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FF7B72"/>
                </a:solidFill>
                <a:latin typeface="Fira Code"/>
                <a:ea typeface="Fira Code"/>
                <a:cs typeface="Fira Code"/>
                <a:sym typeface="Fira Code"/>
              </a:rPr>
              <a:t>def</a:t>
            </a:r>
            <a:endParaRPr/>
          </a:p>
        </p:txBody>
      </p:sp>
      <p:sp>
        <p:nvSpPr>
          <p:cNvPr id="521" name="Google Shape;521;p36"/>
          <p:cNvSpPr txBox="1"/>
          <p:nvPr/>
        </p:nvSpPr>
        <p:spPr>
          <a:xfrm>
            <a:off x="6391275" y="4147244"/>
            <a:ext cx="6096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D2A8FF"/>
                </a:solidFill>
                <a:latin typeface="Fira Code"/>
                <a:ea typeface="Fira Code"/>
                <a:cs typeface="Fira Code"/>
                <a:sym typeface="Fira Code"/>
              </a:rPr>
              <a:t>__call__</a:t>
            </a:r>
            <a:endParaRPr/>
          </a:p>
        </p:txBody>
      </p:sp>
      <p:sp>
        <p:nvSpPr>
          <p:cNvPr id="522" name="Google Shape;522;p36"/>
          <p:cNvSpPr txBox="1"/>
          <p:nvPr/>
        </p:nvSpPr>
        <p:spPr>
          <a:xfrm>
            <a:off x="6391275" y="4147244"/>
            <a:ext cx="4616648" cy="335160"/>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1" lang="en-US" sz="975" u="none" cap="none" strike="noStrike">
                <a:solidFill>
                  <a:srgbClr val="8B949E"/>
                </a:solidFill>
                <a:latin typeface="Fira Code"/>
                <a:ea typeface="Fira Code"/>
                <a:cs typeface="Fira Code"/>
                <a:sym typeface="Fira Code"/>
              </a:rPr>
              <a:t># Sửa: lưu bằng 'cls' thay vì 'cls.__name__'</a:t>
            </a:r>
            <a:endParaRPr/>
          </a:p>
        </p:txBody>
      </p:sp>
      <p:sp>
        <p:nvSpPr>
          <p:cNvPr id="523" name="Google Shape;523;p36"/>
          <p:cNvSpPr txBox="1"/>
          <p:nvPr/>
        </p:nvSpPr>
        <p:spPr>
          <a:xfrm>
            <a:off x="7534275" y="4320480"/>
            <a:ext cx="1524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FF7B72"/>
                </a:solidFill>
                <a:latin typeface="Fira Code"/>
                <a:ea typeface="Fira Code"/>
                <a:cs typeface="Fira Code"/>
                <a:sym typeface="Fira Code"/>
              </a:rPr>
              <a:t>if</a:t>
            </a:r>
            <a:endParaRPr/>
          </a:p>
        </p:txBody>
      </p:sp>
      <p:sp>
        <p:nvSpPr>
          <p:cNvPr id="524" name="Google Shape;524;p36"/>
          <p:cNvSpPr txBox="1"/>
          <p:nvPr/>
        </p:nvSpPr>
        <p:spPr>
          <a:xfrm>
            <a:off x="8067675" y="4320480"/>
            <a:ext cx="4572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FF7B72"/>
                </a:solidFill>
                <a:latin typeface="Fira Code"/>
                <a:ea typeface="Fira Code"/>
                <a:cs typeface="Fira Code"/>
                <a:sym typeface="Fira Code"/>
              </a:rPr>
              <a:t>not in</a:t>
            </a:r>
            <a:endParaRPr/>
          </a:p>
        </p:txBody>
      </p:sp>
      <p:sp>
        <p:nvSpPr>
          <p:cNvPr id="525" name="Google Shape;525;p36"/>
          <p:cNvSpPr txBox="1"/>
          <p:nvPr/>
        </p:nvSpPr>
        <p:spPr>
          <a:xfrm>
            <a:off x="6391275" y="4493716"/>
            <a:ext cx="3810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D2A8FF"/>
                </a:solidFill>
                <a:latin typeface="Fira Code"/>
                <a:ea typeface="Fira Code"/>
                <a:cs typeface="Fira Code"/>
                <a:sym typeface="Fira Code"/>
              </a:rPr>
              <a:t>super</a:t>
            </a:r>
            <a:endParaRPr/>
          </a:p>
        </p:txBody>
      </p:sp>
      <p:sp>
        <p:nvSpPr>
          <p:cNvPr id="526" name="Google Shape;526;p36"/>
          <p:cNvSpPr txBox="1"/>
          <p:nvPr/>
        </p:nvSpPr>
        <p:spPr>
          <a:xfrm>
            <a:off x="7000875" y="4493716"/>
            <a:ext cx="6096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D2A8FF"/>
                </a:solidFill>
                <a:latin typeface="Fira Code"/>
                <a:ea typeface="Fira Code"/>
                <a:cs typeface="Fira Code"/>
                <a:sym typeface="Fira Code"/>
              </a:rPr>
              <a:t>__call__</a:t>
            </a:r>
            <a:endParaRPr/>
          </a:p>
        </p:txBody>
      </p:sp>
      <p:sp>
        <p:nvSpPr>
          <p:cNvPr id="527" name="Google Shape;527;p36"/>
          <p:cNvSpPr txBox="1"/>
          <p:nvPr/>
        </p:nvSpPr>
        <p:spPr>
          <a:xfrm>
            <a:off x="7839075" y="4493716"/>
            <a:ext cx="457200" cy="161925"/>
          </a:xfrm>
          <a:prstGeom prst="rect">
            <a:avLst/>
          </a:prstGeom>
          <a:noFill/>
          <a:ln>
            <a:noFill/>
          </a:ln>
        </p:spPr>
        <p:txBody>
          <a:bodyPr anchorCtr="0" anchor="t" bIns="0" lIns="0" spcFirstLastPara="1" rIns="0" wrap="square" tIns="0">
            <a:spAutoFit/>
          </a:bodyPr>
          <a:lstStyle/>
          <a:p>
            <a:pPr indent="0" lvl="0" marL="0" marR="0" rtl="0" algn="l">
              <a:lnSpc>
                <a:spcPct val="139897"/>
              </a:lnSpc>
              <a:spcBef>
                <a:spcPts val="0"/>
              </a:spcBef>
              <a:spcAft>
                <a:spcPts val="0"/>
              </a:spcAft>
              <a:buNone/>
            </a:pPr>
            <a:r>
              <a:rPr b="0" i="0" lang="en-US" sz="975" u="none" cap="none" strike="noStrike">
                <a:solidFill>
                  <a:srgbClr val="FF7B72"/>
                </a:solidFill>
                <a:latin typeface="Fira Code"/>
                <a:ea typeface="Fira Code"/>
                <a:cs typeface="Fira Code"/>
                <a:sym typeface="Fira Code"/>
              </a:rPr>
              <a:t>return</a:t>
            </a:r>
            <a:endParaRPr/>
          </a:p>
        </p:txBody>
      </p:sp>
      <p:sp>
        <p:nvSpPr>
          <p:cNvPr id="528" name="Google Shape;528;p36"/>
          <p:cNvSpPr txBox="1"/>
          <p:nvPr/>
        </p:nvSpPr>
        <p:spPr>
          <a:xfrm>
            <a:off x="581025" y="485775"/>
            <a:ext cx="11581447" cy="502890"/>
          </a:xfrm>
          <a:prstGeom prst="rect">
            <a:avLst/>
          </a:prstGeom>
          <a:noFill/>
          <a:ln>
            <a:noFill/>
          </a:ln>
        </p:spPr>
        <p:txBody>
          <a:bodyPr anchorCtr="0" anchor="ctr" bIns="0" lIns="0" spcFirstLastPara="1" rIns="0" wrap="square" tIns="0">
            <a:spAutoFit/>
          </a:bodyPr>
          <a:lstStyle/>
          <a:p>
            <a:pPr indent="0" lvl="0" marL="0" marR="0" rtl="0" algn="l">
              <a:lnSpc>
                <a:spcPct val="119969"/>
              </a:lnSpc>
              <a:spcBef>
                <a:spcPts val="0"/>
              </a:spcBef>
              <a:spcAft>
                <a:spcPts val="0"/>
              </a:spcAft>
              <a:buNone/>
            </a:pPr>
            <a:r>
              <a:rPr b="0" i="0" lang="en-US" sz="3300" u="none" cap="none" strike="noStrike">
                <a:solidFill>
                  <a:srgbClr val="F8FAFC"/>
                </a:solidFill>
                <a:latin typeface="Space Grotesk SemiBold"/>
                <a:ea typeface="Space Grotesk SemiBold"/>
                <a:cs typeface="Space Grotesk SemiBold"/>
                <a:sym typeface="Space Grotesk SemiBold"/>
              </a:rPr>
              <a:t>Lab 5: Tối Ưu Với API &amp; Copilot</a:t>
            </a:r>
            <a:endParaRPr/>
          </a:p>
        </p:txBody>
      </p:sp>
      <p:sp>
        <p:nvSpPr>
          <p:cNvPr id="529" name="Google Shape;529;p36"/>
          <p:cNvSpPr/>
          <p:nvPr/>
        </p:nvSpPr>
        <p:spPr>
          <a:xfrm>
            <a:off x="581025" y="988665"/>
            <a:ext cx="57150" cy="381000"/>
          </a:xfrm>
          <a:prstGeom prst="roundRect">
            <a:avLst>
              <a:gd fmla="val 50000" name="adj"/>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533" name="Shape 533"/>
        <p:cNvGrpSpPr/>
        <p:nvPr/>
      </p:nvGrpSpPr>
      <p:grpSpPr>
        <a:xfrm>
          <a:off x="0" y="0"/>
          <a:ext cx="0" cy="0"/>
          <a:chOff x="0" y="0"/>
          <a:chExt cx="0" cy="0"/>
        </a:xfrm>
      </p:grpSpPr>
      <p:pic>
        <p:nvPicPr>
          <p:cNvPr descr="image.png" id="534" name="Google Shape;534;p3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535" name="Google Shape;535;p37"/>
          <p:cNvPicPr preferRelativeResize="0"/>
          <p:nvPr/>
        </p:nvPicPr>
        <p:blipFill rotWithShape="1">
          <a:blip r:embed="rId4">
            <a:alphaModFix/>
          </a:blip>
          <a:srcRect b="0" l="0" r="0" t="0"/>
          <a:stretch/>
        </p:blipFill>
        <p:spPr>
          <a:xfrm>
            <a:off x="2286000" y="4490888"/>
            <a:ext cx="2349549" cy="628650"/>
          </a:xfrm>
          <a:prstGeom prst="rect">
            <a:avLst/>
          </a:prstGeom>
          <a:noFill/>
          <a:ln>
            <a:noFill/>
          </a:ln>
        </p:spPr>
      </p:pic>
      <p:pic>
        <p:nvPicPr>
          <p:cNvPr descr="image.png" id="536" name="Google Shape;536;p37"/>
          <p:cNvPicPr preferRelativeResize="0"/>
          <p:nvPr/>
        </p:nvPicPr>
        <p:blipFill rotWithShape="1">
          <a:blip r:embed="rId5">
            <a:alphaModFix/>
          </a:blip>
          <a:srcRect b="0" l="0" r="0" t="0"/>
          <a:stretch/>
        </p:blipFill>
        <p:spPr>
          <a:xfrm>
            <a:off x="4921299" y="4490888"/>
            <a:ext cx="2349549" cy="628650"/>
          </a:xfrm>
          <a:prstGeom prst="rect">
            <a:avLst/>
          </a:prstGeom>
          <a:noFill/>
          <a:ln>
            <a:noFill/>
          </a:ln>
        </p:spPr>
      </p:pic>
      <p:pic>
        <p:nvPicPr>
          <p:cNvPr descr="image.png" id="537" name="Google Shape;537;p37"/>
          <p:cNvPicPr preferRelativeResize="0"/>
          <p:nvPr/>
        </p:nvPicPr>
        <p:blipFill rotWithShape="1">
          <a:blip r:embed="rId6">
            <a:alphaModFix/>
          </a:blip>
          <a:srcRect b="0" l="0" r="0" t="0"/>
          <a:stretch/>
        </p:blipFill>
        <p:spPr>
          <a:xfrm>
            <a:off x="7556599" y="4490888"/>
            <a:ext cx="2349549" cy="628650"/>
          </a:xfrm>
          <a:prstGeom prst="rect">
            <a:avLst/>
          </a:prstGeom>
          <a:noFill/>
          <a:ln>
            <a:noFill/>
          </a:ln>
        </p:spPr>
      </p:pic>
      <p:pic>
        <p:nvPicPr>
          <p:cNvPr descr="image.png" id="538" name="Google Shape;538;p37"/>
          <p:cNvPicPr preferRelativeResize="0"/>
          <p:nvPr/>
        </p:nvPicPr>
        <p:blipFill rotWithShape="1">
          <a:blip r:embed="rId7">
            <a:alphaModFix/>
          </a:blip>
          <a:srcRect b="0" l="0" r="0" t="0"/>
          <a:stretch/>
        </p:blipFill>
        <p:spPr>
          <a:xfrm>
            <a:off x="5810250" y="753665"/>
            <a:ext cx="571500" cy="571500"/>
          </a:xfrm>
          <a:prstGeom prst="rect">
            <a:avLst/>
          </a:prstGeom>
          <a:noFill/>
          <a:ln>
            <a:noFill/>
          </a:ln>
        </p:spPr>
      </p:pic>
      <p:sp>
        <p:nvSpPr>
          <p:cNvPr id="539" name="Google Shape;539;p37"/>
          <p:cNvSpPr txBox="1"/>
          <p:nvPr/>
        </p:nvSpPr>
        <p:spPr>
          <a:xfrm>
            <a:off x="2243800" y="1706175"/>
            <a:ext cx="7449900" cy="738900"/>
          </a:xfrm>
          <a:prstGeom prst="rect">
            <a:avLst/>
          </a:prstGeom>
          <a:noFill/>
          <a:ln>
            <a:noFill/>
          </a:ln>
        </p:spPr>
        <p:txBody>
          <a:bodyPr anchorCtr="0" anchor="t" bIns="0" lIns="0" spcFirstLastPara="1" rIns="0" wrap="square" tIns="0">
            <a:spAutoFit/>
          </a:bodyPr>
          <a:lstStyle/>
          <a:p>
            <a:pPr indent="0" lvl="0" marL="0" marR="0" rtl="0" algn="ctr">
              <a:lnSpc>
                <a:spcPct val="119979"/>
              </a:lnSpc>
              <a:spcBef>
                <a:spcPts val="0"/>
              </a:spcBef>
              <a:spcAft>
                <a:spcPts val="0"/>
              </a:spcAft>
              <a:buNone/>
            </a:pPr>
            <a:r>
              <a:rPr b="1" i="0" lang="en-US" sz="4800" u="none" cap="none" strike="noStrike">
                <a:solidFill>
                  <a:srgbClr val="F8FAFC"/>
                </a:solidFill>
                <a:latin typeface="Space Grotesk"/>
                <a:ea typeface="Space Grotesk"/>
                <a:cs typeface="Space Grotesk"/>
                <a:sym typeface="Space Grotesk"/>
              </a:rPr>
              <a:t>Tổng Kết </a:t>
            </a:r>
            <a:r>
              <a:rPr b="1" lang="en-US" sz="4800">
                <a:solidFill>
                  <a:srgbClr val="F8FAFC"/>
                </a:solidFill>
                <a:latin typeface="Space Grotesk"/>
                <a:ea typeface="Space Grotesk"/>
                <a:cs typeface="Space Grotesk"/>
                <a:sym typeface="Space Grotesk"/>
              </a:rPr>
              <a:t>Và</a:t>
            </a:r>
            <a:r>
              <a:rPr b="1" i="0" lang="en-US" sz="4800" u="none" cap="none" strike="noStrike">
                <a:solidFill>
                  <a:srgbClr val="F8FAFC"/>
                </a:solidFill>
                <a:latin typeface="Space Grotesk"/>
                <a:ea typeface="Space Grotesk"/>
                <a:cs typeface="Space Grotesk"/>
                <a:sym typeface="Space Grotesk"/>
              </a:rPr>
              <a:t> </a:t>
            </a:r>
            <a:r>
              <a:rPr b="1" i="0" lang="en-US" sz="4800" u="none" cap="none" strike="noStrike">
                <a:solidFill>
                  <a:srgbClr val="38BDF8"/>
                </a:solidFill>
                <a:latin typeface="Space Grotesk"/>
                <a:ea typeface="Space Grotesk"/>
                <a:cs typeface="Space Grotesk"/>
                <a:sym typeface="Space Grotesk"/>
              </a:rPr>
              <a:t>Hỏi Đáp</a:t>
            </a:r>
            <a:endParaRPr/>
          </a:p>
        </p:txBody>
      </p:sp>
      <p:sp>
        <p:nvSpPr>
          <p:cNvPr id="540" name="Google Shape;540;p37"/>
          <p:cNvSpPr txBox="1"/>
          <p:nvPr/>
        </p:nvSpPr>
        <p:spPr>
          <a:xfrm>
            <a:off x="2286000" y="2818655"/>
            <a:ext cx="7620000" cy="1005482"/>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650" u="none" cap="none" strike="noStrike">
                <a:solidFill>
                  <a:srgbClr val="94A3B8"/>
                </a:solidFill>
                <a:latin typeface="Inter"/>
                <a:ea typeface="Inter"/>
                <a:cs typeface="Inter"/>
                <a:sym typeface="Inter"/>
              </a:rPr>
              <a:t>Generative AI là công cụ khuếch đại năng lực, giúp lập trình viên hiện đại tăng tốc quá trình phát triển, giảm bớt tác vụ lặp lại và nâng cao chất lượng mã nguồn.</a:t>
            </a:r>
            <a:endParaRPr/>
          </a:p>
        </p:txBody>
      </p:sp>
      <p:sp>
        <p:nvSpPr>
          <p:cNvPr id="541" name="Google Shape;541;p37"/>
          <p:cNvSpPr txBox="1"/>
          <p:nvPr/>
        </p:nvSpPr>
        <p:spPr>
          <a:xfrm>
            <a:off x="3248025" y="5595788"/>
            <a:ext cx="5695950"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1" i="0" lang="en-US" sz="1800" u="none" cap="none" strike="noStrike">
                <a:solidFill>
                  <a:srgbClr val="F8FAFC"/>
                </a:solidFill>
                <a:latin typeface="Inter"/>
                <a:ea typeface="Inter"/>
                <a:cs typeface="Inter"/>
                <a:sym typeface="Inter"/>
              </a:rPr>
              <a:t>Xin trân trọng cảm ơn Thầy và các bạn đã theo dõi!</a:t>
            </a:r>
            <a:endParaRPr/>
          </a:p>
        </p:txBody>
      </p:sp>
      <p:sp>
        <p:nvSpPr>
          <p:cNvPr id="542" name="Google Shape;542;p37"/>
          <p:cNvSpPr txBox="1"/>
          <p:nvPr/>
        </p:nvSpPr>
        <p:spPr>
          <a:xfrm>
            <a:off x="2870626" y="4690913"/>
            <a:ext cx="1180147" cy="2286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1500" u="none" cap="none" strike="noStrike">
                <a:solidFill>
                  <a:srgbClr val="38BDF8"/>
                </a:solidFill>
                <a:latin typeface="Space Grotesk SemiBold"/>
                <a:ea typeface="Space Grotesk SemiBold"/>
                <a:cs typeface="Space Grotesk SemiBold"/>
                <a:sym typeface="Space Grotesk SemiBold"/>
              </a:rPr>
              <a:t>Code Faster</a:t>
            </a:r>
            <a:endParaRPr/>
          </a:p>
        </p:txBody>
      </p:sp>
      <p:sp>
        <p:nvSpPr>
          <p:cNvPr id="543" name="Google Shape;543;p37"/>
          <p:cNvSpPr txBox="1"/>
          <p:nvPr/>
        </p:nvSpPr>
        <p:spPr>
          <a:xfrm>
            <a:off x="5460920" y="4690913"/>
            <a:ext cx="1270158" cy="2286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1500" u="none" cap="none" strike="noStrike">
                <a:solidFill>
                  <a:srgbClr val="38BDF8"/>
                </a:solidFill>
                <a:latin typeface="Space Grotesk SemiBold"/>
                <a:ea typeface="Space Grotesk SemiBold"/>
                <a:cs typeface="Space Grotesk SemiBold"/>
                <a:sym typeface="Space Grotesk SemiBold"/>
              </a:rPr>
              <a:t>Think Deeper</a:t>
            </a:r>
            <a:endParaRPr/>
          </a:p>
        </p:txBody>
      </p:sp>
      <p:sp>
        <p:nvSpPr>
          <p:cNvPr id="544" name="Google Shape;544;p37"/>
          <p:cNvSpPr txBox="1"/>
          <p:nvPr/>
        </p:nvSpPr>
        <p:spPr>
          <a:xfrm>
            <a:off x="8161228" y="4690913"/>
            <a:ext cx="1140142" cy="2286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1500" u="none" cap="none" strike="noStrike">
                <a:solidFill>
                  <a:srgbClr val="38BDF8"/>
                </a:solidFill>
                <a:latin typeface="Space Grotesk SemiBold"/>
                <a:ea typeface="Space Grotesk SemiBold"/>
                <a:cs typeface="Space Grotesk SemiBold"/>
                <a:sym typeface="Space Grotesk SemiBold"/>
              </a:rPr>
              <a:t>Build Better</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